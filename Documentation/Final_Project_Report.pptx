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6"/>
  </p:notesMasterIdLst>
  <p:handoutMasterIdLst>
    <p:handoutMasterId r:id="rId37"/>
  </p:handoutMasterIdLst>
  <p:sldIdLst>
    <p:sldId id="312" r:id="rId5"/>
    <p:sldId id="333" r:id="rId6"/>
    <p:sldId id="338" r:id="rId7"/>
    <p:sldId id="304" r:id="rId8"/>
    <p:sldId id="307" r:id="rId9"/>
    <p:sldId id="324" r:id="rId10"/>
    <p:sldId id="314" r:id="rId11"/>
    <p:sldId id="315" r:id="rId12"/>
    <p:sldId id="325" r:id="rId13"/>
    <p:sldId id="334" r:id="rId14"/>
    <p:sldId id="328" r:id="rId15"/>
    <p:sldId id="329" r:id="rId16"/>
    <p:sldId id="340" r:id="rId17"/>
    <p:sldId id="341" r:id="rId18"/>
    <p:sldId id="346" r:id="rId19"/>
    <p:sldId id="326" r:id="rId20"/>
    <p:sldId id="327" r:id="rId21"/>
    <p:sldId id="339" r:id="rId22"/>
    <p:sldId id="348" r:id="rId23"/>
    <p:sldId id="330" r:id="rId24"/>
    <p:sldId id="331" r:id="rId25"/>
    <p:sldId id="332" r:id="rId26"/>
    <p:sldId id="335" r:id="rId27"/>
    <p:sldId id="342" r:id="rId28"/>
    <p:sldId id="343" r:id="rId29"/>
    <p:sldId id="345" r:id="rId30"/>
    <p:sldId id="347" r:id="rId31"/>
    <p:sldId id="336" r:id="rId32"/>
    <p:sldId id="337" r:id="rId33"/>
    <p:sldId id="349" r:id="rId34"/>
    <p:sldId id="297" r:id="rId3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593"/>
    <a:srgbClr val="DF8C8C"/>
    <a:srgbClr val="FDFBF6"/>
    <a:srgbClr val="202C8F"/>
    <a:srgbClr val="AAC4E9"/>
    <a:srgbClr val="F5CDCE"/>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snapToObjects="1">
      <p:cViewPr varScale="1">
        <p:scale>
          <a:sx n="77" d="100"/>
          <a:sy n="77" d="100"/>
        </p:scale>
        <p:origin x="268" y="5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C51FF6-411A-4F0B-8A04-348B65DE092A}" type="doc">
      <dgm:prSet loTypeId="urn:microsoft.com/office/officeart/2008/layout/VerticalCurvedList" loCatId="list" qsTypeId="urn:microsoft.com/office/officeart/2005/8/quickstyle/3d1" qsCatId="3D" csTypeId="urn:microsoft.com/office/officeart/2005/8/colors/accent1_2" csCatId="accent1" phldr="1"/>
      <dgm:spPr/>
      <dgm:t>
        <a:bodyPr/>
        <a:lstStyle/>
        <a:p>
          <a:endParaRPr lang="en-IN"/>
        </a:p>
      </dgm:t>
    </dgm:pt>
    <dgm:pt modelId="{5BDC5CB1-8DAB-41E1-A078-ACD81AA74296}">
      <dgm:prSet phldrT="[Text]" custT="1"/>
      <dgm:spPr/>
      <dgm:t>
        <a:bodyPr/>
        <a:lstStyle/>
        <a:p>
          <a:r>
            <a:rPr lang="en-US" sz="1600" dirty="0">
              <a:solidFill>
                <a:schemeClr val="tx1"/>
              </a:solidFill>
            </a:rPr>
            <a:t>Project And Dataset Overview</a:t>
          </a:r>
          <a:endParaRPr lang="en-IN" sz="1600" dirty="0">
            <a:solidFill>
              <a:schemeClr val="tx1"/>
            </a:solidFill>
          </a:endParaRPr>
        </a:p>
      </dgm:t>
    </dgm:pt>
    <dgm:pt modelId="{CF3A6309-0E9A-4272-9DEC-D0F38865065B}" type="parTrans" cxnId="{E6D8FE78-8E47-43E5-8FCD-5C6A3513D88A}">
      <dgm:prSet/>
      <dgm:spPr/>
      <dgm:t>
        <a:bodyPr/>
        <a:lstStyle/>
        <a:p>
          <a:endParaRPr lang="en-IN"/>
        </a:p>
      </dgm:t>
    </dgm:pt>
    <dgm:pt modelId="{DC56875B-19A3-41DB-A554-EB3117808F00}" type="sibTrans" cxnId="{E6D8FE78-8E47-43E5-8FCD-5C6A3513D88A}">
      <dgm:prSet/>
      <dgm:spPr/>
      <dgm:t>
        <a:bodyPr/>
        <a:lstStyle/>
        <a:p>
          <a:endParaRPr lang="en-IN"/>
        </a:p>
      </dgm:t>
    </dgm:pt>
    <dgm:pt modelId="{F374BD77-2040-4738-B3B0-435AC4AD86C3}">
      <dgm:prSet phldrT="[Text]" custT="1"/>
      <dgm:spPr/>
      <dgm:t>
        <a:bodyPr/>
        <a:lstStyle/>
        <a:p>
          <a:r>
            <a:rPr lang="en-US" sz="1600" dirty="0">
              <a:solidFill>
                <a:schemeClr val="tx1"/>
              </a:solidFill>
            </a:rPr>
            <a:t>Excel Dashboard</a:t>
          </a:r>
          <a:endParaRPr lang="en-IN" sz="1600" dirty="0">
            <a:solidFill>
              <a:schemeClr val="tx1"/>
            </a:solidFill>
          </a:endParaRPr>
        </a:p>
      </dgm:t>
    </dgm:pt>
    <dgm:pt modelId="{9066ABD0-7CC3-434C-B27C-C800C6630D30}" type="parTrans" cxnId="{F37C7925-9AA0-4207-BE46-91A888449A5D}">
      <dgm:prSet/>
      <dgm:spPr/>
      <dgm:t>
        <a:bodyPr/>
        <a:lstStyle/>
        <a:p>
          <a:endParaRPr lang="en-IN"/>
        </a:p>
      </dgm:t>
    </dgm:pt>
    <dgm:pt modelId="{52A21405-9E2B-4FFD-A255-9E9C9470E89D}" type="sibTrans" cxnId="{F37C7925-9AA0-4207-BE46-91A888449A5D}">
      <dgm:prSet/>
      <dgm:spPr/>
      <dgm:t>
        <a:bodyPr/>
        <a:lstStyle/>
        <a:p>
          <a:endParaRPr lang="en-IN"/>
        </a:p>
      </dgm:t>
    </dgm:pt>
    <dgm:pt modelId="{5FFA49EC-A3CC-401E-9197-247EB9A6A683}">
      <dgm:prSet phldrT="[Text]" custT="1"/>
      <dgm:spPr>
        <a:solidFill>
          <a:schemeClr val="accent4"/>
        </a:solidFill>
      </dgm:spPr>
      <dgm:t>
        <a:bodyPr/>
        <a:lstStyle/>
        <a:p>
          <a:r>
            <a:rPr lang="en-US" sz="1600" dirty="0">
              <a:solidFill>
                <a:schemeClr val="tx1"/>
              </a:solidFill>
            </a:rPr>
            <a:t>Tableau Dashboard </a:t>
          </a:r>
          <a:endParaRPr lang="en-IN" sz="1600" dirty="0">
            <a:solidFill>
              <a:schemeClr val="tx1"/>
            </a:solidFill>
          </a:endParaRPr>
        </a:p>
      </dgm:t>
    </dgm:pt>
    <dgm:pt modelId="{92BFED09-AD2D-4358-A75B-E07D07A31421}" type="parTrans" cxnId="{CC9C7FE2-34D7-4EC8-9103-549C46DD365B}">
      <dgm:prSet/>
      <dgm:spPr/>
      <dgm:t>
        <a:bodyPr/>
        <a:lstStyle/>
        <a:p>
          <a:endParaRPr lang="en-IN"/>
        </a:p>
      </dgm:t>
    </dgm:pt>
    <dgm:pt modelId="{4FEC62F9-971A-494F-9C22-8573AF1BD2D0}" type="sibTrans" cxnId="{CC9C7FE2-34D7-4EC8-9103-549C46DD365B}">
      <dgm:prSet/>
      <dgm:spPr/>
      <dgm:t>
        <a:bodyPr/>
        <a:lstStyle/>
        <a:p>
          <a:endParaRPr lang="en-IN"/>
        </a:p>
      </dgm:t>
    </dgm:pt>
    <dgm:pt modelId="{AA7D7BD0-7F07-41C5-AA41-DD8203AE8159}">
      <dgm:prSet phldrT="[Text]" custT="1"/>
      <dgm:spPr>
        <a:solidFill>
          <a:schemeClr val="accent4"/>
        </a:solidFill>
      </dgm:spPr>
      <dgm:t>
        <a:bodyPr/>
        <a:lstStyle/>
        <a:p>
          <a:r>
            <a:rPr lang="en-US" sz="1600" dirty="0">
              <a:solidFill>
                <a:schemeClr val="tx1"/>
              </a:solidFill>
            </a:rPr>
            <a:t>KPI list</a:t>
          </a:r>
          <a:endParaRPr lang="en-IN" sz="1600" dirty="0">
            <a:solidFill>
              <a:schemeClr val="tx1"/>
            </a:solidFill>
          </a:endParaRPr>
        </a:p>
      </dgm:t>
    </dgm:pt>
    <dgm:pt modelId="{BC18070F-2D44-47C4-822D-A6B83239372D}" type="sibTrans" cxnId="{82FBE865-96CE-41BC-8EC7-62A6B421EDC3}">
      <dgm:prSet/>
      <dgm:spPr/>
      <dgm:t>
        <a:bodyPr/>
        <a:lstStyle/>
        <a:p>
          <a:endParaRPr lang="en-IN"/>
        </a:p>
      </dgm:t>
    </dgm:pt>
    <dgm:pt modelId="{5B4C974A-75D6-4ECE-84BE-48011E62B89A}" type="parTrans" cxnId="{82FBE865-96CE-41BC-8EC7-62A6B421EDC3}">
      <dgm:prSet/>
      <dgm:spPr/>
      <dgm:t>
        <a:bodyPr/>
        <a:lstStyle/>
        <a:p>
          <a:endParaRPr lang="en-IN"/>
        </a:p>
      </dgm:t>
    </dgm:pt>
    <dgm:pt modelId="{B3C03AFC-8C9F-46E7-8696-A12581BEAE6A}">
      <dgm:prSet phldrT="[Text]" custT="1"/>
      <dgm:spPr/>
      <dgm:t>
        <a:bodyPr/>
        <a:lstStyle/>
        <a:p>
          <a:r>
            <a:rPr lang="en-US" sz="1600" dirty="0">
              <a:solidFill>
                <a:schemeClr val="tx1"/>
              </a:solidFill>
            </a:rPr>
            <a:t>Power Bi Dashboard</a:t>
          </a:r>
          <a:endParaRPr lang="en-IN" sz="1600" dirty="0">
            <a:solidFill>
              <a:schemeClr val="tx1"/>
            </a:solidFill>
          </a:endParaRPr>
        </a:p>
      </dgm:t>
    </dgm:pt>
    <dgm:pt modelId="{85BE1DB3-38F4-4321-84BA-9E27DABC087A}" type="parTrans" cxnId="{ABDDEC75-40F9-49EA-9DA6-069D4A5D0037}">
      <dgm:prSet/>
      <dgm:spPr/>
      <dgm:t>
        <a:bodyPr/>
        <a:lstStyle/>
        <a:p>
          <a:endParaRPr lang="en-IN"/>
        </a:p>
      </dgm:t>
    </dgm:pt>
    <dgm:pt modelId="{533AC5B2-331C-4839-96EA-E14F937704CD}" type="sibTrans" cxnId="{ABDDEC75-40F9-49EA-9DA6-069D4A5D0037}">
      <dgm:prSet/>
      <dgm:spPr/>
      <dgm:t>
        <a:bodyPr/>
        <a:lstStyle/>
        <a:p>
          <a:endParaRPr lang="en-IN"/>
        </a:p>
      </dgm:t>
    </dgm:pt>
    <dgm:pt modelId="{975BB6E2-DD27-42B2-8F35-33CD5FE3FF34}">
      <dgm:prSet phldrT="[Text]" custT="1"/>
      <dgm:spPr>
        <a:solidFill>
          <a:schemeClr val="accent4"/>
        </a:solidFill>
      </dgm:spPr>
      <dgm:t>
        <a:bodyPr/>
        <a:lstStyle/>
        <a:p>
          <a:r>
            <a:rPr lang="en-US" sz="1600" dirty="0">
              <a:solidFill>
                <a:schemeClr val="tx1"/>
              </a:solidFill>
            </a:rPr>
            <a:t>SQL Queries And Results</a:t>
          </a:r>
          <a:endParaRPr lang="en-IN" sz="1600" dirty="0">
            <a:solidFill>
              <a:schemeClr val="tx1"/>
            </a:solidFill>
          </a:endParaRPr>
        </a:p>
      </dgm:t>
    </dgm:pt>
    <dgm:pt modelId="{05EA2D25-519C-454D-9885-64CB5DD3878E}" type="parTrans" cxnId="{49E331B7-D74B-4B9E-9DE5-C849CA6A71C8}">
      <dgm:prSet/>
      <dgm:spPr/>
      <dgm:t>
        <a:bodyPr/>
        <a:lstStyle/>
        <a:p>
          <a:endParaRPr lang="en-IN"/>
        </a:p>
      </dgm:t>
    </dgm:pt>
    <dgm:pt modelId="{B2EA6ED4-5535-4C14-8F1F-0430B29E3013}" type="sibTrans" cxnId="{49E331B7-D74B-4B9E-9DE5-C849CA6A71C8}">
      <dgm:prSet/>
      <dgm:spPr/>
      <dgm:t>
        <a:bodyPr/>
        <a:lstStyle/>
        <a:p>
          <a:endParaRPr lang="en-IN"/>
        </a:p>
      </dgm:t>
    </dgm:pt>
    <dgm:pt modelId="{EC744A25-C9AF-41FE-854C-C35EE5093859}">
      <dgm:prSet phldrT="[Text]" custT="1"/>
      <dgm:spPr/>
      <dgm:t>
        <a:bodyPr/>
        <a:lstStyle/>
        <a:p>
          <a:r>
            <a:rPr lang="en-US" sz="1600" dirty="0">
              <a:solidFill>
                <a:schemeClr val="tx1"/>
              </a:solidFill>
            </a:rPr>
            <a:t>Challenges and Key Takeaways</a:t>
          </a:r>
          <a:endParaRPr lang="en-IN" sz="1600" dirty="0">
            <a:solidFill>
              <a:schemeClr val="tx1"/>
            </a:solidFill>
          </a:endParaRPr>
        </a:p>
      </dgm:t>
    </dgm:pt>
    <dgm:pt modelId="{91BC828C-1490-46C6-BBDB-25A41F9B2B2C}" type="parTrans" cxnId="{BBD3C611-9F0C-4129-9043-DE14D078456C}">
      <dgm:prSet/>
      <dgm:spPr/>
      <dgm:t>
        <a:bodyPr/>
        <a:lstStyle/>
        <a:p>
          <a:endParaRPr lang="en-IN"/>
        </a:p>
      </dgm:t>
    </dgm:pt>
    <dgm:pt modelId="{4AC15AFD-271E-45F1-9552-B042F11118DE}" type="sibTrans" cxnId="{BBD3C611-9F0C-4129-9043-DE14D078456C}">
      <dgm:prSet/>
      <dgm:spPr/>
      <dgm:t>
        <a:bodyPr/>
        <a:lstStyle/>
        <a:p>
          <a:endParaRPr lang="en-IN"/>
        </a:p>
      </dgm:t>
    </dgm:pt>
    <dgm:pt modelId="{52224575-BBC1-492B-BEC8-EC138DC32D20}" type="pres">
      <dgm:prSet presAssocID="{65C51FF6-411A-4F0B-8A04-348B65DE092A}" presName="Name0" presStyleCnt="0">
        <dgm:presLayoutVars>
          <dgm:chMax val="7"/>
          <dgm:chPref val="7"/>
          <dgm:dir/>
        </dgm:presLayoutVars>
      </dgm:prSet>
      <dgm:spPr/>
    </dgm:pt>
    <dgm:pt modelId="{8C3E1466-B771-4573-AB28-88EADA0DA49C}" type="pres">
      <dgm:prSet presAssocID="{65C51FF6-411A-4F0B-8A04-348B65DE092A}" presName="Name1" presStyleCnt="0"/>
      <dgm:spPr/>
    </dgm:pt>
    <dgm:pt modelId="{062A224C-33F8-45E6-A173-9214C6A773EF}" type="pres">
      <dgm:prSet presAssocID="{65C51FF6-411A-4F0B-8A04-348B65DE092A}" presName="cycle" presStyleCnt="0"/>
      <dgm:spPr/>
    </dgm:pt>
    <dgm:pt modelId="{B99094FF-ABBF-4CDF-B4E3-6ADDEEA53F75}" type="pres">
      <dgm:prSet presAssocID="{65C51FF6-411A-4F0B-8A04-348B65DE092A}" presName="srcNode" presStyleLbl="node1" presStyleIdx="0" presStyleCnt="7"/>
      <dgm:spPr/>
    </dgm:pt>
    <dgm:pt modelId="{E2E49FA0-81DD-4649-AE80-E9BB9314EEC4}" type="pres">
      <dgm:prSet presAssocID="{65C51FF6-411A-4F0B-8A04-348B65DE092A}" presName="conn" presStyleLbl="parChTrans1D2" presStyleIdx="0" presStyleCnt="1"/>
      <dgm:spPr/>
    </dgm:pt>
    <dgm:pt modelId="{9FEA85EC-25DA-424D-AA43-D47C36E0D7AD}" type="pres">
      <dgm:prSet presAssocID="{65C51FF6-411A-4F0B-8A04-348B65DE092A}" presName="extraNode" presStyleLbl="node1" presStyleIdx="0" presStyleCnt="7"/>
      <dgm:spPr/>
    </dgm:pt>
    <dgm:pt modelId="{9CE60B66-DCA5-417E-8A2F-6C349228A7AF}" type="pres">
      <dgm:prSet presAssocID="{65C51FF6-411A-4F0B-8A04-348B65DE092A}" presName="dstNode" presStyleLbl="node1" presStyleIdx="0" presStyleCnt="7"/>
      <dgm:spPr/>
    </dgm:pt>
    <dgm:pt modelId="{083D8C48-7BB4-4D6E-963E-755AD2039553}" type="pres">
      <dgm:prSet presAssocID="{5BDC5CB1-8DAB-41E1-A078-ACD81AA74296}" presName="text_1" presStyleLbl="node1" presStyleIdx="0" presStyleCnt="7" custLinFactNeighborX="2446" custLinFactNeighborY="-2506">
        <dgm:presLayoutVars>
          <dgm:bulletEnabled val="1"/>
        </dgm:presLayoutVars>
      </dgm:prSet>
      <dgm:spPr/>
    </dgm:pt>
    <dgm:pt modelId="{B6D899FA-0294-4AAB-8085-7873FED092BE}" type="pres">
      <dgm:prSet presAssocID="{5BDC5CB1-8DAB-41E1-A078-ACD81AA74296}" presName="accent_1" presStyleCnt="0"/>
      <dgm:spPr/>
    </dgm:pt>
    <dgm:pt modelId="{5FDD9D33-BE77-4C54-A7C7-B4BA5942BA04}" type="pres">
      <dgm:prSet presAssocID="{5BDC5CB1-8DAB-41E1-A078-ACD81AA74296}" presName="accentRepeatNode" presStyleLbl="solidFgAcc1" presStyleIdx="0" presStyleCnt="7"/>
      <dgm:spPr>
        <a:solidFill>
          <a:schemeClr val="accent2"/>
        </a:solidFill>
      </dgm:spPr>
    </dgm:pt>
    <dgm:pt modelId="{58DA5401-9173-4EF0-B057-612B7C83067F}" type="pres">
      <dgm:prSet presAssocID="{AA7D7BD0-7F07-41C5-AA41-DD8203AE8159}" presName="text_2" presStyleLbl="node1" presStyleIdx="1" presStyleCnt="7" custLinFactNeighborX="1015" custLinFactNeighborY="5012">
        <dgm:presLayoutVars>
          <dgm:bulletEnabled val="1"/>
        </dgm:presLayoutVars>
      </dgm:prSet>
      <dgm:spPr/>
    </dgm:pt>
    <dgm:pt modelId="{EF0D1C80-6EE6-4173-B635-63B3B52643D2}" type="pres">
      <dgm:prSet presAssocID="{AA7D7BD0-7F07-41C5-AA41-DD8203AE8159}" presName="accent_2" presStyleCnt="0"/>
      <dgm:spPr/>
    </dgm:pt>
    <dgm:pt modelId="{032109AD-13BF-496B-A5DB-7B9C51AABAB0}" type="pres">
      <dgm:prSet presAssocID="{AA7D7BD0-7F07-41C5-AA41-DD8203AE8159}" presName="accentRepeatNode" presStyleLbl="solidFgAcc1" presStyleIdx="1" presStyleCnt="7"/>
      <dgm:spPr>
        <a:solidFill>
          <a:schemeClr val="accent4">
            <a:lumMod val="75000"/>
          </a:schemeClr>
        </a:solidFill>
      </dgm:spPr>
    </dgm:pt>
    <dgm:pt modelId="{CF520E93-8A40-4B2E-9844-D9DED2AB5CC6}" type="pres">
      <dgm:prSet presAssocID="{F374BD77-2040-4738-B3B0-435AC4AD86C3}" presName="text_3" presStyleLbl="node1" presStyleIdx="2" presStyleCnt="7">
        <dgm:presLayoutVars>
          <dgm:bulletEnabled val="1"/>
        </dgm:presLayoutVars>
      </dgm:prSet>
      <dgm:spPr/>
    </dgm:pt>
    <dgm:pt modelId="{C3D5E3F8-5070-4594-B7B5-04D11556E14E}" type="pres">
      <dgm:prSet presAssocID="{F374BD77-2040-4738-B3B0-435AC4AD86C3}" presName="accent_3" presStyleCnt="0"/>
      <dgm:spPr/>
    </dgm:pt>
    <dgm:pt modelId="{28509995-F246-4CB6-81B8-C9A1ED11B884}" type="pres">
      <dgm:prSet presAssocID="{F374BD77-2040-4738-B3B0-435AC4AD86C3}" presName="accentRepeatNode" presStyleLbl="solidFgAcc1" presStyleIdx="2" presStyleCnt="7"/>
      <dgm:spPr>
        <a:solidFill>
          <a:schemeClr val="accent2"/>
        </a:solidFill>
      </dgm:spPr>
    </dgm:pt>
    <dgm:pt modelId="{9E4F0DC8-1BC4-4A6F-A804-61BD3B2F3FE5}" type="pres">
      <dgm:prSet presAssocID="{5FFA49EC-A3CC-401E-9197-247EB9A6A683}" presName="text_4" presStyleLbl="node1" presStyleIdx="3" presStyleCnt="7">
        <dgm:presLayoutVars>
          <dgm:bulletEnabled val="1"/>
        </dgm:presLayoutVars>
      </dgm:prSet>
      <dgm:spPr/>
    </dgm:pt>
    <dgm:pt modelId="{682C40A8-9996-4159-A1B2-D59F5DBB0F04}" type="pres">
      <dgm:prSet presAssocID="{5FFA49EC-A3CC-401E-9197-247EB9A6A683}" presName="accent_4" presStyleCnt="0"/>
      <dgm:spPr/>
    </dgm:pt>
    <dgm:pt modelId="{D0672817-EC3C-406D-BDAF-15B3E5589928}" type="pres">
      <dgm:prSet presAssocID="{5FFA49EC-A3CC-401E-9197-247EB9A6A683}" presName="accentRepeatNode" presStyleLbl="solidFgAcc1" presStyleIdx="3" presStyleCnt="7"/>
      <dgm:spPr>
        <a:solidFill>
          <a:schemeClr val="accent4">
            <a:lumMod val="75000"/>
          </a:schemeClr>
        </a:solidFill>
      </dgm:spPr>
    </dgm:pt>
    <dgm:pt modelId="{3679F77A-373E-494B-8D5D-C41B3E7305C1}" type="pres">
      <dgm:prSet presAssocID="{B3C03AFC-8C9F-46E7-8696-A12581BEAE6A}" presName="text_5" presStyleLbl="node1" presStyleIdx="4" presStyleCnt="7">
        <dgm:presLayoutVars>
          <dgm:bulletEnabled val="1"/>
        </dgm:presLayoutVars>
      </dgm:prSet>
      <dgm:spPr/>
    </dgm:pt>
    <dgm:pt modelId="{1D3A399A-8B82-40CA-B694-312797BC0F06}" type="pres">
      <dgm:prSet presAssocID="{B3C03AFC-8C9F-46E7-8696-A12581BEAE6A}" presName="accent_5" presStyleCnt="0"/>
      <dgm:spPr/>
    </dgm:pt>
    <dgm:pt modelId="{4A5994B8-D237-4978-84EA-AEEB191301A6}" type="pres">
      <dgm:prSet presAssocID="{B3C03AFC-8C9F-46E7-8696-A12581BEAE6A}" presName="accentRepeatNode" presStyleLbl="solidFgAcc1" presStyleIdx="4" presStyleCnt="7"/>
      <dgm:spPr>
        <a:solidFill>
          <a:schemeClr val="accent2"/>
        </a:solidFill>
      </dgm:spPr>
    </dgm:pt>
    <dgm:pt modelId="{E58F8399-0C8E-427B-8E69-86804DA99A76}" type="pres">
      <dgm:prSet presAssocID="{975BB6E2-DD27-42B2-8F35-33CD5FE3FF34}" presName="text_6" presStyleLbl="node1" presStyleIdx="5" presStyleCnt="7">
        <dgm:presLayoutVars>
          <dgm:bulletEnabled val="1"/>
        </dgm:presLayoutVars>
      </dgm:prSet>
      <dgm:spPr/>
    </dgm:pt>
    <dgm:pt modelId="{62DE66BA-2E71-456F-BB1A-3BA068442BE8}" type="pres">
      <dgm:prSet presAssocID="{975BB6E2-DD27-42B2-8F35-33CD5FE3FF34}" presName="accent_6" presStyleCnt="0"/>
      <dgm:spPr/>
    </dgm:pt>
    <dgm:pt modelId="{436C72CB-2C19-4EB0-8000-C5E435054E04}" type="pres">
      <dgm:prSet presAssocID="{975BB6E2-DD27-42B2-8F35-33CD5FE3FF34}" presName="accentRepeatNode" presStyleLbl="solidFgAcc1" presStyleIdx="5" presStyleCnt="7"/>
      <dgm:spPr>
        <a:solidFill>
          <a:schemeClr val="accent4">
            <a:lumMod val="75000"/>
          </a:schemeClr>
        </a:solidFill>
      </dgm:spPr>
    </dgm:pt>
    <dgm:pt modelId="{19D0A3B9-EE20-49FB-93CA-59240C3BB6D6}" type="pres">
      <dgm:prSet presAssocID="{EC744A25-C9AF-41FE-854C-C35EE5093859}" presName="text_7" presStyleLbl="node1" presStyleIdx="6" presStyleCnt="7">
        <dgm:presLayoutVars>
          <dgm:bulletEnabled val="1"/>
        </dgm:presLayoutVars>
      </dgm:prSet>
      <dgm:spPr/>
    </dgm:pt>
    <dgm:pt modelId="{B27A01E2-82BA-497C-B7AC-75E3B41DCCA8}" type="pres">
      <dgm:prSet presAssocID="{EC744A25-C9AF-41FE-854C-C35EE5093859}" presName="accent_7" presStyleCnt="0"/>
      <dgm:spPr/>
    </dgm:pt>
    <dgm:pt modelId="{0FB87C61-3BE7-49C0-80C2-467DE50C52F7}" type="pres">
      <dgm:prSet presAssocID="{EC744A25-C9AF-41FE-854C-C35EE5093859}" presName="accentRepeatNode" presStyleLbl="solidFgAcc1" presStyleIdx="6" presStyleCnt="7"/>
      <dgm:spPr>
        <a:solidFill>
          <a:schemeClr val="accent2"/>
        </a:solidFill>
      </dgm:spPr>
    </dgm:pt>
  </dgm:ptLst>
  <dgm:cxnLst>
    <dgm:cxn modelId="{BBD3C611-9F0C-4129-9043-DE14D078456C}" srcId="{65C51FF6-411A-4F0B-8A04-348B65DE092A}" destId="{EC744A25-C9AF-41FE-854C-C35EE5093859}" srcOrd="6" destOrd="0" parTransId="{91BC828C-1490-46C6-BBDB-25A41F9B2B2C}" sibTransId="{4AC15AFD-271E-45F1-9552-B042F11118DE}"/>
    <dgm:cxn modelId="{F37C7925-9AA0-4207-BE46-91A888449A5D}" srcId="{65C51FF6-411A-4F0B-8A04-348B65DE092A}" destId="{F374BD77-2040-4738-B3B0-435AC4AD86C3}" srcOrd="2" destOrd="0" parTransId="{9066ABD0-7CC3-434C-B27C-C800C6630D30}" sibTransId="{52A21405-9E2B-4FFD-A255-9E9C9470E89D}"/>
    <dgm:cxn modelId="{BC4CC733-D90A-4280-9D1C-8E2DF15B3749}" type="presOf" srcId="{F374BD77-2040-4738-B3B0-435AC4AD86C3}" destId="{CF520E93-8A40-4B2E-9844-D9DED2AB5CC6}" srcOrd="0" destOrd="0" presId="urn:microsoft.com/office/officeart/2008/layout/VerticalCurvedList"/>
    <dgm:cxn modelId="{BFA8C535-69CD-4AD9-9D75-FE28C0158DAF}" type="presOf" srcId="{5BDC5CB1-8DAB-41E1-A078-ACD81AA74296}" destId="{083D8C48-7BB4-4D6E-963E-755AD2039553}" srcOrd="0" destOrd="0" presId="urn:microsoft.com/office/officeart/2008/layout/VerticalCurvedList"/>
    <dgm:cxn modelId="{82FBE865-96CE-41BC-8EC7-62A6B421EDC3}" srcId="{65C51FF6-411A-4F0B-8A04-348B65DE092A}" destId="{AA7D7BD0-7F07-41C5-AA41-DD8203AE8159}" srcOrd="1" destOrd="0" parTransId="{5B4C974A-75D6-4ECE-84BE-48011E62B89A}" sibTransId="{BC18070F-2D44-47C4-822D-A6B83239372D}"/>
    <dgm:cxn modelId="{744C774A-EB5E-4B91-BA80-2E17F17CA3A8}" type="presOf" srcId="{DC56875B-19A3-41DB-A554-EB3117808F00}" destId="{E2E49FA0-81DD-4649-AE80-E9BB9314EEC4}" srcOrd="0" destOrd="0" presId="urn:microsoft.com/office/officeart/2008/layout/VerticalCurvedList"/>
    <dgm:cxn modelId="{69E5BA4A-7A31-40E9-BDD4-9B41BD96D770}" type="presOf" srcId="{65C51FF6-411A-4F0B-8A04-348B65DE092A}" destId="{52224575-BBC1-492B-BEC8-EC138DC32D20}" srcOrd="0" destOrd="0" presId="urn:microsoft.com/office/officeart/2008/layout/VerticalCurvedList"/>
    <dgm:cxn modelId="{ABDDEC75-40F9-49EA-9DA6-069D4A5D0037}" srcId="{65C51FF6-411A-4F0B-8A04-348B65DE092A}" destId="{B3C03AFC-8C9F-46E7-8696-A12581BEAE6A}" srcOrd="4" destOrd="0" parTransId="{85BE1DB3-38F4-4321-84BA-9E27DABC087A}" sibTransId="{533AC5B2-331C-4839-96EA-E14F937704CD}"/>
    <dgm:cxn modelId="{E6D8FE78-8E47-43E5-8FCD-5C6A3513D88A}" srcId="{65C51FF6-411A-4F0B-8A04-348B65DE092A}" destId="{5BDC5CB1-8DAB-41E1-A078-ACD81AA74296}" srcOrd="0" destOrd="0" parTransId="{CF3A6309-0E9A-4272-9DEC-D0F38865065B}" sibTransId="{DC56875B-19A3-41DB-A554-EB3117808F00}"/>
    <dgm:cxn modelId="{3A41B67D-AADA-4ED4-BA05-81046FFE4B06}" type="presOf" srcId="{5FFA49EC-A3CC-401E-9197-247EB9A6A683}" destId="{9E4F0DC8-1BC4-4A6F-A804-61BD3B2F3FE5}" srcOrd="0" destOrd="0" presId="urn:microsoft.com/office/officeart/2008/layout/VerticalCurvedList"/>
    <dgm:cxn modelId="{4883928E-1497-4883-9B69-E599F93593A5}" type="presOf" srcId="{975BB6E2-DD27-42B2-8F35-33CD5FE3FF34}" destId="{E58F8399-0C8E-427B-8E69-86804DA99A76}" srcOrd="0" destOrd="0" presId="urn:microsoft.com/office/officeart/2008/layout/VerticalCurvedList"/>
    <dgm:cxn modelId="{C65620AB-7819-4E03-AE70-3F4E2BE03546}" type="presOf" srcId="{AA7D7BD0-7F07-41C5-AA41-DD8203AE8159}" destId="{58DA5401-9173-4EF0-B057-612B7C83067F}" srcOrd="0" destOrd="0" presId="urn:microsoft.com/office/officeart/2008/layout/VerticalCurvedList"/>
    <dgm:cxn modelId="{49E331B7-D74B-4B9E-9DE5-C849CA6A71C8}" srcId="{65C51FF6-411A-4F0B-8A04-348B65DE092A}" destId="{975BB6E2-DD27-42B2-8F35-33CD5FE3FF34}" srcOrd="5" destOrd="0" parTransId="{05EA2D25-519C-454D-9885-64CB5DD3878E}" sibTransId="{B2EA6ED4-5535-4C14-8F1F-0430B29E3013}"/>
    <dgm:cxn modelId="{03488EC6-3B8F-4B36-BBE2-289C9CFF9250}" type="presOf" srcId="{B3C03AFC-8C9F-46E7-8696-A12581BEAE6A}" destId="{3679F77A-373E-494B-8D5D-C41B3E7305C1}" srcOrd="0" destOrd="0" presId="urn:microsoft.com/office/officeart/2008/layout/VerticalCurvedList"/>
    <dgm:cxn modelId="{CC9C7FE2-34D7-4EC8-9103-549C46DD365B}" srcId="{65C51FF6-411A-4F0B-8A04-348B65DE092A}" destId="{5FFA49EC-A3CC-401E-9197-247EB9A6A683}" srcOrd="3" destOrd="0" parTransId="{92BFED09-AD2D-4358-A75B-E07D07A31421}" sibTransId="{4FEC62F9-971A-494F-9C22-8573AF1BD2D0}"/>
    <dgm:cxn modelId="{F105EFF4-7F7A-4FAF-BD4C-B7A935BB45F2}" type="presOf" srcId="{EC744A25-C9AF-41FE-854C-C35EE5093859}" destId="{19D0A3B9-EE20-49FB-93CA-59240C3BB6D6}" srcOrd="0" destOrd="0" presId="urn:microsoft.com/office/officeart/2008/layout/VerticalCurvedList"/>
    <dgm:cxn modelId="{C5A54DDF-1E68-4F9E-8E3C-36AD2ADC16C3}" type="presParOf" srcId="{52224575-BBC1-492B-BEC8-EC138DC32D20}" destId="{8C3E1466-B771-4573-AB28-88EADA0DA49C}" srcOrd="0" destOrd="0" presId="urn:microsoft.com/office/officeart/2008/layout/VerticalCurvedList"/>
    <dgm:cxn modelId="{4D774A94-E02F-4974-AF56-425930093CE1}" type="presParOf" srcId="{8C3E1466-B771-4573-AB28-88EADA0DA49C}" destId="{062A224C-33F8-45E6-A173-9214C6A773EF}" srcOrd="0" destOrd="0" presId="urn:microsoft.com/office/officeart/2008/layout/VerticalCurvedList"/>
    <dgm:cxn modelId="{61D52517-BA46-4424-A99D-3353BEA32BE7}" type="presParOf" srcId="{062A224C-33F8-45E6-A173-9214C6A773EF}" destId="{B99094FF-ABBF-4CDF-B4E3-6ADDEEA53F75}" srcOrd="0" destOrd="0" presId="urn:microsoft.com/office/officeart/2008/layout/VerticalCurvedList"/>
    <dgm:cxn modelId="{6AA52522-DDD0-4A08-AA26-2C53DD340D3E}" type="presParOf" srcId="{062A224C-33F8-45E6-A173-9214C6A773EF}" destId="{E2E49FA0-81DD-4649-AE80-E9BB9314EEC4}" srcOrd="1" destOrd="0" presId="urn:microsoft.com/office/officeart/2008/layout/VerticalCurvedList"/>
    <dgm:cxn modelId="{D43EF6E1-466B-41BF-AC59-4BD469F37D8B}" type="presParOf" srcId="{062A224C-33F8-45E6-A173-9214C6A773EF}" destId="{9FEA85EC-25DA-424D-AA43-D47C36E0D7AD}" srcOrd="2" destOrd="0" presId="urn:microsoft.com/office/officeart/2008/layout/VerticalCurvedList"/>
    <dgm:cxn modelId="{2C56B374-648F-432F-B099-4925AF2CC1E3}" type="presParOf" srcId="{062A224C-33F8-45E6-A173-9214C6A773EF}" destId="{9CE60B66-DCA5-417E-8A2F-6C349228A7AF}" srcOrd="3" destOrd="0" presId="urn:microsoft.com/office/officeart/2008/layout/VerticalCurvedList"/>
    <dgm:cxn modelId="{2054D11A-DC68-4FE4-B630-DBA274237435}" type="presParOf" srcId="{8C3E1466-B771-4573-AB28-88EADA0DA49C}" destId="{083D8C48-7BB4-4D6E-963E-755AD2039553}" srcOrd="1" destOrd="0" presId="urn:microsoft.com/office/officeart/2008/layout/VerticalCurvedList"/>
    <dgm:cxn modelId="{9219D1CA-D115-4924-94EA-AB07A4FF6D1F}" type="presParOf" srcId="{8C3E1466-B771-4573-AB28-88EADA0DA49C}" destId="{B6D899FA-0294-4AAB-8085-7873FED092BE}" srcOrd="2" destOrd="0" presId="urn:microsoft.com/office/officeart/2008/layout/VerticalCurvedList"/>
    <dgm:cxn modelId="{F4537E10-A607-4869-B0C2-50F166D599EE}" type="presParOf" srcId="{B6D899FA-0294-4AAB-8085-7873FED092BE}" destId="{5FDD9D33-BE77-4C54-A7C7-B4BA5942BA04}" srcOrd="0" destOrd="0" presId="urn:microsoft.com/office/officeart/2008/layout/VerticalCurvedList"/>
    <dgm:cxn modelId="{018F935A-6425-4E37-8F8E-D0DC8FF05E26}" type="presParOf" srcId="{8C3E1466-B771-4573-AB28-88EADA0DA49C}" destId="{58DA5401-9173-4EF0-B057-612B7C83067F}" srcOrd="3" destOrd="0" presId="urn:microsoft.com/office/officeart/2008/layout/VerticalCurvedList"/>
    <dgm:cxn modelId="{7806E244-BC69-4583-AA10-72143A7D2E81}" type="presParOf" srcId="{8C3E1466-B771-4573-AB28-88EADA0DA49C}" destId="{EF0D1C80-6EE6-4173-B635-63B3B52643D2}" srcOrd="4" destOrd="0" presId="urn:microsoft.com/office/officeart/2008/layout/VerticalCurvedList"/>
    <dgm:cxn modelId="{17C7E434-D965-427D-85AC-F306ACA14542}" type="presParOf" srcId="{EF0D1C80-6EE6-4173-B635-63B3B52643D2}" destId="{032109AD-13BF-496B-A5DB-7B9C51AABAB0}" srcOrd="0" destOrd="0" presId="urn:microsoft.com/office/officeart/2008/layout/VerticalCurvedList"/>
    <dgm:cxn modelId="{EB13B06C-B314-4979-AC53-80E4E7EF81BD}" type="presParOf" srcId="{8C3E1466-B771-4573-AB28-88EADA0DA49C}" destId="{CF520E93-8A40-4B2E-9844-D9DED2AB5CC6}" srcOrd="5" destOrd="0" presId="urn:microsoft.com/office/officeart/2008/layout/VerticalCurvedList"/>
    <dgm:cxn modelId="{5CB10F10-BC78-4C3A-8527-9A31913BFF95}" type="presParOf" srcId="{8C3E1466-B771-4573-AB28-88EADA0DA49C}" destId="{C3D5E3F8-5070-4594-B7B5-04D11556E14E}" srcOrd="6" destOrd="0" presId="urn:microsoft.com/office/officeart/2008/layout/VerticalCurvedList"/>
    <dgm:cxn modelId="{E45E47BD-8C4C-4B2C-8772-36674D2EA1AD}" type="presParOf" srcId="{C3D5E3F8-5070-4594-B7B5-04D11556E14E}" destId="{28509995-F246-4CB6-81B8-C9A1ED11B884}" srcOrd="0" destOrd="0" presId="urn:microsoft.com/office/officeart/2008/layout/VerticalCurvedList"/>
    <dgm:cxn modelId="{0AF0A809-46A6-4DED-AD46-9384CF038DB6}" type="presParOf" srcId="{8C3E1466-B771-4573-AB28-88EADA0DA49C}" destId="{9E4F0DC8-1BC4-4A6F-A804-61BD3B2F3FE5}" srcOrd="7" destOrd="0" presId="urn:microsoft.com/office/officeart/2008/layout/VerticalCurvedList"/>
    <dgm:cxn modelId="{44519E63-C875-4638-ABD9-FDF3E5C913C5}" type="presParOf" srcId="{8C3E1466-B771-4573-AB28-88EADA0DA49C}" destId="{682C40A8-9996-4159-A1B2-D59F5DBB0F04}" srcOrd="8" destOrd="0" presId="urn:microsoft.com/office/officeart/2008/layout/VerticalCurvedList"/>
    <dgm:cxn modelId="{061B93E1-1BD2-4BA7-BB34-45007D310607}" type="presParOf" srcId="{682C40A8-9996-4159-A1B2-D59F5DBB0F04}" destId="{D0672817-EC3C-406D-BDAF-15B3E5589928}" srcOrd="0" destOrd="0" presId="urn:microsoft.com/office/officeart/2008/layout/VerticalCurvedList"/>
    <dgm:cxn modelId="{164B3F49-AB95-421F-86D9-FA9E7CB95FD1}" type="presParOf" srcId="{8C3E1466-B771-4573-AB28-88EADA0DA49C}" destId="{3679F77A-373E-494B-8D5D-C41B3E7305C1}" srcOrd="9" destOrd="0" presId="urn:microsoft.com/office/officeart/2008/layout/VerticalCurvedList"/>
    <dgm:cxn modelId="{44456BBA-4877-46B0-BDFB-BE3470F605C3}" type="presParOf" srcId="{8C3E1466-B771-4573-AB28-88EADA0DA49C}" destId="{1D3A399A-8B82-40CA-B694-312797BC0F06}" srcOrd="10" destOrd="0" presId="urn:microsoft.com/office/officeart/2008/layout/VerticalCurvedList"/>
    <dgm:cxn modelId="{94DBCDE8-55C2-494D-9824-15BDB7BA7FF5}" type="presParOf" srcId="{1D3A399A-8B82-40CA-B694-312797BC0F06}" destId="{4A5994B8-D237-4978-84EA-AEEB191301A6}" srcOrd="0" destOrd="0" presId="urn:microsoft.com/office/officeart/2008/layout/VerticalCurvedList"/>
    <dgm:cxn modelId="{786C40F6-3121-49D7-8606-FA94CAF5305E}" type="presParOf" srcId="{8C3E1466-B771-4573-AB28-88EADA0DA49C}" destId="{E58F8399-0C8E-427B-8E69-86804DA99A76}" srcOrd="11" destOrd="0" presId="urn:microsoft.com/office/officeart/2008/layout/VerticalCurvedList"/>
    <dgm:cxn modelId="{46637853-13CA-48F0-8CCF-8C81E576907C}" type="presParOf" srcId="{8C3E1466-B771-4573-AB28-88EADA0DA49C}" destId="{62DE66BA-2E71-456F-BB1A-3BA068442BE8}" srcOrd="12" destOrd="0" presId="urn:microsoft.com/office/officeart/2008/layout/VerticalCurvedList"/>
    <dgm:cxn modelId="{424FC6A1-1E62-4CCA-97E9-D842E597A599}" type="presParOf" srcId="{62DE66BA-2E71-456F-BB1A-3BA068442BE8}" destId="{436C72CB-2C19-4EB0-8000-C5E435054E04}" srcOrd="0" destOrd="0" presId="urn:microsoft.com/office/officeart/2008/layout/VerticalCurvedList"/>
    <dgm:cxn modelId="{BCEC53D2-5AA8-49F6-9CA3-6B4416A94731}" type="presParOf" srcId="{8C3E1466-B771-4573-AB28-88EADA0DA49C}" destId="{19D0A3B9-EE20-49FB-93CA-59240C3BB6D6}" srcOrd="13" destOrd="0" presId="urn:microsoft.com/office/officeart/2008/layout/VerticalCurvedList"/>
    <dgm:cxn modelId="{3E3A3351-6258-4293-9006-7A9E010F7BC2}" type="presParOf" srcId="{8C3E1466-B771-4573-AB28-88EADA0DA49C}" destId="{B27A01E2-82BA-497C-B7AC-75E3B41DCCA8}" srcOrd="14" destOrd="0" presId="urn:microsoft.com/office/officeart/2008/layout/VerticalCurvedList"/>
    <dgm:cxn modelId="{03AD64B2-213A-4CD2-B9B4-B562FC9EFF7B}" type="presParOf" srcId="{B27A01E2-82BA-497C-B7AC-75E3B41DCCA8}" destId="{0FB87C61-3BE7-49C0-80C2-467DE50C52F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882838-258D-4DCB-9C13-FF937FDD020A}" type="doc">
      <dgm:prSet loTypeId="urn:microsoft.com/office/officeart/2011/layout/TabList" loCatId="list" qsTypeId="urn:microsoft.com/office/officeart/2005/8/quickstyle/3d1" qsCatId="3D" csTypeId="urn:microsoft.com/office/officeart/2005/8/colors/accent1_2" csCatId="accent1" phldr="1"/>
      <dgm:spPr/>
      <dgm:t>
        <a:bodyPr/>
        <a:lstStyle/>
        <a:p>
          <a:endParaRPr lang="en-IN"/>
        </a:p>
      </dgm:t>
    </dgm:pt>
    <dgm:pt modelId="{CD1FFD5B-E11D-4039-B4AF-6FC66C742559}">
      <dgm:prSet phldrT="[Text]" custT="1"/>
      <dgm:spPr/>
      <dgm:t>
        <a:bodyPr/>
        <a:lstStyle/>
        <a:p>
          <a:r>
            <a:rPr lang="en-US" sz="2400" dirty="0">
              <a:solidFill>
                <a:schemeClr val="tx1"/>
              </a:solidFill>
            </a:rPr>
            <a:t>Excel</a:t>
          </a:r>
          <a:endParaRPr lang="en-IN" sz="2400" dirty="0">
            <a:solidFill>
              <a:schemeClr val="tx1"/>
            </a:solidFill>
          </a:endParaRPr>
        </a:p>
      </dgm:t>
    </dgm:pt>
    <dgm:pt modelId="{DCE9C2E8-357A-4640-A415-DAD656336F11}" type="parTrans" cxnId="{3813361A-50DC-4C33-9E36-1A0A1860B565}">
      <dgm:prSet/>
      <dgm:spPr/>
      <dgm:t>
        <a:bodyPr/>
        <a:lstStyle/>
        <a:p>
          <a:endParaRPr lang="en-IN"/>
        </a:p>
      </dgm:t>
    </dgm:pt>
    <dgm:pt modelId="{8F397007-1E5C-4DA2-B2C6-10CE8AD6279D}" type="sibTrans" cxnId="{3813361A-50DC-4C33-9E36-1A0A1860B565}">
      <dgm:prSet/>
      <dgm:spPr/>
      <dgm:t>
        <a:bodyPr/>
        <a:lstStyle/>
        <a:p>
          <a:endParaRPr lang="en-IN"/>
        </a:p>
      </dgm:t>
    </dgm:pt>
    <dgm:pt modelId="{6D2309F4-4EB4-4B42-98DB-07FCFC763F37}">
      <dgm:prSet phldrT="[Text]" custT="1"/>
      <dgm:spPr/>
      <dgm:t>
        <a:bodyPr/>
        <a:lstStyle/>
        <a:p>
          <a:r>
            <a:rPr lang="en-US" sz="2400" dirty="0">
              <a:solidFill>
                <a:schemeClr val="tx1"/>
              </a:solidFill>
            </a:rPr>
            <a:t>SQL</a:t>
          </a:r>
          <a:endParaRPr lang="en-IN" sz="2400" dirty="0">
            <a:solidFill>
              <a:schemeClr val="tx1"/>
            </a:solidFill>
          </a:endParaRPr>
        </a:p>
      </dgm:t>
    </dgm:pt>
    <dgm:pt modelId="{200BD461-931E-447F-972F-385596122694}" type="parTrans" cxnId="{0DC5BF82-4F21-4AA1-939C-102A06DB5FEC}">
      <dgm:prSet/>
      <dgm:spPr/>
      <dgm:t>
        <a:bodyPr/>
        <a:lstStyle/>
        <a:p>
          <a:endParaRPr lang="en-IN"/>
        </a:p>
      </dgm:t>
    </dgm:pt>
    <dgm:pt modelId="{3EA7DD96-90B1-40D5-B9D7-9AD5D7E2C748}" type="sibTrans" cxnId="{0DC5BF82-4F21-4AA1-939C-102A06DB5FEC}">
      <dgm:prSet/>
      <dgm:spPr/>
      <dgm:t>
        <a:bodyPr/>
        <a:lstStyle/>
        <a:p>
          <a:endParaRPr lang="en-IN"/>
        </a:p>
      </dgm:t>
    </dgm:pt>
    <dgm:pt modelId="{CDD06274-4342-42EC-ADEB-AD1F09EAFF65}">
      <dgm:prSet phldrT="[Text]" custT="1"/>
      <dgm:spPr/>
      <dgm:t>
        <a:bodyPr/>
        <a:lstStyle/>
        <a:p>
          <a:r>
            <a:rPr lang="en-US" sz="2400" dirty="0">
              <a:solidFill>
                <a:schemeClr val="tx1"/>
              </a:solidFill>
            </a:rPr>
            <a:t>Tableau</a:t>
          </a:r>
          <a:endParaRPr lang="en-IN" sz="2400" dirty="0">
            <a:solidFill>
              <a:schemeClr val="tx1"/>
            </a:solidFill>
          </a:endParaRPr>
        </a:p>
      </dgm:t>
    </dgm:pt>
    <dgm:pt modelId="{AE706AFE-D86E-4B76-8609-933A11399D2C}" type="parTrans" cxnId="{12795CC9-1ED2-4306-8A46-E2AFEF358F52}">
      <dgm:prSet/>
      <dgm:spPr/>
      <dgm:t>
        <a:bodyPr/>
        <a:lstStyle/>
        <a:p>
          <a:endParaRPr lang="en-IN"/>
        </a:p>
      </dgm:t>
    </dgm:pt>
    <dgm:pt modelId="{8C803770-C5BE-493F-BB8D-2B499B9E0BD9}" type="sibTrans" cxnId="{12795CC9-1ED2-4306-8A46-E2AFEF358F52}">
      <dgm:prSet/>
      <dgm:spPr/>
      <dgm:t>
        <a:bodyPr/>
        <a:lstStyle/>
        <a:p>
          <a:endParaRPr lang="en-IN"/>
        </a:p>
      </dgm:t>
    </dgm:pt>
    <dgm:pt modelId="{56A5BF14-C277-46CB-AA5C-02E52B5E5D80}">
      <dgm:prSet phldrT="[Text]" custT="1"/>
      <dgm:spPr/>
      <dgm:t>
        <a:bodyPr/>
        <a:lstStyle/>
        <a:p>
          <a:r>
            <a:rPr lang="en-US" sz="2400" dirty="0">
              <a:solidFill>
                <a:schemeClr val="tx1"/>
              </a:solidFill>
            </a:rPr>
            <a:t>Power BI</a:t>
          </a:r>
          <a:endParaRPr lang="en-IN" sz="2400" dirty="0">
            <a:solidFill>
              <a:schemeClr val="tx1"/>
            </a:solidFill>
          </a:endParaRPr>
        </a:p>
      </dgm:t>
    </dgm:pt>
    <dgm:pt modelId="{18876A93-6583-4A51-B6E3-5EAB4D7F643B}" type="parTrans" cxnId="{ECE6B7B2-684E-46CF-A407-60922244496A}">
      <dgm:prSet/>
      <dgm:spPr/>
      <dgm:t>
        <a:bodyPr/>
        <a:lstStyle/>
        <a:p>
          <a:endParaRPr lang="en-IN"/>
        </a:p>
      </dgm:t>
    </dgm:pt>
    <dgm:pt modelId="{15F55413-8686-472A-A21C-E3ED15A4A243}" type="sibTrans" cxnId="{ECE6B7B2-684E-46CF-A407-60922244496A}">
      <dgm:prSet/>
      <dgm:spPr/>
      <dgm:t>
        <a:bodyPr/>
        <a:lstStyle/>
        <a:p>
          <a:endParaRPr lang="en-IN"/>
        </a:p>
      </dgm:t>
    </dgm:pt>
    <dgm:pt modelId="{CC67B192-CCF3-4579-8FD0-DCFCF5217CAD}" type="pres">
      <dgm:prSet presAssocID="{B2882838-258D-4DCB-9C13-FF937FDD020A}" presName="Name0" presStyleCnt="0">
        <dgm:presLayoutVars>
          <dgm:chMax/>
          <dgm:chPref val="3"/>
          <dgm:dir/>
          <dgm:animOne val="branch"/>
          <dgm:animLvl val="lvl"/>
        </dgm:presLayoutVars>
      </dgm:prSet>
      <dgm:spPr/>
    </dgm:pt>
    <dgm:pt modelId="{A182F471-DA51-4DAD-8888-9ABD0FA6EF48}" type="pres">
      <dgm:prSet presAssocID="{CD1FFD5B-E11D-4039-B4AF-6FC66C742559}" presName="composite" presStyleCnt="0"/>
      <dgm:spPr/>
    </dgm:pt>
    <dgm:pt modelId="{AD21B2D4-8F5E-40AF-A378-A2DB08D56189}" type="pres">
      <dgm:prSet presAssocID="{CD1FFD5B-E11D-4039-B4AF-6FC66C742559}" presName="FirstChild" presStyleLbl="revTx" presStyleIdx="0" presStyleCnt="4">
        <dgm:presLayoutVars>
          <dgm:chMax val="0"/>
          <dgm:chPref val="0"/>
          <dgm:bulletEnabled val="1"/>
        </dgm:presLayoutVars>
      </dgm:prSet>
      <dgm:spPr/>
    </dgm:pt>
    <dgm:pt modelId="{6C9F9DED-28F9-4F4A-833A-F18D888DB859}" type="pres">
      <dgm:prSet presAssocID="{CD1FFD5B-E11D-4039-B4AF-6FC66C742559}" presName="Parent" presStyleLbl="alignNode1" presStyleIdx="0" presStyleCnt="4" custScaleY="61255" custLinFactNeighborX="-33555" custLinFactNeighborY="18650">
        <dgm:presLayoutVars>
          <dgm:chMax val="3"/>
          <dgm:chPref val="3"/>
          <dgm:bulletEnabled val="1"/>
        </dgm:presLayoutVars>
      </dgm:prSet>
      <dgm:spPr/>
    </dgm:pt>
    <dgm:pt modelId="{3ED9A39E-CBF2-4984-96C4-A1BCE6EE671A}" type="pres">
      <dgm:prSet presAssocID="{CD1FFD5B-E11D-4039-B4AF-6FC66C742559}" presName="Accent" presStyleLbl="parChTrans1D1" presStyleIdx="0" presStyleCnt="4"/>
      <dgm:spPr/>
    </dgm:pt>
    <dgm:pt modelId="{7BF96672-7DE8-4F0C-AFA1-A0F62DA11390}" type="pres">
      <dgm:prSet presAssocID="{8F397007-1E5C-4DA2-B2C6-10CE8AD6279D}" presName="sibTrans" presStyleCnt="0"/>
      <dgm:spPr/>
    </dgm:pt>
    <dgm:pt modelId="{F5C61538-5904-496C-A58C-F843428A0F67}" type="pres">
      <dgm:prSet presAssocID="{6D2309F4-4EB4-4B42-98DB-07FCFC763F37}" presName="composite" presStyleCnt="0"/>
      <dgm:spPr/>
    </dgm:pt>
    <dgm:pt modelId="{2B42ACA3-79DA-4796-AC12-31CD251796A8}" type="pres">
      <dgm:prSet presAssocID="{6D2309F4-4EB4-4B42-98DB-07FCFC763F37}" presName="FirstChild" presStyleLbl="revTx" presStyleIdx="1" presStyleCnt="4">
        <dgm:presLayoutVars>
          <dgm:chMax val="0"/>
          <dgm:chPref val="0"/>
          <dgm:bulletEnabled val="1"/>
        </dgm:presLayoutVars>
      </dgm:prSet>
      <dgm:spPr/>
    </dgm:pt>
    <dgm:pt modelId="{97A5BEB1-69CE-4AAE-9E26-088239B1E20C}" type="pres">
      <dgm:prSet presAssocID="{6D2309F4-4EB4-4B42-98DB-07FCFC763F37}" presName="Parent" presStyleLbl="alignNode1" presStyleIdx="1" presStyleCnt="4" custScaleY="68540" custLinFactNeighborY="15407">
        <dgm:presLayoutVars>
          <dgm:chMax val="3"/>
          <dgm:chPref val="3"/>
          <dgm:bulletEnabled val="1"/>
        </dgm:presLayoutVars>
      </dgm:prSet>
      <dgm:spPr/>
    </dgm:pt>
    <dgm:pt modelId="{80759D3D-56DF-4188-B526-EB891005F2CE}" type="pres">
      <dgm:prSet presAssocID="{6D2309F4-4EB4-4B42-98DB-07FCFC763F37}" presName="Accent" presStyleLbl="parChTrans1D1" presStyleIdx="1" presStyleCnt="4"/>
      <dgm:spPr/>
    </dgm:pt>
    <dgm:pt modelId="{9044A1A8-D82B-4D50-B950-73C6EA474F52}" type="pres">
      <dgm:prSet presAssocID="{3EA7DD96-90B1-40D5-B9D7-9AD5D7E2C748}" presName="sibTrans" presStyleCnt="0"/>
      <dgm:spPr/>
    </dgm:pt>
    <dgm:pt modelId="{58273266-B60E-41DB-BEF0-B87861D51EFF}" type="pres">
      <dgm:prSet presAssocID="{CDD06274-4342-42EC-ADEB-AD1F09EAFF65}" presName="composite" presStyleCnt="0"/>
      <dgm:spPr/>
    </dgm:pt>
    <dgm:pt modelId="{F9FB80A2-29F4-4FDD-9216-F5F6514D6BC6}" type="pres">
      <dgm:prSet presAssocID="{CDD06274-4342-42EC-ADEB-AD1F09EAFF65}" presName="FirstChild" presStyleLbl="revTx" presStyleIdx="2" presStyleCnt="4">
        <dgm:presLayoutVars>
          <dgm:chMax val="0"/>
          <dgm:chPref val="0"/>
          <dgm:bulletEnabled val="1"/>
        </dgm:presLayoutVars>
      </dgm:prSet>
      <dgm:spPr/>
    </dgm:pt>
    <dgm:pt modelId="{73916CD5-150F-44E7-ADDA-35B5BC197AAC}" type="pres">
      <dgm:prSet presAssocID="{CDD06274-4342-42EC-ADEB-AD1F09EAFF65}" presName="Parent" presStyleLbl="alignNode1" presStyleIdx="2" presStyleCnt="4" custScaleY="62850" custLinFactNeighborY="17839">
        <dgm:presLayoutVars>
          <dgm:chMax val="3"/>
          <dgm:chPref val="3"/>
          <dgm:bulletEnabled val="1"/>
        </dgm:presLayoutVars>
      </dgm:prSet>
      <dgm:spPr/>
    </dgm:pt>
    <dgm:pt modelId="{0A5B30D3-727C-4987-8758-7167809B2A63}" type="pres">
      <dgm:prSet presAssocID="{CDD06274-4342-42EC-ADEB-AD1F09EAFF65}" presName="Accent" presStyleLbl="parChTrans1D1" presStyleIdx="2" presStyleCnt="4"/>
      <dgm:spPr/>
    </dgm:pt>
    <dgm:pt modelId="{634CE8C6-7E2B-472F-9B5E-CC2D61AF6500}" type="pres">
      <dgm:prSet presAssocID="{8C803770-C5BE-493F-BB8D-2B499B9E0BD9}" presName="sibTrans" presStyleCnt="0"/>
      <dgm:spPr/>
    </dgm:pt>
    <dgm:pt modelId="{A4E32A14-CA64-4D7C-80F0-56E3201D10F8}" type="pres">
      <dgm:prSet presAssocID="{56A5BF14-C277-46CB-AA5C-02E52B5E5D80}" presName="composite" presStyleCnt="0"/>
      <dgm:spPr/>
    </dgm:pt>
    <dgm:pt modelId="{B917588F-3E03-44B6-9F92-00972A848E98}" type="pres">
      <dgm:prSet presAssocID="{56A5BF14-C277-46CB-AA5C-02E52B5E5D80}" presName="FirstChild" presStyleLbl="revTx" presStyleIdx="3" presStyleCnt="4">
        <dgm:presLayoutVars>
          <dgm:chMax val="0"/>
          <dgm:chPref val="0"/>
          <dgm:bulletEnabled val="1"/>
        </dgm:presLayoutVars>
      </dgm:prSet>
      <dgm:spPr/>
    </dgm:pt>
    <dgm:pt modelId="{F2BE44B7-1BF3-4EE5-8009-0B434EE67F0C}" type="pres">
      <dgm:prSet presAssocID="{56A5BF14-C277-46CB-AA5C-02E52B5E5D80}" presName="Parent" presStyleLbl="alignNode1" presStyleIdx="3" presStyleCnt="4" custScaleY="68513" custLinFactNeighborY="15832">
        <dgm:presLayoutVars>
          <dgm:chMax val="3"/>
          <dgm:chPref val="3"/>
          <dgm:bulletEnabled val="1"/>
        </dgm:presLayoutVars>
      </dgm:prSet>
      <dgm:spPr/>
    </dgm:pt>
    <dgm:pt modelId="{8436D9FE-685C-44B9-8DA3-2D765F1E736D}" type="pres">
      <dgm:prSet presAssocID="{56A5BF14-C277-46CB-AA5C-02E52B5E5D80}" presName="Accent" presStyleLbl="parChTrans1D1" presStyleIdx="3" presStyleCnt="4"/>
      <dgm:spPr/>
    </dgm:pt>
  </dgm:ptLst>
  <dgm:cxnLst>
    <dgm:cxn modelId="{3813361A-50DC-4C33-9E36-1A0A1860B565}" srcId="{B2882838-258D-4DCB-9C13-FF937FDD020A}" destId="{CD1FFD5B-E11D-4039-B4AF-6FC66C742559}" srcOrd="0" destOrd="0" parTransId="{DCE9C2E8-357A-4640-A415-DAD656336F11}" sibTransId="{8F397007-1E5C-4DA2-B2C6-10CE8AD6279D}"/>
    <dgm:cxn modelId="{0DC5BF82-4F21-4AA1-939C-102A06DB5FEC}" srcId="{B2882838-258D-4DCB-9C13-FF937FDD020A}" destId="{6D2309F4-4EB4-4B42-98DB-07FCFC763F37}" srcOrd="1" destOrd="0" parTransId="{200BD461-931E-447F-972F-385596122694}" sibTransId="{3EA7DD96-90B1-40D5-B9D7-9AD5D7E2C748}"/>
    <dgm:cxn modelId="{ECE6B7B2-684E-46CF-A407-60922244496A}" srcId="{B2882838-258D-4DCB-9C13-FF937FDD020A}" destId="{56A5BF14-C277-46CB-AA5C-02E52B5E5D80}" srcOrd="3" destOrd="0" parTransId="{18876A93-6583-4A51-B6E3-5EAB4D7F643B}" sibTransId="{15F55413-8686-472A-A21C-E3ED15A4A243}"/>
    <dgm:cxn modelId="{12795CC9-1ED2-4306-8A46-E2AFEF358F52}" srcId="{B2882838-258D-4DCB-9C13-FF937FDD020A}" destId="{CDD06274-4342-42EC-ADEB-AD1F09EAFF65}" srcOrd="2" destOrd="0" parTransId="{AE706AFE-D86E-4B76-8609-933A11399D2C}" sibTransId="{8C803770-C5BE-493F-BB8D-2B499B9E0BD9}"/>
    <dgm:cxn modelId="{B20476CC-4A8F-4EBE-9633-31C3C0C43ECC}" type="presOf" srcId="{6D2309F4-4EB4-4B42-98DB-07FCFC763F37}" destId="{97A5BEB1-69CE-4AAE-9E26-088239B1E20C}" srcOrd="0" destOrd="0" presId="urn:microsoft.com/office/officeart/2011/layout/TabList"/>
    <dgm:cxn modelId="{247C29D8-5D9C-4E41-B834-BF7F3CC022A2}" type="presOf" srcId="{CDD06274-4342-42EC-ADEB-AD1F09EAFF65}" destId="{73916CD5-150F-44E7-ADDA-35B5BC197AAC}" srcOrd="0" destOrd="0" presId="urn:microsoft.com/office/officeart/2011/layout/TabList"/>
    <dgm:cxn modelId="{53B43AE0-D2BA-4472-AF39-1DA15383E803}" type="presOf" srcId="{CD1FFD5B-E11D-4039-B4AF-6FC66C742559}" destId="{6C9F9DED-28F9-4F4A-833A-F18D888DB859}" srcOrd="0" destOrd="0" presId="urn:microsoft.com/office/officeart/2011/layout/TabList"/>
    <dgm:cxn modelId="{A16C16EF-C45E-4E4B-803F-8328769C3EDE}" type="presOf" srcId="{56A5BF14-C277-46CB-AA5C-02E52B5E5D80}" destId="{F2BE44B7-1BF3-4EE5-8009-0B434EE67F0C}" srcOrd="0" destOrd="0" presId="urn:microsoft.com/office/officeart/2011/layout/TabList"/>
    <dgm:cxn modelId="{6703D4FB-50D7-4D18-B781-D4786E14F0D1}" type="presOf" srcId="{B2882838-258D-4DCB-9C13-FF937FDD020A}" destId="{CC67B192-CCF3-4579-8FD0-DCFCF5217CAD}" srcOrd="0" destOrd="0" presId="urn:microsoft.com/office/officeart/2011/layout/TabList"/>
    <dgm:cxn modelId="{337F9B27-6788-4D75-A711-A69EA85CED3E}" type="presParOf" srcId="{CC67B192-CCF3-4579-8FD0-DCFCF5217CAD}" destId="{A182F471-DA51-4DAD-8888-9ABD0FA6EF48}" srcOrd="0" destOrd="0" presId="urn:microsoft.com/office/officeart/2011/layout/TabList"/>
    <dgm:cxn modelId="{8B6FCEFC-BACB-4430-A3E1-693B8F7CF98C}" type="presParOf" srcId="{A182F471-DA51-4DAD-8888-9ABD0FA6EF48}" destId="{AD21B2D4-8F5E-40AF-A378-A2DB08D56189}" srcOrd="0" destOrd="0" presId="urn:microsoft.com/office/officeart/2011/layout/TabList"/>
    <dgm:cxn modelId="{E95B0B62-802D-4ECD-A017-4041B929E152}" type="presParOf" srcId="{A182F471-DA51-4DAD-8888-9ABD0FA6EF48}" destId="{6C9F9DED-28F9-4F4A-833A-F18D888DB859}" srcOrd="1" destOrd="0" presId="urn:microsoft.com/office/officeart/2011/layout/TabList"/>
    <dgm:cxn modelId="{71AA59F5-4531-4ADC-AF55-B7112414D8CE}" type="presParOf" srcId="{A182F471-DA51-4DAD-8888-9ABD0FA6EF48}" destId="{3ED9A39E-CBF2-4984-96C4-A1BCE6EE671A}" srcOrd="2" destOrd="0" presId="urn:microsoft.com/office/officeart/2011/layout/TabList"/>
    <dgm:cxn modelId="{5A86CC7B-7BE2-4D5A-9567-A6338759F9D3}" type="presParOf" srcId="{CC67B192-CCF3-4579-8FD0-DCFCF5217CAD}" destId="{7BF96672-7DE8-4F0C-AFA1-A0F62DA11390}" srcOrd="1" destOrd="0" presId="urn:microsoft.com/office/officeart/2011/layout/TabList"/>
    <dgm:cxn modelId="{88537884-C850-4AE3-994A-3677079562F3}" type="presParOf" srcId="{CC67B192-CCF3-4579-8FD0-DCFCF5217CAD}" destId="{F5C61538-5904-496C-A58C-F843428A0F67}" srcOrd="2" destOrd="0" presId="urn:microsoft.com/office/officeart/2011/layout/TabList"/>
    <dgm:cxn modelId="{E61194B8-7ABE-4CFD-A426-44BECA866EA4}" type="presParOf" srcId="{F5C61538-5904-496C-A58C-F843428A0F67}" destId="{2B42ACA3-79DA-4796-AC12-31CD251796A8}" srcOrd="0" destOrd="0" presId="urn:microsoft.com/office/officeart/2011/layout/TabList"/>
    <dgm:cxn modelId="{081AD0F9-1705-4FA6-A172-5B65BADF8B54}" type="presParOf" srcId="{F5C61538-5904-496C-A58C-F843428A0F67}" destId="{97A5BEB1-69CE-4AAE-9E26-088239B1E20C}" srcOrd="1" destOrd="0" presId="urn:microsoft.com/office/officeart/2011/layout/TabList"/>
    <dgm:cxn modelId="{8D0C1627-850B-41E2-90CA-4FE784E065E3}" type="presParOf" srcId="{F5C61538-5904-496C-A58C-F843428A0F67}" destId="{80759D3D-56DF-4188-B526-EB891005F2CE}" srcOrd="2" destOrd="0" presId="urn:microsoft.com/office/officeart/2011/layout/TabList"/>
    <dgm:cxn modelId="{B9FA9340-B502-4C48-A25F-725550241D34}" type="presParOf" srcId="{CC67B192-CCF3-4579-8FD0-DCFCF5217CAD}" destId="{9044A1A8-D82B-4D50-B950-73C6EA474F52}" srcOrd="3" destOrd="0" presId="urn:microsoft.com/office/officeart/2011/layout/TabList"/>
    <dgm:cxn modelId="{98514FC1-E16C-4346-823C-5219670F7F03}" type="presParOf" srcId="{CC67B192-CCF3-4579-8FD0-DCFCF5217CAD}" destId="{58273266-B60E-41DB-BEF0-B87861D51EFF}" srcOrd="4" destOrd="0" presId="urn:microsoft.com/office/officeart/2011/layout/TabList"/>
    <dgm:cxn modelId="{53292EDF-53C6-437D-9598-87C0083CC7D0}" type="presParOf" srcId="{58273266-B60E-41DB-BEF0-B87861D51EFF}" destId="{F9FB80A2-29F4-4FDD-9216-F5F6514D6BC6}" srcOrd="0" destOrd="0" presId="urn:microsoft.com/office/officeart/2011/layout/TabList"/>
    <dgm:cxn modelId="{88C2FAED-3EE8-4E79-B3AA-DC1A468EE455}" type="presParOf" srcId="{58273266-B60E-41DB-BEF0-B87861D51EFF}" destId="{73916CD5-150F-44E7-ADDA-35B5BC197AAC}" srcOrd="1" destOrd="0" presId="urn:microsoft.com/office/officeart/2011/layout/TabList"/>
    <dgm:cxn modelId="{60960906-AAE1-44F4-B4C7-A50C97E89EC6}" type="presParOf" srcId="{58273266-B60E-41DB-BEF0-B87861D51EFF}" destId="{0A5B30D3-727C-4987-8758-7167809B2A63}" srcOrd="2" destOrd="0" presId="urn:microsoft.com/office/officeart/2011/layout/TabList"/>
    <dgm:cxn modelId="{54EE28F0-0626-4378-9D39-59635075A182}" type="presParOf" srcId="{CC67B192-CCF3-4579-8FD0-DCFCF5217CAD}" destId="{634CE8C6-7E2B-472F-9B5E-CC2D61AF6500}" srcOrd="5" destOrd="0" presId="urn:microsoft.com/office/officeart/2011/layout/TabList"/>
    <dgm:cxn modelId="{D0097C13-44EA-4458-8495-B526FB0830D6}" type="presParOf" srcId="{CC67B192-CCF3-4579-8FD0-DCFCF5217CAD}" destId="{A4E32A14-CA64-4D7C-80F0-56E3201D10F8}" srcOrd="6" destOrd="0" presId="urn:microsoft.com/office/officeart/2011/layout/TabList"/>
    <dgm:cxn modelId="{6C94F476-E09E-4565-A61A-54B0A8068113}" type="presParOf" srcId="{A4E32A14-CA64-4D7C-80F0-56E3201D10F8}" destId="{B917588F-3E03-44B6-9F92-00972A848E98}" srcOrd="0" destOrd="0" presId="urn:microsoft.com/office/officeart/2011/layout/TabList"/>
    <dgm:cxn modelId="{621217B7-4888-4048-9C22-6801988912DB}" type="presParOf" srcId="{A4E32A14-CA64-4D7C-80F0-56E3201D10F8}" destId="{F2BE44B7-1BF3-4EE5-8009-0B434EE67F0C}" srcOrd="1" destOrd="0" presId="urn:microsoft.com/office/officeart/2011/layout/TabList"/>
    <dgm:cxn modelId="{254B32EE-91BD-4358-BDA3-FDAAAC304B95}" type="presParOf" srcId="{A4E32A14-CA64-4D7C-80F0-56E3201D10F8}" destId="{8436D9FE-685C-44B9-8DA3-2D765F1E736D}"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E49FA0-81DD-4649-AE80-E9BB9314EEC4}">
      <dsp:nvSpPr>
        <dsp:cNvPr id="0" name=""/>
        <dsp:cNvSpPr/>
      </dsp:nvSpPr>
      <dsp:spPr>
        <a:xfrm>
          <a:off x="-4878303" y="-747814"/>
          <a:ext cx="5811989" cy="5811989"/>
        </a:xfrm>
        <a:prstGeom prst="blockArc">
          <a:avLst>
            <a:gd name="adj1" fmla="val 18900000"/>
            <a:gd name="adj2" fmla="val 2700000"/>
            <a:gd name="adj3" fmla="val 372"/>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83D8C48-7BB4-4D6E-963E-755AD2039553}">
      <dsp:nvSpPr>
        <dsp:cNvPr id="0" name=""/>
        <dsp:cNvSpPr/>
      </dsp:nvSpPr>
      <dsp:spPr>
        <a:xfrm>
          <a:off x="360416" y="186391"/>
          <a:ext cx="6030551" cy="39227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Project And Dataset Overview</a:t>
          </a:r>
          <a:endParaRPr lang="en-IN" sz="1600" kern="1200" dirty="0">
            <a:solidFill>
              <a:schemeClr val="tx1"/>
            </a:solidFill>
          </a:endParaRPr>
        </a:p>
      </dsp:txBody>
      <dsp:txXfrm>
        <a:off x="360416" y="186391"/>
        <a:ext cx="6030551" cy="392270"/>
      </dsp:txXfrm>
    </dsp:sp>
    <dsp:sp modelId="{5FDD9D33-BE77-4C54-A7C7-B4BA5942BA04}">
      <dsp:nvSpPr>
        <dsp:cNvPr id="0" name=""/>
        <dsp:cNvSpPr/>
      </dsp:nvSpPr>
      <dsp:spPr>
        <a:xfrm>
          <a:off x="57623" y="147187"/>
          <a:ext cx="490338" cy="490338"/>
        </a:xfrm>
        <a:prstGeom prst="ellipse">
          <a:avLst/>
        </a:prstGeom>
        <a:solidFill>
          <a:schemeClr val="accent2"/>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8DA5401-9173-4EF0-B057-612B7C83067F}">
      <dsp:nvSpPr>
        <dsp:cNvPr id="0" name=""/>
        <dsp:cNvSpPr/>
      </dsp:nvSpPr>
      <dsp:spPr>
        <a:xfrm>
          <a:off x="715633" y="804634"/>
          <a:ext cx="5675315" cy="392270"/>
        </a:xfrm>
        <a:prstGeom prst="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KPI list</a:t>
          </a:r>
          <a:endParaRPr lang="en-IN" sz="1600" kern="1200" dirty="0">
            <a:solidFill>
              <a:schemeClr val="tx1"/>
            </a:solidFill>
          </a:endParaRPr>
        </a:p>
      </dsp:txBody>
      <dsp:txXfrm>
        <a:off x="715633" y="804634"/>
        <a:ext cx="5675315" cy="392270"/>
      </dsp:txXfrm>
    </dsp:sp>
    <dsp:sp modelId="{032109AD-13BF-496B-A5DB-7B9C51AABAB0}">
      <dsp:nvSpPr>
        <dsp:cNvPr id="0" name=""/>
        <dsp:cNvSpPr/>
      </dsp:nvSpPr>
      <dsp:spPr>
        <a:xfrm>
          <a:off x="412859" y="735939"/>
          <a:ext cx="490338" cy="490338"/>
        </a:xfrm>
        <a:prstGeom prst="ellipse">
          <a:avLst/>
        </a:prstGeom>
        <a:solidFill>
          <a:schemeClr val="accent4">
            <a:lumMod val="75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CF520E93-8A40-4B2E-9844-D9DED2AB5CC6}">
      <dsp:nvSpPr>
        <dsp:cNvPr id="0" name=""/>
        <dsp:cNvSpPr/>
      </dsp:nvSpPr>
      <dsp:spPr>
        <a:xfrm>
          <a:off x="852697" y="1373293"/>
          <a:ext cx="5480647" cy="39227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Excel Dashboard</a:t>
          </a:r>
          <a:endParaRPr lang="en-IN" sz="1600" kern="1200" dirty="0">
            <a:solidFill>
              <a:schemeClr val="tx1"/>
            </a:solidFill>
          </a:endParaRPr>
        </a:p>
      </dsp:txBody>
      <dsp:txXfrm>
        <a:off x="852697" y="1373293"/>
        <a:ext cx="5480647" cy="392270"/>
      </dsp:txXfrm>
    </dsp:sp>
    <dsp:sp modelId="{28509995-F246-4CB6-81B8-C9A1ED11B884}">
      <dsp:nvSpPr>
        <dsp:cNvPr id="0" name=""/>
        <dsp:cNvSpPr/>
      </dsp:nvSpPr>
      <dsp:spPr>
        <a:xfrm>
          <a:off x="607527" y="1324259"/>
          <a:ext cx="490338" cy="490338"/>
        </a:xfrm>
        <a:prstGeom prst="ellipse">
          <a:avLst/>
        </a:prstGeom>
        <a:solidFill>
          <a:schemeClr val="accent2"/>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E4F0DC8-1BC4-4A6F-A804-61BD3B2F3FE5}">
      <dsp:nvSpPr>
        <dsp:cNvPr id="0" name=""/>
        <dsp:cNvSpPr/>
      </dsp:nvSpPr>
      <dsp:spPr>
        <a:xfrm>
          <a:off x="914852" y="1962045"/>
          <a:ext cx="5418491" cy="392270"/>
        </a:xfrm>
        <a:prstGeom prst="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Tableau Dashboard </a:t>
          </a:r>
          <a:endParaRPr lang="en-IN" sz="1600" kern="1200" dirty="0">
            <a:solidFill>
              <a:schemeClr val="tx1"/>
            </a:solidFill>
          </a:endParaRPr>
        </a:p>
      </dsp:txBody>
      <dsp:txXfrm>
        <a:off x="914852" y="1962045"/>
        <a:ext cx="5418491" cy="392270"/>
      </dsp:txXfrm>
    </dsp:sp>
    <dsp:sp modelId="{D0672817-EC3C-406D-BDAF-15B3E5589928}">
      <dsp:nvSpPr>
        <dsp:cNvPr id="0" name=""/>
        <dsp:cNvSpPr/>
      </dsp:nvSpPr>
      <dsp:spPr>
        <a:xfrm>
          <a:off x="669683" y="1913011"/>
          <a:ext cx="490338" cy="490338"/>
        </a:xfrm>
        <a:prstGeom prst="ellipse">
          <a:avLst/>
        </a:prstGeom>
        <a:solidFill>
          <a:schemeClr val="accent4">
            <a:lumMod val="75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3679F77A-373E-494B-8D5D-C41B3E7305C1}">
      <dsp:nvSpPr>
        <dsp:cNvPr id="0" name=""/>
        <dsp:cNvSpPr/>
      </dsp:nvSpPr>
      <dsp:spPr>
        <a:xfrm>
          <a:off x="852697" y="2550796"/>
          <a:ext cx="5480647" cy="39227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Power Bi Dashboard</a:t>
          </a:r>
          <a:endParaRPr lang="en-IN" sz="1600" kern="1200" dirty="0">
            <a:solidFill>
              <a:schemeClr val="tx1"/>
            </a:solidFill>
          </a:endParaRPr>
        </a:p>
      </dsp:txBody>
      <dsp:txXfrm>
        <a:off x="852697" y="2550796"/>
        <a:ext cx="5480647" cy="392270"/>
      </dsp:txXfrm>
    </dsp:sp>
    <dsp:sp modelId="{4A5994B8-D237-4978-84EA-AEEB191301A6}">
      <dsp:nvSpPr>
        <dsp:cNvPr id="0" name=""/>
        <dsp:cNvSpPr/>
      </dsp:nvSpPr>
      <dsp:spPr>
        <a:xfrm>
          <a:off x="607527" y="2501762"/>
          <a:ext cx="490338" cy="490338"/>
        </a:xfrm>
        <a:prstGeom prst="ellipse">
          <a:avLst/>
        </a:prstGeom>
        <a:solidFill>
          <a:schemeClr val="accent2"/>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58F8399-0C8E-427B-8E69-86804DA99A76}">
      <dsp:nvSpPr>
        <dsp:cNvPr id="0" name=""/>
        <dsp:cNvSpPr/>
      </dsp:nvSpPr>
      <dsp:spPr>
        <a:xfrm>
          <a:off x="658029" y="3139116"/>
          <a:ext cx="5675315" cy="392270"/>
        </a:xfrm>
        <a:prstGeom prst="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SQL Queries And Results</a:t>
          </a:r>
          <a:endParaRPr lang="en-IN" sz="1600" kern="1200" dirty="0">
            <a:solidFill>
              <a:schemeClr val="tx1"/>
            </a:solidFill>
          </a:endParaRPr>
        </a:p>
      </dsp:txBody>
      <dsp:txXfrm>
        <a:off x="658029" y="3139116"/>
        <a:ext cx="5675315" cy="392270"/>
      </dsp:txXfrm>
    </dsp:sp>
    <dsp:sp modelId="{436C72CB-2C19-4EB0-8000-C5E435054E04}">
      <dsp:nvSpPr>
        <dsp:cNvPr id="0" name=""/>
        <dsp:cNvSpPr/>
      </dsp:nvSpPr>
      <dsp:spPr>
        <a:xfrm>
          <a:off x="412859" y="3090082"/>
          <a:ext cx="490338" cy="490338"/>
        </a:xfrm>
        <a:prstGeom prst="ellipse">
          <a:avLst/>
        </a:prstGeom>
        <a:solidFill>
          <a:schemeClr val="accent4">
            <a:lumMod val="75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9D0A3B9-EE20-49FB-93CA-59240C3BB6D6}">
      <dsp:nvSpPr>
        <dsp:cNvPr id="0" name=""/>
        <dsp:cNvSpPr/>
      </dsp:nvSpPr>
      <dsp:spPr>
        <a:xfrm>
          <a:off x="302792" y="3727868"/>
          <a:ext cx="6030551" cy="39227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136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Challenges and Key Takeaways</a:t>
          </a:r>
          <a:endParaRPr lang="en-IN" sz="1600" kern="1200" dirty="0">
            <a:solidFill>
              <a:schemeClr val="tx1"/>
            </a:solidFill>
          </a:endParaRPr>
        </a:p>
      </dsp:txBody>
      <dsp:txXfrm>
        <a:off x="302792" y="3727868"/>
        <a:ext cx="6030551" cy="392270"/>
      </dsp:txXfrm>
    </dsp:sp>
    <dsp:sp modelId="{0FB87C61-3BE7-49C0-80C2-467DE50C52F7}">
      <dsp:nvSpPr>
        <dsp:cNvPr id="0" name=""/>
        <dsp:cNvSpPr/>
      </dsp:nvSpPr>
      <dsp:spPr>
        <a:xfrm>
          <a:off x="57623" y="3678834"/>
          <a:ext cx="490338" cy="490338"/>
        </a:xfrm>
        <a:prstGeom prst="ellipse">
          <a:avLst/>
        </a:prstGeom>
        <a:solidFill>
          <a:schemeClr val="accent2"/>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6D9FE-685C-44B9-8DA3-2D765F1E736D}">
      <dsp:nvSpPr>
        <dsp:cNvPr id="0" name=""/>
        <dsp:cNvSpPr/>
      </dsp:nvSpPr>
      <dsp:spPr>
        <a:xfrm>
          <a:off x="0" y="4979682"/>
          <a:ext cx="9241277" cy="0"/>
        </a:xfrm>
        <a:prstGeom prst="line">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A5B30D3-727C-4987-8758-7167809B2A63}">
      <dsp:nvSpPr>
        <dsp:cNvPr id="0" name=""/>
        <dsp:cNvSpPr/>
      </dsp:nvSpPr>
      <dsp:spPr>
        <a:xfrm>
          <a:off x="0" y="3720030"/>
          <a:ext cx="9241277" cy="0"/>
        </a:xfrm>
        <a:prstGeom prst="line">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0759D3D-56DF-4188-B526-EB891005F2CE}">
      <dsp:nvSpPr>
        <dsp:cNvPr id="0" name=""/>
        <dsp:cNvSpPr/>
      </dsp:nvSpPr>
      <dsp:spPr>
        <a:xfrm>
          <a:off x="0" y="2460379"/>
          <a:ext cx="9241277" cy="0"/>
        </a:xfrm>
        <a:prstGeom prst="line">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ED9A39E-CBF2-4984-96C4-A1BCE6EE671A}">
      <dsp:nvSpPr>
        <dsp:cNvPr id="0" name=""/>
        <dsp:cNvSpPr/>
      </dsp:nvSpPr>
      <dsp:spPr>
        <a:xfrm>
          <a:off x="0" y="1200727"/>
          <a:ext cx="9241277" cy="0"/>
        </a:xfrm>
        <a:prstGeom prst="line">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D21B2D4-8F5E-40AF-A378-A2DB08D56189}">
      <dsp:nvSpPr>
        <dsp:cNvPr id="0" name=""/>
        <dsp:cNvSpPr/>
      </dsp:nvSpPr>
      <dsp:spPr>
        <a:xfrm>
          <a:off x="2402732" y="1059"/>
          <a:ext cx="6838544" cy="1199668"/>
        </a:xfrm>
        <a:prstGeom prst="rect">
          <a:avLst/>
        </a:prstGeom>
        <a:noFill/>
        <a:ln>
          <a:noFill/>
        </a:ln>
        <a:effectLst/>
      </dsp:spPr>
      <dsp:style>
        <a:lnRef idx="0">
          <a:scrgbClr r="0" g="0" b="0"/>
        </a:lnRef>
        <a:fillRef idx="0">
          <a:scrgbClr r="0" g="0" b="0"/>
        </a:fillRef>
        <a:effectRef idx="0">
          <a:scrgbClr r="0" g="0" b="0"/>
        </a:effectRef>
        <a:fontRef idx="minor"/>
      </dsp:style>
    </dsp:sp>
    <dsp:sp modelId="{6C9F9DED-28F9-4F4A-833A-F18D888DB859}">
      <dsp:nvSpPr>
        <dsp:cNvPr id="0" name=""/>
        <dsp:cNvSpPr/>
      </dsp:nvSpPr>
      <dsp:spPr>
        <a:xfrm>
          <a:off x="0" y="457203"/>
          <a:ext cx="2402732" cy="734856"/>
        </a:xfrm>
        <a:prstGeom prst="round2SameRect">
          <a:avLst>
            <a:gd name="adj1" fmla="val 16670"/>
            <a:gd name="adj2" fmla="val 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Excel</a:t>
          </a:r>
          <a:endParaRPr lang="en-IN" sz="2400" kern="1200" dirty="0">
            <a:solidFill>
              <a:schemeClr val="tx1"/>
            </a:solidFill>
          </a:endParaRPr>
        </a:p>
      </dsp:txBody>
      <dsp:txXfrm>
        <a:off x="35879" y="493082"/>
        <a:ext cx="2330974" cy="698977"/>
      </dsp:txXfrm>
    </dsp:sp>
    <dsp:sp modelId="{2B42ACA3-79DA-4796-AC12-31CD251796A8}">
      <dsp:nvSpPr>
        <dsp:cNvPr id="0" name=""/>
        <dsp:cNvSpPr/>
      </dsp:nvSpPr>
      <dsp:spPr>
        <a:xfrm>
          <a:off x="2402732" y="1260711"/>
          <a:ext cx="6838544" cy="1199668"/>
        </a:xfrm>
        <a:prstGeom prst="rect">
          <a:avLst/>
        </a:prstGeom>
        <a:noFill/>
        <a:ln>
          <a:noFill/>
        </a:ln>
        <a:effectLst/>
      </dsp:spPr>
      <dsp:style>
        <a:lnRef idx="0">
          <a:scrgbClr r="0" g="0" b="0"/>
        </a:lnRef>
        <a:fillRef idx="0">
          <a:scrgbClr r="0" g="0" b="0"/>
        </a:fillRef>
        <a:effectRef idx="0">
          <a:scrgbClr r="0" g="0" b="0"/>
        </a:effectRef>
        <a:fontRef idx="minor"/>
      </dsp:style>
    </dsp:sp>
    <dsp:sp modelId="{97A5BEB1-69CE-4AAE-9E26-088239B1E20C}">
      <dsp:nvSpPr>
        <dsp:cNvPr id="0" name=""/>
        <dsp:cNvSpPr/>
      </dsp:nvSpPr>
      <dsp:spPr>
        <a:xfrm>
          <a:off x="0" y="1634251"/>
          <a:ext cx="2402732" cy="822252"/>
        </a:xfrm>
        <a:prstGeom prst="round2SameRect">
          <a:avLst>
            <a:gd name="adj1" fmla="val 16670"/>
            <a:gd name="adj2" fmla="val 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SQL</a:t>
          </a:r>
          <a:endParaRPr lang="en-IN" sz="2400" kern="1200" dirty="0">
            <a:solidFill>
              <a:schemeClr val="tx1"/>
            </a:solidFill>
          </a:endParaRPr>
        </a:p>
      </dsp:txBody>
      <dsp:txXfrm>
        <a:off x="40146" y="1674397"/>
        <a:ext cx="2322440" cy="782106"/>
      </dsp:txXfrm>
    </dsp:sp>
    <dsp:sp modelId="{F9FB80A2-29F4-4FDD-9216-F5F6514D6BC6}">
      <dsp:nvSpPr>
        <dsp:cNvPr id="0" name=""/>
        <dsp:cNvSpPr/>
      </dsp:nvSpPr>
      <dsp:spPr>
        <a:xfrm>
          <a:off x="2402732" y="2520362"/>
          <a:ext cx="6838544" cy="1199668"/>
        </a:xfrm>
        <a:prstGeom prst="rect">
          <a:avLst/>
        </a:prstGeom>
        <a:noFill/>
        <a:ln>
          <a:noFill/>
        </a:ln>
        <a:effectLst/>
      </dsp:spPr>
      <dsp:style>
        <a:lnRef idx="0">
          <a:scrgbClr r="0" g="0" b="0"/>
        </a:lnRef>
        <a:fillRef idx="0">
          <a:scrgbClr r="0" g="0" b="0"/>
        </a:fillRef>
        <a:effectRef idx="0">
          <a:scrgbClr r="0" g="0" b="0"/>
        </a:effectRef>
        <a:fontRef idx="minor"/>
      </dsp:style>
    </dsp:sp>
    <dsp:sp modelId="{73916CD5-150F-44E7-ADDA-35B5BC197AAC}">
      <dsp:nvSpPr>
        <dsp:cNvPr id="0" name=""/>
        <dsp:cNvSpPr/>
      </dsp:nvSpPr>
      <dsp:spPr>
        <a:xfrm>
          <a:off x="0" y="2957209"/>
          <a:ext cx="2402732" cy="753991"/>
        </a:xfrm>
        <a:prstGeom prst="round2SameRect">
          <a:avLst>
            <a:gd name="adj1" fmla="val 16670"/>
            <a:gd name="adj2" fmla="val 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Tableau</a:t>
          </a:r>
          <a:endParaRPr lang="en-IN" sz="2400" kern="1200" dirty="0">
            <a:solidFill>
              <a:schemeClr val="tx1"/>
            </a:solidFill>
          </a:endParaRPr>
        </a:p>
      </dsp:txBody>
      <dsp:txXfrm>
        <a:off x="36813" y="2994022"/>
        <a:ext cx="2329106" cy="717178"/>
      </dsp:txXfrm>
    </dsp:sp>
    <dsp:sp modelId="{B917588F-3E03-44B6-9F92-00972A848E98}">
      <dsp:nvSpPr>
        <dsp:cNvPr id="0" name=""/>
        <dsp:cNvSpPr/>
      </dsp:nvSpPr>
      <dsp:spPr>
        <a:xfrm>
          <a:off x="2402732" y="3780014"/>
          <a:ext cx="6838544" cy="1199668"/>
        </a:xfrm>
        <a:prstGeom prst="rect">
          <a:avLst/>
        </a:prstGeom>
        <a:noFill/>
        <a:ln>
          <a:noFill/>
        </a:ln>
        <a:effectLst/>
      </dsp:spPr>
      <dsp:style>
        <a:lnRef idx="0">
          <a:scrgbClr r="0" g="0" b="0"/>
        </a:lnRef>
        <a:fillRef idx="0">
          <a:scrgbClr r="0" g="0" b="0"/>
        </a:fillRef>
        <a:effectRef idx="0">
          <a:scrgbClr r="0" g="0" b="0"/>
        </a:effectRef>
        <a:fontRef idx="minor"/>
      </dsp:style>
    </dsp:sp>
    <dsp:sp modelId="{F2BE44B7-1BF3-4EE5-8009-0B434EE67F0C}">
      <dsp:nvSpPr>
        <dsp:cNvPr id="0" name=""/>
        <dsp:cNvSpPr/>
      </dsp:nvSpPr>
      <dsp:spPr>
        <a:xfrm>
          <a:off x="0" y="4158813"/>
          <a:ext cx="2402732" cy="821928"/>
        </a:xfrm>
        <a:prstGeom prst="round2SameRect">
          <a:avLst>
            <a:gd name="adj1" fmla="val 16670"/>
            <a:gd name="adj2" fmla="val 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Power BI</a:t>
          </a:r>
          <a:endParaRPr lang="en-IN" sz="2400" kern="1200" dirty="0">
            <a:solidFill>
              <a:schemeClr val="tx1"/>
            </a:solidFill>
          </a:endParaRPr>
        </a:p>
      </dsp:txBody>
      <dsp:txXfrm>
        <a:off x="40130" y="4198943"/>
        <a:ext cx="2322472" cy="781798"/>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91052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43573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40434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9956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1547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55556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C1658E-D6A2-5C83-7087-477C782394D9}"/>
              </a:ext>
            </a:extLst>
          </p:cNvPr>
          <p:cNvSpPr txBox="1"/>
          <p:nvPr/>
        </p:nvSpPr>
        <p:spPr>
          <a:xfrm>
            <a:off x="3568586" y="2158201"/>
            <a:ext cx="5233481" cy="800219"/>
          </a:xfrm>
          <a:prstGeom prst="rect">
            <a:avLst/>
          </a:prstGeom>
          <a:noFill/>
        </p:spPr>
        <p:txBody>
          <a:bodyPr wrap="square" rtlCol="0">
            <a:spAutoFit/>
          </a:bodyPr>
          <a:lstStyle/>
          <a:p>
            <a:r>
              <a:rPr lang="en-US" sz="2800" b="1" dirty="0"/>
              <a:t>Bank Analytics &amp; Dashboard</a:t>
            </a:r>
            <a:br>
              <a:rPr lang="en-US" sz="3200" dirty="0">
                <a:solidFill>
                  <a:srgbClr val="800000"/>
                </a:solidFill>
              </a:rPr>
            </a:br>
            <a:r>
              <a:rPr lang="en-US" sz="1800" dirty="0">
                <a:solidFill>
                  <a:srgbClr val="800000"/>
                </a:solidFill>
              </a:rPr>
              <a:t>Analytics for Stake-Holders </a:t>
            </a:r>
            <a:endParaRPr lang="en-IN" dirty="0"/>
          </a:p>
        </p:txBody>
      </p:sp>
      <p:sp>
        <p:nvSpPr>
          <p:cNvPr id="7" name="TextBox 6">
            <a:extLst>
              <a:ext uri="{FF2B5EF4-FFF2-40B4-BE49-F238E27FC236}">
                <a16:creationId xmlns:a16="http://schemas.microsoft.com/office/drawing/2014/main" id="{1817F2D0-1A16-5DF4-B844-FCE14FC43058}"/>
              </a:ext>
            </a:extLst>
          </p:cNvPr>
          <p:cNvSpPr txBox="1"/>
          <p:nvPr/>
        </p:nvSpPr>
        <p:spPr>
          <a:xfrm>
            <a:off x="2762864" y="5499162"/>
            <a:ext cx="7216877" cy="861774"/>
          </a:xfrm>
          <a:prstGeom prst="rect">
            <a:avLst/>
          </a:prstGeom>
          <a:noFill/>
        </p:spPr>
        <p:txBody>
          <a:bodyPr wrap="square" rtlCol="0">
            <a:spAutoFit/>
          </a:bodyPr>
          <a:lstStyle/>
          <a:p>
            <a:r>
              <a:rPr lang="en-US" dirty="0">
                <a:solidFill>
                  <a:srgbClr val="FDFBF6"/>
                </a:solidFill>
              </a:rPr>
              <a:t>Created By :</a:t>
            </a:r>
          </a:p>
          <a:p>
            <a:endParaRPr lang="en-US" dirty="0">
              <a:solidFill>
                <a:srgbClr val="FDFBF6"/>
              </a:solidFill>
            </a:endParaRPr>
          </a:p>
          <a:p>
            <a:pPr marL="285750" indent="-285750">
              <a:buFontTx/>
              <a:buChar char="-"/>
            </a:pPr>
            <a:r>
              <a:rPr lang="en-US" sz="1400" dirty="0">
                <a:solidFill>
                  <a:srgbClr val="FDFBF6"/>
                </a:solidFill>
              </a:rPr>
              <a:t>Monish G  |  Phurba Doma Sherpa  |  B. Sahithi  |  Mehwish Ahmed  |  Avin paula</a:t>
            </a:r>
            <a:endParaRPr lang="en-IN" sz="1400" dirty="0">
              <a:solidFill>
                <a:srgbClr val="FDFBF6"/>
              </a:solidFill>
            </a:endParaRPr>
          </a:p>
        </p:txBody>
      </p:sp>
    </p:spTree>
    <p:extLst>
      <p:ext uri="{BB962C8B-B14F-4D97-AF65-F5344CB8AC3E}">
        <p14:creationId xmlns:p14="http://schemas.microsoft.com/office/powerpoint/2010/main" val="220243767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835742" y="1479983"/>
            <a:ext cx="6583680" cy="471489"/>
          </a:xfrm>
          <a:noFill/>
        </p:spPr>
        <p:txBody>
          <a:bodyPr/>
          <a:lstStyle/>
          <a:p>
            <a:pPr algn="ctr"/>
            <a:r>
              <a:rPr lang="en-US" sz="2400"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747253" y="2382103"/>
            <a:ext cx="7443020" cy="1983420"/>
          </a:xfrm>
        </p:spPr>
        <p:txBody>
          <a:bodyPr>
            <a:normAutofit/>
          </a:bodyPr>
          <a:lstStyle/>
          <a:p>
            <a:pPr marL="285750" indent="-285750">
              <a:buFont typeface="Wingdings" panose="05000000000000000000" pitchFamily="2" charset="2"/>
              <a:buChar char="Ø"/>
            </a:pPr>
            <a:r>
              <a:rPr lang="en-US" sz="1800" dirty="0">
                <a:cs typeface="Calibri" panose="020F0502020204030204" pitchFamily="34" charset="0"/>
              </a:rPr>
              <a:t>The objective of this project is to analyze banking data and create an interactive dashboard that helps stakeholders monitor bank performance, customer behavior, loan trends, and financial risks for better decision-making</a:t>
            </a:r>
            <a:endParaRPr lang="en-US" sz="1800" dirty="0">
              <a:solidFill>
                <a:schemeClr val="accent2"/>
              </a:solidFill>
            </a:endParaRPr>
          </a:p>
        </p:txBody>
      </p:sp>
    </p:spTree>
    <p:extLst>
      <p:ext uri="{BB962C8B-B14F-4D97-AF65-F5344CB8AC3E}">
        <p14:creationId xmlns:p14="http://schemas.microsoft.com/office/powerpoint/2010/main" val="24937334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3F74-A928-C0C9-AE91-8E53B59B91DC}"/>
              </a:ext>
            </a:extLst>
          </p:cNvPr>
          <p:cNvSpPr>
            <a:spLocks noGrp="1"/>
          </p:cNvSpPr>
          <p:nvPr>
            <p:ph type="title"/>
          </p:nvPr>
        </p:nvSpPr>
        <p:spPr>
          <a:xfrm>
            <a:off x="806244" y="894476"/>
            <a:ext cx="6715433" cy="668854"/>
          </a:xfrm>
        </p:spPr>
        <p:txBody>
          <a:bodyPr/>
          <a:lstStyle/>
          <a:p>
            <a:r>
              <a:rPr lang="en-US" sz="2800" dirty="0">
                <a:latin typeface="Times New Roman" panose="02020603050405020304" pitchFamily="18" charset="0"/>
                <a:cs typeface="Times New Roman" panose="02020603050405020304" pitchFamily="18" charset="0"/>
              </a:rPr>
              <a:t>PROBLEM STATEMENT</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0882239-8B80-0869-705F-284767F37A7A}"/>
              </a:ext>
            </a:extLst>
          </p:cNvPr>
          <p:cNvSpPr txBox="1"/>
          <p:nvPr/>
        </p:nvSpPr>
        <p:spPr>
          <a:xfrm>
            <a:off x="806244" y="1779638"/>
            <a:ext cx="9163665" cy="3400931"/>
          </a:xfrm>
          <a:prstGeom prst="rect">
            <a:avLst/>
          </a:prstGeom>
          <a:noFill/>
        </p:spPr>
        <p:txBody>
          <a:bodyPr wrap="square" rtlCol="0">
            <a:spAutoFit/>
          </a:bodyPr>
          <a:lstStyle/>
          <a:p>
            <a:pPr marL="0" indent="0">
              <a:spcAft>
                <a:spcPts val="600"/>
              </a:spcAft>
              <a:buNone/>
            </a:pPr>
            <a:r>
              <a:rPr lang="en-US" sz="1800" dirty="0">
                <a:solidFill>
                  <a:schemeClr val="accent6"/>
                </a:solidFill>
                <a:cs typeface="Calibri" panose="020F0502020204030204" pitchFamily="34" charset="0"/>
              </a:rPr>
              <a:t>Banks generate large volumes of customer and transaction data daily. However, without proper analysis, it becomes difficult for stakeholders to identify:</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Loan default trends </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Customer segmentation </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Revenue performance </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Branch-wise efficiency </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Risky customers and loans </a:t>
            </a:r>
          </a:p>
          <a:p>
            <a:pPr marL="285750" indent="-285750">
              <a:spcAft>
                <a:spcPts val="600"/>
              </a:spcAft>
              <a:buFont typeface="Wingdings" panose="05000000000000000000" pitchFamily="2" charset="2"/>
              <a:buChar char="Ø"/>
            </a:pPr>
            <a:r>
              <a:rPr lang="en-US" sz="1800" dirty="0">
                <a:solidFill>
                  <a:schemeClr val="accent6"/>
                </a:solidFill>
                <a:cs typeface="Calibri" panose="020F0502020204030204" pitchFamily="34" charset="0"/>
              </a:rPr>
              <a:t>Overall business growth patterns </a:t>
            </a:r>
          </a:p>
          <a:p>
            <a:pPr marL="0" indent="0">
              <a:spcAft>
                <a:spcPts val="600"/>
              </a:spcAft>
              <a:buNone/>
            </a:pPr>
            <a:r>
              <a:rPr lang="en-US" sz="1800" dirty="0">
                <a:solidFill>
                  <a:schemeClr val="accent6"/>
                </a:solidFill>
                <a:cs typeface="Calibri" panose="020F0502020204030204" pitchFamily="34" charset="0"/>
              </a:rPr>
              <a:t>This project aims to transform raw banking data into meaningful insights through analytics and dashboards.</a:t>
            </a:r>
          </a:p>
        </p:txBody>
      </p:sp>
    </p:spTree>
    <p:extLst>
      <p:ext uri="{BB962C8B-B14F-4D97-AF65-F5344CB8AC3E}">
        <p14:creationId xmlns:p14="http://schemas.microsoft.com/office/powerpoint/2010/main" val="42475952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393290" y="221454"/>
            <a:ext cx="6583680" cy="471489"/>
          </a:xfrm>
          <a:noFill/>
        </p:spPr>
        <p:txBody>
          <a:bodyPr/>
          <a:lstStyle/>
          <a:p>
            <a:pPr algn="ctr"/>
            <a:r>
              <a:rPr lang="en-US" sz="2400" dirty="0">
                <a:latin typeface="Times New Roman" panose="02020603050405020304" pitchFamily="18" charset="0"/>
                <a:cs typeface="Times New Roman" panose="02020603050405020304" pitchFamily="18" charset="0"/>
              </a:rPr>
              <a:t>CONTEXT</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491613" y="966257"/>
            <a:ext cx="6583680" cy="944819"/>
          </a:xfrm>
        </p:spPr>
        <p:txBody>
          <a:bodyPr>
            <a:normAutofit/>
          </a:bodyPr>
          <a:lstStyle/>
          <a:p>
            <a:pPr marL="342900" indent="-342900">
              <a:buFont typeface="Wingdings" panose="05000000000000000000" pitchFamily="2" charset="2"/>
              <a:buChar char="Ø"/>
            </a:pPr>
            <a:r>
              <a:rPr lang="en-US" sz="1800" dirty="0">
                <a:solidFill>
                  <a:schemeClr val="accent2"/>
                </a:solidFill>
              </a:rPr>
              <a:t>Bank Loan Dashboard</a:t>
            </a:r>
          </a:p>
          <a:p>
            <a:pPr marL="342900" indent="-342900">
              <a:buFont typeface="Wingdings" panose="05000000000000000000" pitchFamily="2" charset="2"/>
              <a:buChar char="Ø"/>
            </a:pPr>
            <a:r>
              <a:rPr lang="en-US" sz="1800" dirty="0">
                <a:solidFill>
                  <a:schemeClr val="accent4">
                    <a:lumMod val="50000"/>
                  </a:schemeClr>
                </a:solidFill>
              </a:rPr>
              <a:t>Bank Debit And Credit Dashboard</a:t>
            </a:r>
            <a:endParaRPr lang="en-US" sz="1800" b="1" dirty="0">
              <a:solidFill>
                <a:schemeClr val="accent4">
                  <a:lumMod val="50000"/>
                </a:schemeClr>
              </a:solidFill>
            </a:endParaRPr>
          </a:p>
        </p:txBody>
      </p:sp>
      <p:graphicFrame>
        <p:nvGraphicFramePr>
          <p:cNvPr id="6" name="Diagram 5">
            <a:extLst>
              <a:ext uri="{FF2B5EF4-FFF2-40B4-BE49-F238E27FC236}">
                <a16:creationId xmlns:a16="http://schemas.microsoft.com/office/drawing/2014/main" id="{2ECB975C-756E-09B5-E079-AC6381A96EE2}"/>
              </a:ext>
            </a:extLst>
          </p:cNvPr>
          <p:cNvGraphicFramePr/>
          <p:nvPr>
            <p:extLst>
              <p:ext uri="{D42A27DB-BD31-4B8C-83A1-F6EECF244321}">
                <p14:modId xmlns:p14="http://schemas.microsoft.com/office/powerpoint/2010/main" val="1196067672"/>
              </p:ext>
            </p:extLst>
          </p:nvPr>
        </p:nvGraphicFramePr>
        <p:xfrm>
          <a:off x="491613" y="2022849"/>
          <a:ext cx="6390968" cy="4316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32197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CD3406C-F7C8-41D5-D4CC-840E71555F3E}"/>
              </a:ext>
            </a:extLst>
          </p:cNvPr>
          <p:cNvSpPr txBox="1"/>
          <p:nvPr/>
        </p:nvSpPr>
        <p:spPr>
          <a:xfrm>
            <a:off x="629264" y="405269"/>
            <a:ext cx="5919020"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TOOLS USED</a:t>
            </a:r>
            <a:endParaRPr lang="en-IN" sz="2400" b="1" dirty="0">
              <a:solidFill>
                <a:schemeClr val="accent6"/>
              </a:solidFill>
              <a:latin typeface="Times New Roman" panose="02020603050405020304" pitchFamily="18" charset="0"/>
              <a:cs typeface="Times New Roman" panose="02020603050405020304" pitchFamily="18" charset="0"/>
            </a:endParaRPr>
          </a:p>
        </p:txBody>
      </p:sp>
      <p:graphicFrame>
        <p:nvGraphicFramePr>
          <p:cNvPr id="11" name="Diagram 10">
            <a:extLst>
              <a:ext uri="{FF2B5EF4-FFF2-40B4-BE49-F238E27FC236}">
                <a16:creationId xmlns:a16="http://schemas.microsoft.com/office/drawing/2014/main" id="{B27BE81C-F4FF-BAA9-83F0-6E0B521A2408}"/>
              </a:ext>
            </a:extLst>
          </p:cNvPr>
          <p:cNvGraphicFramePr/>
          <p:nvPr>
            <p:extLst>
              <p:ext uri="{D42A27DB-BD31-4B8C-83A1-F6EECF244321}">
                <p14:modId xmlns:p14="http://schemas.microsoft.com/office/powerpoint/2010/main" val="590334836"/>
              </p:ext>
            </p:extLst>
          </p:nvPr>
        </p:nvGraphicFramePr>
        <p:xfrm>
          <a:off x="629264" y="774134"/>
          <a:ext cx="9241277" cy="49807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3655251C-2400-9E87-3024-C7C8B8F2A5F6}"/>
              </a:ext>
            </a:extLst>
          </p:cNvPr>
          <p:cNvSpPr txBox="1"/>
          <p:nvPr/>
        </p:nvSpPr>
        <p:spPr>
          <a:xfrm>
            <a:off x="3056786" y="1396181"/>
            <a:ext cx="6813755" cy="338554"/>
          </a:xfrm>
          <a:prstGeom prst="rect">
            <a:avLst/>
          </a:prstGeom>
          <a:noFill/>
        </p:spPr>
        <p:txBody>
          <a:bodyPr wrap="square" rtlCol="0">
            <a:spAutoFit/>
          </a:bodyPr>
          <a:lstStyle/>
          <a:p>
            <a:r>
              <a:rPr lang="en-US" sz="1600" dirty="0">
                <a:solidFill>
                  <a:schemeClr val="accent2">
                    <a:lumMod val="75000"/>
                  </a:schemeClr>
                </a:solidFill>
              </a:rPr>
              <a:t>- Data Preparation, Pivot Tables, Power Query, Data Model &amp; KPI Dashboard</a:t>
            </a:r>
            <a:endParaRPr lang="en-IN" sz="1600" dirty="0">
              <a:solidFill>
                <a:schemeClr val="accent2">
                  <a:lumMod val="75000"/>
                </a:schemeClr>
              </a:solidFill>
            </a:endParaRPr>
          </a:p>
        </p:txBody>
      </p:sp>
      <p:sp>
        <p:nvSpPr>
          <p:cNvPr id="13" name="TextBox 12">
            <a:extLst>
              <a:ext uri="{FF2B5EF4-FFF2-40B4-BE49-F238E27FC236}">
                <a16:creationId xmlns:a16="http://schemas.microsoft.com/office/drawing/2014/main" id="{15D76173-8043-961B-4092-ED6A7D3A17F0}"/>
              </a:ext>
            </a:extLst>
          </p:cNvPr>
          <p:cNvSpPr txBox="1"/>
          <p:nvPr/>
        </p:nvSpPr>
        <p:spPr>
          <a:xfrm>
            <a:off x="3056786" y="3977149"/>
            <a:ext cx="6813755" cy="338554"/>
          </a:xfrm>
          <a:prstGeom prst="rect">
            <a:avLst/>
          </a:prstGeom>
          <a:noFill/>
        </p:spPr>
        <p:txBody>
          <a:bodyPr wrap="square" rtlCol="0">
            <a:spAutoFit/>
          </a:bodyPr>
          <a:lstStyle/>
          <a:p>
            <a:r>
              <a:rPr lang="en-US" sz="1600" dirty="0">
                <a:solidFill>
                  <a:schemeClr val="accent2">
                    <a:lumMod val="75000"/>
                  </a:schemeClr>
                </a:solidFill>
              </a:rPr>
              <a:t>- Multi page Dashboard with page navigators, interactive visuals with filters</a:t>
            </a:r>
            <a:endParaRPr lang="en-IN" sz="1600" dirty="0">
              <a:solidFill>
                <a:schemeClr val="accent2">
                  <a:lumMod val="75000"/>
                </a:schemeClr>
              </a:solidFill>
            </a:endParaRPr>
          </a:p>
        </p:txBody>
      </p:sp>
      <p:sp>
        <p:nvSpPr>
          <p:cNvPr id="15" name="TextBox 14">
            <a:extLst>
              <a:ext uri="{FF2B5EF4-FFF2-40B4-BE49-F238E27FC236}">
                <a16:creationId xmlns:a16="http://schemas.microsoft.com/office/drawing/2014/main" id="{499F7018-1BD4-D293-5F6C-0F4371CB3FD7}"/>
              </a:ext>
            </a:extLst>
          </p:cNvPr>
          <p:cNvSpPr txBox="1"/>
          <p:nvPr/>
        </p:nvSpPr>
        <p:spPr>
          <a:xfrm>
            <a:off x="3141406" y="5181601"/>
            <a:ext cx="6813755" cy="338554"/>
          </a:xfrm>
          <a:prstGeom prst="rect">
            <a:avLst/>
          </a:prstGeom>
          <a:noFill/>
        </p:spPr>
        <p:txBody>
          <a:bodyPr wrap="square" rtlCol="0">
            <a:spAutoFit/>
          </a:bodyPr>
          <a:lstStyle/>
          <a:p>
            <a:r>
              <a:rPr lang="en-US" sz="1600" dirty="0">
                <a:solidFill>
                  <a:schemeClr val="accent4">
                    <a:lumMod val="50000"/>
                  </a:schemeClr>
                </a:solidFill>
              </a:rPr>
              <a:t>- Interactive Dashboard with KPI cards &amp; dynamic visuals</a:t>
            </a:r>
            <a:endParaRPr lang="en-IN" sz="1600" dirty="0">
              <a:solidFill>
                <a:schemeClr val="accent4">
                  <a:lumMod val="50000"/>
                </a:schemeClr>
              </a:solidFill>
            </a:endParaRPr>
          </a:p>
        </p:txBody>
      </p:sp>
      <p:sp>
        <p:nvSpPr>
          <p:cNvPr id="16" name="TextBox 15">
            <a:extLst>
              <a:ext uri="{FF2B5EF4-FFF2-40B4-BE49-F238E27FC236}">
                <a16:creationId xmlns:a16="http://schemas.microsoft.com/office/drawing/2014/main" id="{F96DDB06-4DD4-A35D-A2D6-E09BC6E94BE9}"/>
              </a:ext>
            </a:extLst>
          </p:cNvPr>
          <p:cNvSpPr txBox="1"/>
          <p:nvPr/>
        </p:nvSpPr>
        <p:spPr>
          <a:xfrm>
            <a:off x="3056786" y="2659626"/>
            <a:ext cx="6813755" cy="338554"/>
          </a:xfrm>
          <a:prstGeom prst="rect">
            <a:avLst/>
          </a:prstGeom>
          <a:noFill/>
        </p:spPr>
        <p:txBody>
          <a:bodyPr wrap="square" rtlCol="0">
            <a:spAutoFit/>
          </a:bodyPr>
          <a:lstStyle/>
          <a:p>
            <a:r>
              <a:rPr lang="en-US" sz="1600" dirty="0">
                <a:solidFill>
                  <a:schemeClr val="accent4">
                    <a:lumMod val="50000"/>
                  </a:schemeClr>
                </a:solidFill>
              </a:rPr>
              <a:t>-</a:t>
            </a:r>
            <a:r>
              <a:rPr lang="en-US" sz="1600" dirty="0">
                <a:solidFill>
                  <a:schemeClr val="accent2">
                    <a:lumMod val="75000"/>
                  </a:schemeClr>
                </a:solidFill>
              </a:rPr>
              <a:t> </a:t>
            </a:r>
            <a:r>
              <a:rPr lang="en-US" sz="1600" dirty="0">
                <a:solidFill>
                  <a:schemeClr val="accent4">
                    <a:lumMod val="50000"/>
                  </a:schemeClr>
                </a:solidFill>
              </a:rPr>
              <a:t>MySQL Workbench : Database setup, KPI Queries using Clauses, Joins</a:t>
            </a:r>
            <a:endParaRPr lang="en-IN" sz="1600" dirty="0">
              <a:solidFill>
                <a:schemeClr val="accent4">
                  <a:lumMod val="50000"/>
                </a:schemeClr>
              </a:solidFill>
            </a:endParaRPr>
          </a:p>
        </p:txBody>
      </p:sp>
    </p:spTree>
    <p:extLst>
      <p:ext uri="{BB962C8B-B14F-4D97-AF65-F5344CB8AC3E}">
        <p14:creationId xmlns:p14="http://schemas.microsoft.com/office/powerpoint/2010/main" val="29064919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20000"/>
                <a:lumOff val="80000"/>
              </a:schemeClr>
            </a:gs>
            <a:gs pos="74000">
              <a:schemeClr val="accent2">
                <a:lumMod val="40000"/>
                <a:lumOff val="60000"/>
              </a:schemeClr>
            </a:gs>
            <a:gs pos="83000">
              <a:schemeClr val="accent2"/>
            </a:gs>
            <a:gs pos="100000">
              <a:schemeClr val="accent2">
                <a:lumMod val="7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CE94-7ECA-D922-1B2A-42899E4181AE}"/>
              </a:ext>
            </a:extLst>
          </p:cNvPr>
          <p:cNvSpPr>
            <a:spLocks noGrp="1"/>
          </p:cNvSpPr>
          <p:nvPr>
            <p:ph type="title"/>
          </p:nvPr>
        </p:nvSpPr>
        <p:spPr>
          <a:xfrm>
            <a:off x="532809" y="238257"/>
            <a:ext cx="11167578" cy="603541"/>
          </a:xfrm>
          <a:noFill/>
        </p:spPr>
        <p:txBody>
          <a:bodyPr/>
          <a:lstStyle/>
          <a:p>
            <a:r>
              <a:rPr lang="en-US" sz="2800" dirty="0">
                <a:latin typeface="Times New Roman" panose="02020603050405020304" pitchFamily="18" charset="0"/>
                <a:cs typeface="Times New Roman" panose="02020603050405020304" pitchFamily="18" charset="0"/>
              </a:rPr>
              <a:t>BANK LOAN ANALYTICS</a:t>
            </a:r>
            <a:endParaRPr lang="en-IN" sz="2800" dirty="0"/>
          </a:p>
        </p:txBody>
      </p:sp>
      <p:sp>
        <p:nvSpPr>
          <p:cNvPr id="4" name="TextBox 3">
            <a:extLst>
              <a:ext uri="{FF2B5EF4-FFF2-40B4-BE49-F238E27FC236}">
                <a16:creationId xmlns:a16="http://schemas.microsoft.com/office/drawing/2014/main" id="{C87C6569-78E9-25A6-EE41-37DF34A55A3C}"/>
              </a:ext>
            </a:extLst>
          </p:cNvPr>
          <p:cNvSpPr txBox="1"/>
          <p:nvPr/>
        </p:nvSpPr>
        <p:spPr>
          <a:xfrm>
            <a:off x="1150375" y="1311302"/>
            <a:ext cx="10225548" cy="4862870"/>
          </a:xfrm>
          <a:prstGeom prst="rect">
            <a:avLst/>
          </a:prstGeom>
          <a:noFill/>
        </p:spPr>
        <p:txBody>
          <a:bodyPr wrap="square" rtlCol="0">
            <a:spAutoFit/>
          </a:bodyPr>
          <a:lstStyle/>
          <a:p>
            <a:r>
              <a:rPr lang="en-US" b="1" u="sng" dirty="0">
                <a:solidFill>
                  <a:schemeClr val="accent2">
                    <a:lumMod val="75000"/>
                  </a:schemeClr>
                </a:solidFill>
              </a:rPr>
              <a:t>PROJECT OVERVIEW : </a:t>
            </a:r>
          </a:p>
          <a:p>
            <a:pPr marL="0" marR="0" lvl="0" indent="0" algn="l" defTabSz="914400" rtl="0" eaLnBrk="0" fontAlgn="base" latinLnBrk="0" hangingPunct="0">
              <a:lnSpc>
                <a:spcPct val="100000"/>
              </a:lnSpc>
              <a:spcBef>
                <a:spcPct val="0"/>
              </a:spcBef>
              <a:spcAft>
                <a:spcPct val="0"/>
              </a:spcAft>
              <a:buClrTx/>
              <a:buSzTx/>
              <a:tabLst/>
            </a:pPr>
            <a:r>
              <a:rPr lang="en-US" altLang="en-US" dirty="0"/>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t>This project analyzes the bank's active lending habits to see how well it distributes money and where it might be taking on too much risk. By building an interactive dashboard based on 18 key metrics, the project allows management to track exactly how much capital is funded across different branches and states , while keeping a close eye on dangerous default and delinquency trends. It also helps audit internal safety compliance by exposing exactly how many loans were handed out to high-risk customers without proper document verification.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endParaRPr lang="en-US" altLang="en-US" sz="1600" dirty="0">
              <a:solidFill>
                <a:schemeClr val="accent2">
                  <a:lumMod val="75000"/>
                </a:schemeClr>
              </a:solidFill>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u="sng" strike="noStrike" cap="none" normalizeH="0" baseline="0" dirty="0">
                <a:ln>
                  <a:noFill/>
                </a:ln>
                <a:solidFill>
                  <a:schemeClr val="accent2">
                    <a:lumMod val="75000"/>
                  </a:schemeClr>
                </a:solidFill>
                <a:effectLst/>
              </a:rPr>
              <a:t>DATASET OVERVIEW : </a:t>
            </a:r>
          </a:p>
          <a:p>
            <a:pPr marR="0" lvl="0" algn="l" defTabSz="914400" rtl="0" eaLnBrk="0" fontAlgn="base" latinLnBrk="0" hangingPunct="0">
              <a:lnSpc>
                <a:spcPct val="100000"/>
              </a:lnSpc>
              <a:spcBef>
                <a:spcPct val="0"/>
              </a:spcBef>
              <a:spcAft>
                <a:spcPct val="0"/>
              </a:spcAft>
              <a:buClrTx/>
              <a:buSzTx/>
              <a:tabLst/>
            </a:pPr>
            <a:endParaRPr lang="en-US" altLang="en-US" sz="1600"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t>The dataset keeps track of the bank's loan history to help monitor lending capacity and credit risk. It uses </a:t>
            </a:r>
            <a:r>
              <a:rPr lang="en-US" sz="1600" b="1" dirty="0"/>
              <a:t>categories</a:t>
            </a:r>
            <a:r>
              <a:rPr lang="en-US" sz="1600" dirty="0"/>
              <a:t> like branch name, customer age group, loan status, and verification check marks as filters so you can slice and dice the data easily. Meanwhile, it uses </a:t>
            </a:r>
            <a:r>
              <a:rPr lang="en-US" sz="1600" b="1" dirty="0"/>
              <a:t>numbers</a:t>
            </a:r>
            <a:r>
              <a:rPr lang="en-US" sz="1600" dirty="0"/>
              <a:t> like loan amounts, interest profits, and late-payment counts to calculate the dashboard's 18 key metrics. In short, it takes a massive spreadsheet of raw loan files and turns it into a simple, visual guide for safer banking decisions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n-US" altLang="en-US" sz="1600"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endParaRPr>
          </a:p>
          <a:p>
            <a:endParaRPr lang="en-IN" dirty="0"/>
          </a:p>
        </p:txBody>
      </p:sp>
    </p:spTree>
    <p:extLst>
      <p:ext uri="{BB962C8B-B14F-4D97-AF65-F5344CB8AC3E}">
        <p14:creationId xmlns:p14="http://schemas.microsoft.com/office/powerpoint/2010/main" val="6720473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676551" y="103544"/>
            <a:ext cx="7043617" cy="486391"/>
          </a:xfrm>
          <a:noFill/>
        </p:spPr>
        <p:txBody>
          <a:bodyPr/>
          <a:lstStyle/>
          <a:p>
            <a:r>
              <a:rPr lang="en-US" sz="2400" dirty="0">
                <a:latin typeface="Times New Roman" panose="02020603050405020304" pitchFamily="18" charset="0"/>
                <a:cs typeface="Times New Roman" panose="02020603050405020304" pitchFamily="18" charset="0"/>
              </a:rPr>
              <a:t>KPI LIST</a:t>
            </a:r>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676550" y="839408"/>
            <a:ext cx="7043618" cy="2233233"/>
          </a:xfrm>
        </p:spPr>
        <p:txBody>
          <a:bodyPr/>
          <a:lstStyle/>
          <a:p>
            <a:r>
              <a:rPr lang="en-IN" sz="1800" b="1" u="sng" dirty="0">
                <a:solidFill>
                  <a:schemeClr val="accent2">
                    <a:lumMod val="75000"/>
                  </a:schemeClr>
                </a:solidFill>
              </a:rPr>
              <a:t>Core Performance Metrics :</a:t>
            </a:r>
          </a:p>
          <a:p>
            <a:endParaRPr lang="en-IN" sz="1800" dirty="0">
              <a:solidFill>
                <a:schemeClr val="accent2">
                  <a:lumMod val="75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r>
              <a:rPr lang="en-IN" sz="1800" b="1" u="sng" dirty="0">
                <a:solidFill>
                  <a:schemeClr val="accent2">
                    <a:lumMod val="75000"/>
                  </a:schemeClr>
                </a:solidFill>
              </a:rPr>
              <a:t>Categorical &amp; Branch Performance Metrics :</a:t>
            </a:r>
          </a:p>
          <a:p>
            <a:endParaRPr lang="en-IN" sz="1800" dirty="0">
              <a:solidFill>
                <a:schemeClr val="accent2">
                  <a:lumMod val="75000"/>
                </a:schemeClr>
              </a:solidFill>
            </a:endParaRPr>
          </a:p>
          <a:p>
            <a:endParaRPr lang="en-IN" sz="1800" dirty="0">
              <a:solidFill>
                <a:schemeClr val="accent2">
                  <a:lumMod val="75000"/>
                </a:schemeClr>
              </a:solidFill>
            </a:endParaRPr>
          </a:p>
          <a:p>
            <a:endParaRPr lang="en-US" dirty="0">
              <a:solidFill>
                <a:schemeClr val="tx1"/>
              </a:solidFill>
            </a:endParaRPr>
          </a:p>
        </p:txBody>
      </p:sp>
      <p:sp>
        <p:nvSpPr>
          <p:cNvPr id="6" name="Rectangle 2">
            <a:extLst>
              <a:ext uri="{FF2B5EF4-FFF2-40B4-BE49-F238E27FC236}">
                <a16:creationId xmlns:a16="http://schemas.microsoft.com/office/drawing/2014/main" id="{A61A52F6-A366-7E61-2C4B-4FBC7395DE4D}"/>
              </a:ext>
            </a:extLst>
          </p:cNvPr>
          <p:cNvSpPr>
            <a:spLocks noChangeArrowheads="1"/>
          </p:cNvSpPr>
          <p:nvPr/>
        </p:nvSpPr>
        <p:spPr bwMode="auto">
          <a:xfrm>
            <a:off x="3676551" y="1298780"/>
            <a:ext cx="8242256"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Loan Funded:</a:t>
            </a:r>
            <a:r>
              <a:rPr kumimoji="0" lang="en-US" altLang="en-US" sz="1600" b="0" i="0" u="none" strike="noStrike" cap="none" normalizeH="0" baseline="0" dirty="0">
                <a:ln>
                  <a:noFill/>
                </a:ln>
                <a:solidFill>
                  <a:schemeClr val="tx1"/>
                </a:solidFill>
                <a:effectLst/>
                <a:latin typeface="Google Sans Text"/>
              </a:rPr>
              <a:t> The total monetary value of all disbursed loans.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Loans Count:</a:t>
            </a:r>
            <a:r>
              <a:rPr kumimoji="0" lang="en-US" altLang="en-US" sz="1600" b="0" i="0" u="none" strike="noStrike" cap="none" normalizeH="0" baseline="0" dirty="0">
                <a:ln>
                  <a:noFill/>
                </a:ln>
                <a:solidFill>
                  <a:schemeClr val="tx1"/>
                </a:solidFill>
                <a:effectLst/>
                <a:latin typeface="Google Sans Text"/>
              </a:rPr>
              <a:t> The total number of loans issued, including active and closed loans.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Collection:</a:t>
            </a:r>
            <a:r>
              <a:rPr kumimoji="0" lang="en-US" altLang="en-US" sz="1600" b="0" i="0" u="none" strike="noStrike" cap="none" normalizeH="0" baseline="0" dirty="0">
                <a:ln>
                  <a:noFill/>
                </a:ln>
                <a:solidFill>
                  <a:schemeClr val="tx1"/>
                </a:solidFill>
                <a:effectLst/>
                <a:latin typeface="Google Sans Text"/>
              </a:rPr>
              <a:t> The total amount collected from borrowers, including principal and interest.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Interest:</a:t>
            </a:r>
            <a:r>
              <a:rPr kumimoji="0" lang="en-US" altLang="en-US" sz="1600" b="0" i="0" u="none" strike="noStrike" cap="none" normalizeH="0" baseline="0" dirty="0">
                <a:ln>
                  <a:noFill/>
                </a:ln>
                <a:solidFill>
                  <a:schemeClr val="tx1"/>
                </a:solidFill>
                <a:effectLst/>
                <a:latin typeface="Google Sans Text"/>
              </a:rPr>
              <a:t> The total revenue generated from interest on loans.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Disbursement Trend:</a:t>
            </a:r>
            <a:r>
              <a:rPr kumimoji="0" lang="en-US" altLang="en-US" sz="1600" b="0" i="0" u="none" strike="noStrike" cap="none" normalizeH="0" baseline="0" dirty="0">
                <a:ln>
                  <a:noFill/>
                </a:ln>
                <a:solidFill>
                  <a:schemeClr val="tx1"/>
                </a:solidFill>
                <a:effectLst/>
                <a:latin typeface="Google Sans Text"/>
              </a:rPr>
              <a:t> The historical trend of loan disbursements tracked over specific periods.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ABA9624C-43C1-B15C-8592-6CBD4711BF92}"/>
              </a:ext>
            </a:extLst>
          </p:cNvPr>
          <p:cNvSpPr>
            <a:spLocks noChangeArrowheads="1"/>
          </p:cNvSpPr>
          <p:nvPr/>
        </p:nvSpPr>
        <p:spPr bwMode="auto">
          <a:xfrm>
            <a:off x="3676551" y="3206014"/>
            <a:ext cx="8259096"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Branch Performance:</a:t>
            </a:r>
            <a:r>
              <a:rPr kumimoji="0" lang="en-US" altLang="en-US" sz="1600" b="0" i="0" u="none" strike="noStrike" cap="none" normalizeH="0" baseline="0" dirty="0">
                <a:ln>
                  <a:noFill/>
                </a:ln>
                <a:solidFill>
                  <a:schemeClr val="tx1"/>
                </a:solidFill>
                <a:effectLst/>
                <a:latin typeface="Google Sans Text"/>
              </a:rPr>
              <a:t> Revenue breakdown by branch, including interest income, fees, and combined revenue.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State-Wise Loan:</a:t>
            </a:r>
            <a:r>
              <a:rPr kumimoji="0" lang="en-US" altLang="en-US" sz="1600" b="0" i="0" u="none" strike="noStrike" cap="none" normalizeH="0" baseline="0" dirty="0">
                <a:ln>
                  <a:noFill/>
                </a:ln>
                <a:solidFill>
                  <a:schemeClr val="tx1"/>
                </a:solidFill>
                <a:effectLst/>
                <a:latin typeface="Google Sans Text"/>
              </a:rPr>
              <a:t> Distribution of loans across different states to analyze geographic trends.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Religion-Wise Loan:</a:t>
            </a:r>
            <a:r>
              <a:rPr kumimoji="0" lang="en-US" altLang="en-US" sz="1600" b="0" i="0" u="none" strike="noStrike" cap="none" normalizeH="0" baseline="0" dirty="0">
                <a:ln>
                  <a:noFill/>
                </a:ln>
                <a:solidFill>
                  <a:schemeClr val="tx1"/>
                </a:solidFill>
                <a:effectLst/>
                <a:latin typeface="Google Sans Text"/>
              </a:rPr>
              <a:t> Loan distribution categorized by clients’ religious demographics.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Product Group Loan:</a:t>
            </a:r>
            <a:r>
              <a:rPr kumimoji="0" lang="en-US" altLang="en-US" sz="1600" b="0" i="0" u="none" strike="noStrike" cap="none" normalizeH="0" baseline="0" dirty="0">
                <a:ln>
                  <a:noFill/>
                </a:ln>
                <a:solidFill>
                  <a:schemeClr val="tx1"/>
                </a:solidFill>
                <a:effectLst/>
                <a:latin typeface="Google Sans Text"/>
              </a:rPr>
              <a:t> Loan categorization by product types, such as personal, mortgage, or auto loans.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Grade-Wise Loan:</a:t>
            </a:r>
            <a:r>
              <a:rPr kumimoji="0" lang="en-US" altLang="en-US" sz="1600" b="0" i="0" u="none" strike="noStrike" cap="none" normalizeH="0" baseline="0" dirty="0">
                <a:ln>
                  <a:noFill/>
                </a:ln>
                <a:solidFill>
                  <a:schemeClr val="tx1"/>
                </a:solidFill>
                <a:effectLst/>
                <a:latin typeface="Google Sans Text"/>
              </a:rPr>
              <a:t> Classification of loans based on borrower credit grades to measure the risk profile.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Status-Wise Loan:</a:t>
            </a:r>
            <a:r>
              <a:rPr kumimoji="0" lang="en-US" altLang="en-US" sz="1600" b="0" i="0" u="none" strike="noStrike" cap="none" normalizeH="0" baseline="0" dirty="0">
                <a:ln>
                  <a:noFill/>
                </a:ln>
                <a:solidFill>
                  <a:schemeClr val="tx1"/>
                </a:solidFill>
                <a:effectLst/>
                <a:latin typeface="Google Sans Text"/>
              </a:rPr>
              <a:t> Distribution of loans based on their current status, such as active, closed, delinquent, or defaulted.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Age Group Loan:</a:t>
            </a:r>
            <a:r>
              <a:rPr kumimoji="0" lang="en-US" altLang="en-US" sz="1600" b="0" i="0" u="none" strike="noStrike" cap="none" normalizeH="0" baseline="0" dirty="0">
                <a:ln>
                  <a:noFill/>
                </a:ln>
                <a:solidFill>
                  <a:schemeClr val="tx1"/>
                </a:solidFill>
                <a:effectLst/>
                <a:latin typeface="Google Sans Text"/>
              </a:rPr>
              <a:t> Loan allocation segmented by borrowers’ age groups to analyze customer demographics.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Loan Maturity:</a:t>
            </a:r>
            <a:r>
              <a:rPr kumimoji="0" lang="en-US" altLang="en-US" sz="1600" b="0" i="0" u="none" strike="noStrike" cap="none" normalizeH="0" baseline="0" dirty="0">
                <a:ln>
                  <a:noFill/>
                </a:ln>
                <a:solidFill>
                  <a:schemeClr val="tx1"/>
                </a:solidFill>
                <a:effectLst/>
                <a:latin typeface="Google Sans Text"/>
              </a:rPr>
              <a:t> The duration until loans are fully repaid, assessing the structure and timeline of the portfolio.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7180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70646" y="294968"/>
            <a:ext cx="7796464" cy="521109"/>
          </a:xfrm>
          <a:noFill/>
        </p:spPr>
        <p:txBody>
          <a:bodyPr/>
          <a:lstStyle/>
          <a:p>
            <a:r>
              <a:rPr lang="en-US" sz="2400" dirty="0">
                <a:latin typeface="Times New Roman" panose="02020603050405020304" pitchFamily="18" charset="0"/>
                <a:cs typeface="Times New Roman" panose="02020603050405020304" pitchFamily="18" charset="0"/>
              </a:rPr>
              <a:t>KPI LIST</a:t>
            </a:r>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70646" y="1191982"/>
            <a:ext cx="7767484" cy="3720337"/>
          </a:xfrm>
        </p:spPr>
        <p:txBody>
          <a:bodyPr>
            <a:normAutofit/>
          </a:bodyPr>
          <a:lstStyle/>
          <a:p>
            <a:r>
              <a:rPr lang="en-IN" b="1" u="sng" dirty="0">
                <a:solidFill>
                  <a:schemeClr val="accent2">
                    <a:lumMod val="75000"/>
                  </a:schemeClr>
                </a:solidFill>
              </a:rPr>
              <a:t>Risk &amp; Compliance Metrics :</a:t>
            </a:r>
          </a:p>
          <a:p>
            <a:endParaRPr lang="en-US" dirty="0"/>
          </a:p>
        </p:txBody>
      </p:sp>
      <p:sp>
        <p:nvSpPr>
          <p:cNvPr id="6" name="Rectangle 1">
            <a:extLst>
              <a:ext uri="{FF2B5EF4-FFF2-40B4-BE49-F238E27FC236}">
                <a16:creationId xmlns:a16="http://schemas.microsoft.com/office/drawing/2014/main" id="{B9DE955B-E8EE-A37B-C810-9FEB3CCED94D}"/>
              </a:ext>
            </a:extLst>
          </p:cNvPr>
          <p:cNvSpPr>
            <a:spLocks noChangeArrowheads="1"/>
          </p:cNvSpPr>
          <p:nvPr/>
        </p:nvSpPr>
        <p:spPr bwMode="auto">
          <a:xfrm>
            <a:off x="270646" y="1661655"/>
            <a:ext cx="7359186"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Default Loan Count:</a:t>
            </a:r>
            <a:r>
              <a:rPr kumimoji="0" lang="en-US" altLang="en-US" sz="1600" b="0" i="0" u="none" strike="noStrike" cap="none" normalizeH="0" baseline="0" dirty="0">
                <a:ln>
                  <a:noFill/>
                </a:ln>
                <a:solidFill>
                  <a:schemeClr val="tx1"/>
                </a:solidFill>
                <a:effectLst/>
                <a:latin typeface="Google Sans Text"/>
              </a:rPr>
              <a:t> The total number of loans that have defaulted, highlighting credit risk. </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Delinquent Clients:</a:t>
            </a:r>
            <a:r>
              <a:rPr kumimoji="0" lang="en-US" altLang="en-US" sz="1600" b="0" i="0" u="none" strike="noStrike" cap="none" normalizeH="0" baseline="0" dirty="0">
                <a:ln>
                  <a:noFill/>
                </a:ln>
                <a:solidFill>
                  <a:schemeClr val="tx1"/>
                </a:solidFill>
                <a:effectLst/>
                <a:latin typeface="Google Sans Text"/>
              </a:rPr>
              <a:t> The number of clients who have missed payments or are overdue. </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Delinquent Loan Rate:</a:t>
            </a:r>
            <a:r>
              <a:rPr kumimoji="0" lang="en-US" altLang="en-US" sz="1600" b="0" i="0" u="none" strike="noStrike" cap="none" normalizeH="0" baseline="0" dirty="0">
                <a:ln>
                  <a:noFill/>
                </a:ln>
                <a:solidFill>
                  <a:schemeClr val="tx1"/>
                </a:solidFill>
                <a:effectLst/>
                <a:latin typeface="Google Sans Text"/>
              </a:rPr>
              <a:t> The percentage of loans in delinquency status compared to the total loan portfolio.</a:t>
            </a: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Default Loan Rate:</a:t>
            </a:r>
            <a:r>
              <a:rPr kumimoji="0" lang="en-US" altLang="en-US" sz="1600" b="0" i="0" u="none" strike="noStrike" cap="none" normalizeH="0" baseline="0" dirty="0">
                <a:ln>
                  <a:noFill/>
                </a:ln>
                <a:solidFill>
                  <a:schemeClr val="tx1"/>
                </a:solidFill>
                <a:effectLst/>
                <a:latin typeface="Google Sans Text"/>
              </a:rPr>
              <a:t> The percentage of defaulted loans relative to the total loan portfolio to evaluate long-term risk. </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No Verified Loans:</a:t>
            </a:r>
            <a:r>
              <a:rPr kumimoji="0" lang="en-US" altLang="en-US" sz="1600" b="0" i="0" u="none" strike="noStrike" cap="none" normalizeH="0" baseline="0" dirty="0">
                <a:ln>
                  <a:noFill/>
                </a:ln>
                <a:solidFill>
                  <a:schemeClr val="tx1"/>
                </a:solidFill>
                <a:effectLst/>
                <a:latin typeface="Google Sans Text"/>
              </a:rPr>
              <a:t> The number of loans issued without full verification or documentation, identifying compliance gaps.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85957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75707"/>
            <a:ext cx="10671048" cy="379525"/>
          </a:xfrm>
          <a:noFill/>
        </p:spPr>
        <p:txBody>
          <a:bodyPr/>
          <a:lstStyle/>
          <a:p>
            <a:r>
              <a:rPr lang="en-US" sz="2400" dirty="0">
                <a:latin typeface="Times New Roman" panose="02020603050405020304" pitchFamily="18" charset="0"/>
                <a:cs typeface="Times New Roman" panose="02020603050405020304" pitchFamily="18" charset="0"/>
              </a:rPr>
              <a:t>Excel DASHBOARD </a:t>
            </a:r>
            <a:endParaRPr lang="en-IN" sz="2400" dirty="0">
              <a:latin typeface="Times New Roman" panose="02020603050405020304" pitchFamily="18" charset="0"/>
              <a:cs typeface="Times New Roman" panose="02020603050405020304" pitchFamily="18" charset="0"/>
            </a:endParaRPr>
          </a:p>
        </p:txBody>
      </p:sp>
      <p:pic>
        <p:nvPicPr>
          <p:cNvPr id="47" name="Picture 46">
            <a:extLst>
              <a:ext uri="{FF2B5EF4-FFF2-40B4-BE49-F238E27FC236}">
                <a16:creationId xmlns:a16="http://schemas.microsoft.com/office/drawing/2014/main" id="{07B656EA-CA95-96EB-1318-AAFADBA7E94F}"/>
              </a:ext>
            </a:extLst>
          </p:cNvPr>
          <p:cNvPicPr>
            <a:picLocks noChangeAspect="1"/>
          </p:cNvPicPr>
          <p:nvPr/>
        </p:nvPicPr>
        <p:blipFill>
          <a:blip r:embed="rId2"/>
          <a:stretch>
            <a:fillRect/>
          </a:stretch>
        </p:blipFill>
        <p:spPr>
          <a:xfrm>
            <a:off x="817946" y="702025"/>
            <a:ext cx="10764454" cy="6062570"/>
          </a:xfrm>
          <a:prstGeom prst="rect">
            <a:avLst/>
          </a:prstGeom>
        </p:spPr>
      </p:pic>
    </p:spTree>
    <p:extLst>
      <p:ext uri="{BB962C8B-B14F-4D97-AF65-F5344CB8AC3E}">
        <p14:creationId xmlns:p14="http://schemas.microsoft.com/office/powerpoint/2010/main" val="42246532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396FAF-971E-1123-B0C2-D5892B69C0EB}"/>
              </a:ext>
            </a:extLst>
          </p:cNvPr>
          <p:cNvPicPr>
            <a:picLocks noChangeAspect="1"/>
          </p:cNvPicPr>
          <p:nvPr/>
        </p:nvPicPr>
        <p:blipFill>
          <a:blip r:embed="rId2"/>
          <a:stretch>
            <a:fillRect/>
          </a:stretch>
        </p:blipFill>
        <p:spPr>
          <a:xfrm>
            <a:off x="766916" y="235974"/>
            <a:ext cx="10874477" cy="6322142"/>
          </a:xfrm>
          <a:prstGeom prst="rect">
            <a:avLst/>
          </a:prstGeom>
        </p:spPr>
      </p:pic>
    </p:spTree>
    <p:extLst>
      <p:ext uri="{BB962C8B-B14F-4D97-AF65-F5344CB8AC3E}">
        <p14:creationId xmlns:p14="http://schemas.microsoft.com/office/powerpoint/2010/main" val="39994512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29497"/>
            <a:ext cx="10671048" cy="334296"/>
          </a:xfrm>
          <a:noFill/>
        </p:spPr>
        <p:txBody>
          <a:bodyPr/>
          <a:lstStyle/>
          <a:p>
            <a:r>
              <a:rPr lang="en-US" sz="2400" dirty="0">
                <a:latin typeface="Times New Roman" panose="02020603050405020304" pitchFamily="18" charset="0"/>
                <a:cs typeface="Times New Roman" panose="02020603050405020304" pitchFamily="18" charset="0"/>
              </a:rPr>
              <a:t>POWER BI DASHBOARD </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309F9F5-F3BD-B48E-2D96-496F56C8C667}"/>
              </a:ext>
            </a:extLst>
          </p:cNvPr>
          <p:cNvPicPr>
            <a:picLocks noChangeAspect="1"/>
          </p:cNvPicPr>
          <p:nvPr/>
        </p:nvPicPr>
        <p:blipFill>
          <a:blip r:embed="rId2"/>
          <a:stretch>
            <a:fillRect/>
          </a:stretch>
        </p:blipFill>
        <p:spPr>
          <a:xfrm>
            <a:off x="530942" y="619432"/>
            <a:ext cx="11228439" cy="6081252"/>
          </a:xfrm>
          <a:prstGeom prst="rect">
            <a:avLst/>
          </a:prstGeom>
        </p:spPr>
      </p:pic>
    </p:spTree>
    <p:extLst>
      <p:ext uri="{BB962C8B-B14F-4D97-AF65-F5344CB8AC3E}">
        <p14:creationId xmlns:p14="http://schemas.microsoft.com/office/powerpoint/2010/main" val="19515099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F65AE1-604D-699B-832F-DD9AE0200203}"/>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4" name="Picture 3">
            <a:extLst>
              <a:ext uri="{FF2B5EF4-FFF2-40B4-BE49-F238E27FC236}">
                <a16:creationId xmlns:a16="http://schemas.microsoft.com/office/drawing/2014/main" id="{F992A9C7-D782-2B1C-DE13-066512EBE6E2}"/>
              </a:ext>
            </a:extLst>
          </p:cNvPr>
          <p:cNvPicPr>
            <a:picLocks noChangeAspect="1"/>
          </p:cNvPicPr>
          <p:nvPr/>
        </p:nvPicPr>
        <p:blipFill>
          <a:blip r:embed="rId2"/>
          <a:stretch>
            <a:fillRect/>
          </a:stretch>
        </p:blipFill>
        <p:spPr>
          <a:xfrm>
            <a:off x="186812" y="147484"/>
            <a:ext cx="11798711" cy="6508955"/>
          </a:xfrm>
          <a:prstGeom prst="rect">
            <a:avLst/>
          </a:prstGeom>
        </p:spPr>
      </p:pic>
    </p:spTree>
    <p:extLst>
      <p:ext uri="{BB962C8B-B14F-4D97-AF65-F5344CB8AC3E}">
        <p14:creationId xmlns:p14="http://schemas.microsoft.com/office/powerpoint/2010/main" val="11623849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0"/>
            <a:ext cx="10671048" cy="475883"/>
          </a:xfrm>
          <a:noFill/>
        </p:spPr>
        <p:txBody>
          <a:bodyPr/>
          <a:lstStyle/>
          <a:p>
            <a:r>
              <a:rPr lang="en-US" sz="2200" dirty="0">
                <a:latin typeface="Times New Roman" panose="02020603050405020304" pitchFamily="18" charset="0"/>
                <a:cs typeface="Times New Roman" panose="02020603050405020304" pitchFamily="18" charset="0"/>
              </a:rPr>
              <a:t>SQL QUERIES AND RESULTS</a:t>
            </a:r>
            <a:endParaRPr lang="en-IN"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FDEA1AA-7498-F866-68C1-07F509C6D1BD}"/>
              </a:ext>
            </a:extLst>
          </p:cNvPr>
          <p:cNvSpPr txBox="1"/>
          <p:nvPr/>
        </p:nvSpPr>
        <p:spPr>
          <a:xfrm>
            <a:off x="589935" y="830826"/>
            <a:ext cx="5673213" cy="6001643"/>
          </a:xfrm>
          <a:prstGeom prst="rect">
            <a:avLst/>
          </a:prstGeom>
          <a:noFill/>
        </p:spPr>
        <p:txBody>
          <a:bodyPr wrap="square" rtlCol="0">
            <a:spAutoFit/>
          </a:bodyPr>
          <a:lstStyle/>
          <a:p>
            <a:pPr marL="285750" indent="-285750">
              <a:buFont typeface="Wingdings" panose="05000000000000000000" pitchFamily="2" charset="2"/>
              <a:buChar char="Ø"/>
            </a:pPr>
            <a:r>
              <a:rPr lang="en-US" sz="1600" b="1" u="sng" dirty="0" err="1">
                <a:solidFill>
                  <a:schemeClr val="accent2">
                    <a:lumMod val="75000"/>
                  </a:schemeClr>
                </a:solidFill>
                <a:latin typeface="Google Sans Text"/>
              </a:rPr>
              <a:t>Total_Funded_Loan_Amount</a:t>
            </a:r>
            <a:endParaRPr lang="en-US" sz="1600" b="1" u="sng" dirty="0">
              <a:solidFill>
                <a:schemeClr val="accent2">
                  <a:lumMod val="75000"/>
                </a:schemeClr>
              </a:solidFill>
              <a:latin typeface="Google Sans Text"/>
            </a:endParaRPr>
          </a:p>
          <a:p>
            <a:r>
              <a:rPr lang="en-US" sz="1600" dirty="0">
                <a:latin typeface="Google Sans Text"/>
              </a:rPr>
              <a:t>SELECT ROUND(SUM(Funded Amount)/1000000,2) </a:t>
            </a:r>
          </a:p>
          <a:p>
            <a:r>
              <a:rPr lang="en-US" sz="1600" dirty="0">
                <a:latin typeface="Google Sans Text"/>
              </a:rPr>
              <a:t>AS </a:t>
            </a:r>
            <a:r>
              <a:rPr lang="en-US" sz="1600" dirty="0" err="1">
                <a:latin typeface="Google Sans Text"/>
              </a:rPr>
              <a:t>Total_Funded_Loan_Amount</a:t>
            </a:r>
            <a:r>
              <a:rPr lang="en-US" sz="1600" dirty="0">
                <a:latin typeface="Google Sans Text"/>
              </a:rPr>
              <a:t> FROM </a:t>
            </a:r>
            <a:r>
              <a:rPr lang="en-US" sz="1600" dirty="0" err="1">
                <a:latin typeface="Google Sans Text"/>
              </a:rPr>
              <a:t>banking_data</a:t>
            </a:r>
            <a:r>
              <a:rPr lang="en-US" sz="1600" dirty="0">
                <a:latin typeface="Google Sans Text"/>
              </a:rPr>
              <a:t>;</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err="1">
                <a:solidFill>
                  <a:schemeClr val="accent2">
                    <a:lumMod val="75000"/>
                  </a:schemeClr>
                </a:solidFill>
                <a:latin typeface="Google Sans Text"/>
              </a:rPr>
              <a:t>Total_Loans</a:t>
            </a:r>
            <a:endParaRPr lang="en-US" sz="1600" b="1" u="sng" dirty="0">
              <a:solidFill>
                <a:schemeClr val="accent2">
                  <a:lumMod val="75000"/>
                </a:schemeClr>
              </a:solidFill>
              <a:latin typeface="Google Sans Text"/>
            </a:endParaRPr>
          </a:p>
          <a:p>
            <a:r>
              <a:rPr lang="en-US" sz="1600" dirty="0">
                <a:latin typeface="Google Sans Text"/>
              </a:rPr>
              <a:t>SELECT COUNT(Account ID)</a:t>
            </a:r>
          </a:p>
          <a:p>
            <a:r>
              <a:rPr lang="en-US" sz="1600" dirty="0">
                <a:latin typeface="Google Sans Text"/>
              </a:rPr>
              <a:t>AS </a:t>
            </a:r>
            <a:r>
              <a:rPr lang="en-US" sz="1600" dirty="0" err="1">
                <a:latin typeface="Google Sans Text"/>
              </a:rPr>
              <a:t>Total_Loans</a:t>
            </a:r>
            <a:r>
              <a:rPr lang="en-US" sz="1600" dirty="0">
                <a:latin typeface="Google Sans Text"/>
              </a:rPr>
              <a:t> FROM </a:t>
            </a:r>
            <a:r>
              <a:rPr lang="en-US" sz="1600" dirty="0" err="1">
                <a:latin typeface="Google Sans Text"/>
              </a:rPr>
              <a:t>banking_data</a:t>
            </a:r>
            <a:r>
              <a:rPr lang="en-US" sz="1600" dirty="0">
                <a:latin typeface="Google Sans Text"/>
              </a:rPr>
              <a:t>;</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err="1">
                <a:solidFill>
                  <a:schemeClr val="accent2">
                    <a:lumMod val="75000"/>
                  </a:schemeClr>
                </a:solidFill>
                <a:latin typeface="Google Sans Text"/>
              </a:rPr>
              <a:t>Total_Collection</a:t>
            </a:r>
            <a:endParaRPr lang="en-US" sz="1600" b="1" u="sng" dirty="0">
              <a:solidFill>
                <a:schemeClr val="accent2">
                  <a:lumMod val="75000"/>
                </a:schemeClr>
              </a:solidFill>
              <a:latin typeface="Google Sans Text"/>
            </a:endParaRPr>
          </a:p>
          <a:p>
            <a:r>
              <a:rPr lang="en-US" sz="1600" dirty="0">
                <a:latin typeface="Google Sans Text"/>
              </a:rPr>
              <a:t>SELECT ROUND(SUM(Total Collection)/1000000,2)</a:t>
            </a:r>
          </a:p>
          <a:p>
            <a:r>
              <a:rPr lang="en-US" sz="1600" dirty="0">
                <a:latin typeface="Google Sans Text"/>
              </a:rPr>
              <a:t>AS </a:t>
            </a:r>
            <a:r>
              <a:rPr lang="en-US" sz="1600" dirty="0" err="1">
                <a:latin typeface="Google Sans Text"/>
              </a:rPr>
              <a:t>Total_Collection</a:t>
            </a:r>
            <a:r>
              <a:rPr lang="en-US" sz="1600" dirty="0">
                <a:latin typeface="Google Sans Text"/>
              </a:rPr>
              <a:t> FROM </a:t>
            </a:r>
            <a:r>
              <a:rPr lang="en-US" sz="1600" dirty="0" err="1">
                <a:latin typeface="Google Sans Text"/>
              </a:rPr>
              <a:t>banking_data</a:t>
            </a:r>
            <a:r>
              <a:rPr lang="en-US" sz="1600" dirty="0">
                <a:latin typeface="Google Sans Text"/>
              </a:rPr>
              <a:t>;</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err="1">
                <a:solidFill>
                  <a:schemeClr val="accent2">
                    <a:lumMod val="75000"/>
                  </a:schemeClr>
                </a:solidFill>
                <a:latin typeface="Google Sans Text"/>
              </a:rPr>
              <a:t>Total_Interest</a:t>
            </a:r>
            <a:endParaRPr lang="en-US" sz="1600" b="1" u="sng" dirty="0">
              <a:solidFill>
                <a:schemeClr val="accent2">
                  <a:lumMod val="75000"/>
                </a:schemeClr>
              </a:solidFill>
              <a:latin typeface="Google Sans Text"/>
            </a:endParaRPr>
          </a:p>
          <a:p>
            <a:r>
              <a:rPr lang="en-US" sz="1600" dirty="0">
                <a:latin typeface="Google Sans Text"/>
              </a:rPr>
              <a:t>SELECT ROUND(SUM(Total </a:t>
            </a:r>
            <a:r>
              <a:rPr lang="en-US" sz="1600" dirty="0" err="1">
                <a:latin typeface="Google Sans Text"/>
              </a:rPr>
              <a:t>Rrec</a:t>
            </a:r>
            <a:r>
              <a:rPr lang="en-US" sz="1600" dirty="0">
                <a:latin typeface="Google Sans Text"/>
              </a:rPr>
              <a:t> int)/1000000,2) </a:t>
            </a:r>
          </a:p>
          <a:p>
            <a:r>
              <a:rPr lang="en-US" sz="1600" dirty="0">
                <a:latin typeface="Google Sans Text"/>
              </a:rPr>
              <a:t>AS </a:t>
            </a:r>
            <a:r>
              <a:rPr lang="en-US" sz="1600" dirty="0" err="1">
                <a:latin typeface="Google Sans Text"/>
              </a:rPr>
              <a:t>Total_Interest</a:t>
            </a:r>
            <a:r>
              <a:rPr lang="en-US" sz="1600" dirty="0">
                <a:latin typeface="Google Sans Text"/>
              </a:rPr>
              <a:t> FROM </a:t>
            </a:r>
            <a:r>
              <a:rPr lang="en-US" sz="1600" dirty="0" err="1">
                <a:latin typeface="Google Sans Text"/>
              </a:rPr>
              <a:t>banking_data</a:t>
            </a:r>
            <a:r>
              <a:rPr lang="en-US" sz="1600" dirty="0">
                <a:latin typeface="Google Sans Text"/>
              </a:rPr>
              <a:t>;</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err="1">
                <a:solidFill>
                  <a:schemeClr val="accent2">
                    <a:lumMod val="75000"/>
                  </a:schemeClr>
                </a:solidFill>
                <a:latin typeface="Google Sans Text"/>
              </a:rPr>
              <a:t>Default_Loan_Count</a:t>
            </a:r>
            <a:endParaRPr lang="en-US" sz="1600" b="1" u="sng" dirty="0">
              <a:solidFill>
                <a:schemeClr val="accent2">
                  <a:lumMod val="75000"/>
                </a:schemeClr>
              </a:solidFill>
              <a:latin typeface="Google Sans Text"/>
            </a:endParaRPr>
          </a:p>
          <a:p>
            <a:r>
              <a:rPr lang="en-US" sz="1600" dirty="0">
                <a:latin typeface="Google Sans Text"/>
              </a:rPr>
              <a:t>SELECT COUNT(Account ID) </a:t>
            </a:r>
          </a:p>
          <a:p>
            <a:r>
              <a:rPr lang="en-US" sz="1600" dirty="0">
                <a:latin typeface="Google Sans Text"/>
              </a:rPr>
              <a:t>AS </a:t>
            </a:r>
            <a:r>
              <a:rPr lang="en-US" sz="1600" dirty="0" err="1">
                <a:latin typeface="Google Sans Text"/>
              </a:rPr>
              <a:t>Default_Loan_Count</a:t>
            </a:r>
            <a:r>
              <a:rPr lang="en-US" sz="1600" dirty="0">
                <a:latin typeface="Google Sans Text"/>
              </a:rPr>
              <a:t> FROM </a:t>
            </a:r>
            <a:r>
              <a:rPr lang="en-US" sz="1600" dirty="0" err="1">
                <a:latin typeface="Google Sans Text"/>
              </a:rPr>
              <a:t>banking_data</a:t>
            </a:r>
            <a:endParaRPr lang="en-US" sz="1600" dirty="0">
              <a:latin typeface="Google Sans Text"/>
            </a:endParaRPr>
          </a:p>
          <a:p>
            <a:r>
              <a:rPr lang="en-US" sz="1600" dirty="0">
                <a:latin typeface="Google Sans Text"/>
              </a:rPr>
              <a:t>WHERE Is Default Loan='Y';</a:t>
            </a:r>
            <a:endParaRPr lang="en-IN" sz="1600" dirty="0">
              <a:latin typeface="Google Sans Text"/>
            </a:endParaRPr>
          </a:p>
        </p:txBody>
      </p:sp>
      <p:graphicFrame>
        <p:nvGraphicFramePr>
          <p:cNvPr id="10" name="Table 9">
            <a:extLst>
              <a:ext uri="{FF2B5EF4-FFF2-40B4-BE49-F238E27FC236}">
                <a16:creationId xmlns:a16="http://schemas.microsoft.com/office/drawing/2014/main" id="{A80FB50A-B413-F968-37FB-78AE6711B8B1}"/>
              </a:ext>
            </a:extLst>
          </p:cNvPr>
          <p:cNvGraphicFramePr>
            <a:graphicFrameLocks noGrp="1"/>
          </p:cNvGraphicFramePr>
          <p:nvPr>
            <p:extLst>
              <p:ext uri="{D42A27DB-BD31-4B8C-83A1-F6EECF244321}">
                <p14:modId xmlns:p14="http://schemas.microsoft.com/office/powerpoint/2010/main" val="188520090"/>
              </p:ext>
            </p:extLst>
          </p:nvPr>
        </p:nvGraphicFramePr>
        <p:xfrm>
          <a:off x="7561007" y="948814"/>
          <a:ext cx="3362631" cy="670560"/>
        </p:xfrm>
        <a:graphic>
          <a:graphicData uri="http://schemas.openxmlformats.org/drawingml/2006/table">
            <a:tbl>
              <a:tblPr firstRow="1">
                <a:tableStyleId>{69C7853C-536D-4A76-A0AE-DD22124D55A5}</a:tableStyleId>
              </a:tblPr>
              <a:tblGrid>
                <a:gridCol w="3362631">
                  <a:extLst>
                    <a:ext uri="{9D8B030D-6E8A-4147-A177-3AD203B41FA5}">
                      <a16:colId xmlns:a16="http://schemas.microsoft.com/office/drawing/2014/main" val="3237834468"/>
                    </a:ext>
                  </a:extLst>
                </a:gridCol>
              </a:tblGrid>
              <a:tr h="321515">
                <a:tc>
                  <a:txBody>
                    <a:bodyPr/>
                    <a:lstStyle/>
                    <a:p>
                      <a:pPr rtl="0"/>
                      <a:r>
                        <a:rPr lang="en-IN" sz="1400" b="1" dirty="0" err="1">
                          <a:solidFill>
                            <a:srgbClr val="1F1F1F"/>
                          </a:solidFill>
                          <a:effectLst/>
                        </a:rPr>
                        <a:t>Total_Funded_Loan_Amount</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533782046"/>
                  </a:ext>
                </a:extLst>
              </a:tr>
              <a:tr h="321515">
                <a:tc>
                  <a:txBody>
                    <a:bodyPr/>
                    <a:lstStyle/>
                    <a:p>
                      <a:pPr rtl="0"/>
                      <a:r>
                        <a:rPr lang="en-IN" sz="1400" dirty="0">
                          <a:solidFill>
                            <a:srgbClr val="1F1F1F"/>
                          </a:solidFill>
                          <a:effectLst/>
                        </a:rPr>
                        <a:t>732.70</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610347802"/>
                  </a:ext>
                </a:extLst>
              </a:tr>
            </a:tbl>
          </a:graphicData>
        </a:graphic>
      </p:graphicFrame>
      <p:graphicFrame>
        <p:nvGraphicFramePr>
          <p:cNvPr id="11" name="Table 10">
            <a:extLst>
              <a:ext uri="{FF2B5EF4-FFF2-40B4-BE49-F238E27FC236}">
                <a16:creationId xmlns:a16="http://schemas.microsoft.com/office/drawing/2014/main" id="{01C54740-ACDF-A09B-5FAE-6422A745F86D}"/>
              </a:ext>
            </a:extLst>
          </p:cNvPr>
          <p:cNvGraphicFramePr>
            <a:graphicFrameLocks noGrp="1"/>
          </p:cNvGraphicFramePr>
          <p:nvPr>
            <p:extLst>
              <p:ext uri="{D42A27DB-BD31-4B8C-83A1-F6EECF244321}">
                <p14:modId xmlns:p14="http://schemas.microsoft.com/office/powerpoint/2010/main" val="136620569"/>
              </p:ext>
            </p:extLst>
          </p:nvPr>
        </p:nvGraphicFramePr>
        <p:xfrm>
          <a:off x="7561008" y="2116116"/>
          <a:ext cx="3362632" cy="670560"/>
        </p:xfrm>
        <a:graphic>
          <a:graphicData uri="http://schemas.openxmlformats.org/drawingml/2006/table">
            <a:tbl>
              <a:tblPr firstRow="1">
                <a:tableStyleId>{69C7853C-536D-4A76-A0AE-DD22124D55A5}</a:tableStyleId>
              </a:tblPr>
              <a:tblGrid>
                <a:gridCol w="3362632">
                  <a:extLst>
                    <a:ext uri="{9D8B030D-6E8A-4147-A177-3AD203B41FA5}">
                      <a16:colId xmlns:a16="http://schemas.microsoft.com/office/drawing/2014/main" val="3364648701"/>
                    </a:ext>
                  </a:extLst>
                </a:gridCol>
              </a:tblGrid>
              <a:tr h="0">
                <a:tc>
                  <a:txBody>
                    <a:bodyPr/>
                    <a:lstStyle/>
                    <a:p>
                      <a:r>
                        <a:rPr lang="en-IN" sz="1400" b="1" dirty="0" err="1">
                          <a:solidFill>
                            <a:schemeClr val="tx1"/>
                          </a:solidFill>
                          <a:effectLst/>
                        </a:rPr>
                        <a:t>Total_Loans</a:t>
                      </a:r>
                      <a:endParaRPr lang="en-IN" sz="1400" dirty="0">
                        <a:solidFill>
                          <a:schemeClr val="tx1"/>
                        </a:solidFill>
                        <a:effectLst/>
                        <a:latin typeface="Google Sans Text"/>
                      </a:endParaRPr>
                    </a:p>
                  </a:txBody>
                  <a:tcPr marT="60960" marB="60960" anchor="ctr"/>
                </a:tc>
                <a:extLst>
                  <a:ext uri="{0D108BD9-81ED-4DB2-BD59-A6C34878D82A}">
                    <a16:rowId xmlns:a16="http://schemas.microsoft.com/office/drawing/2014/main" val="1079418363"/>
                  </a:ext>
                </a:extLst>
              </a:tr>
              <a:tr h="0">
                <a:tc>
                  <a:txBody>
                    <a:bodyPr/>
                    <a:lstStyle/>
                    <a:p>
                      <a:r>
                        <a:rPr lang="en-IN" sz="1400" dirty="0">
                          <a:effectLst/>
                        </a:rPr>
                        <a:t>65535</a:t>
                      </a:r>
                      <a:endParaRPr lang="en-IN" sz="1400" dirty="0">
                        <a:effectLst/>
                        <a:latin typeface="Google Sans Text"/>
                      </a:endParaRPr>
                    </a:p>
                  </a:txBody>
                  <a:tcPr marT="60960" marB="60960" anchor="ctr"/>
                </a:tc>
                <a:extLst>
                  <a:ext uri="{0D108BD9-81ED-4DB2-BD59-A6C34878D82A}">
                    <a16:rowId xmlns:a16="http://schemas.microsoft.com/office/drawing/2014/main" val="540588680"/>
                  </a:ext>
                </a:extLst>
              </a:tr>
            </a:tbl>
          </a:graphicData>
        </a:graphic>
      </p:graphicFrame>
      <p:graphicFrame>
        <p:nvGraphicFramePr>
          <p:cNvPr id="12" name="Table 11">
            <a:extLst>
              <a:ext uri="{FF2B5EF4-FFF2-40B4-BE49-F238E27FC236}">
                <a16:creationId xmlns:a16="http://schemas.microsoft.com/office/drawing/2014/main" id="{995F267A-27C4-BAA2-AC57-57E84D7D976F}"/>
              </a:ext>
            </a:extLst>
          </p:cNvPr>
          <p:cNvGraphicFramePr>
            <a:graphicFrameLocks noGrp="1"/>
          </p:cNvGraphicFramePr>
          <p:nvPr>
            <p:extLst>
              <p:ext uri="{D42A27DB-BD31-4B8C-83A1-F6EECF244321}">
                <p14:modId xmlns:p14="http://schemas.microsoft.com/office/powerpoint/2010/main" val="2706436191"/>
              </p:ext>
            </p:extLst>
          </p:nvPr>
        </p:nvGraphicFramePr>
        <p:xfrm>
          <a:off x="7561006" y="3342093"/>
          <a:ext cx="3362632" cy="670560"/>
        </p:xfrm>
        <a:graphic>
          <a:graphicData uri="http://schemas.openxmlformats.org/drawingml/2006/table">
            <a:tbl>
              <a:tblPr firstRow="1">
                <a:tableStyleId>{69C7853C-536D-4A76-A0AE-DD22124D55A5}</a:tableStyleId>
              </a:tblPr>
              <a:tblGrid>
                <a:gridCol w="3362632">
                  <a:extLst>
                    <a:ext uri="{9D8B030D-6E8A-4147-A177-3AD203B41FA5}">
                      <a16:colId xmlns:a16="http://schemas.microsoft.com/office/drawing/2014/main" val="3107269471"/>
                    </a:ext>
                  </a:extLst>
                </a:gridCol>
              </a:tblGrid>
              <a:tr h="0">
                <a:tc>
                  <a:txBody>
                    <a:bodyPr/>
                    <a:lstStyle/>
                    <a:p>
                      <a:r>
                        <a:rPr lang="en-IN" sz="1400" b="1" dirty="0" err="1">
                          <a:solidFill>
                            <a:schemeClr val="tx1"/>
                          </a:solidFill>
                          <a:effectLst/>
                        </a:rPr>
                        <a:t>Total_Collection</a:t>
                      </a:r>
                      <a:endParaRPr lang="en-IN" sz="1400" dirty="0">
                        <a:solidFill>
                          <a:schemeClr val="tx1"/>
                        </a:solidFill>
                        <a:effectLst/>
                        <a:latin typeface="Google Sans Text"/>
                      </a:endParaRPr>
                    </a:p>
                  </a:txBody>
                  <a:tcPr marT="60960" marB="60960" anchor="ctr"/>
                </a:tc>
                <a:extLst>
                  <a:ext uri="{0D108BD9-81ED-4DB2-BD59-A6C34878D82A}">
                    <a16:rowId xmlns:a16="http://schemas.microsoft.com/office/drawing/2014/main" val="3515416688"/>
                  </a:ext>
                </a:extLst>
              </a:tr>
              <a:tr h="0">
                <a:tc>
                  <a:txBody>
                    <a:bodyPr/>
                    <a:lstStyle/>
                    <a:p>
                      <a:r>
                        <a:rPr lang="en-IN" sz="1400" dirty="0">
                          <a:effectLst/>
                        </a:rPr>
                        <a:t>816.90</a:t>
                      </a:r>
                      <a:endParaRPr lang="en-IN" sz="1400" dirty="0">
                        <a:effectLst/>
                        <a:latin typeface="Google Sans Text"/>
                      </a:endParaRPr>
                    </a:p>
                  </a:txBody>
                  <a:tcPr marT="60960" marB="60960" anchor="ctr"/>
                </a:tc>
                <a:extLst>
                  <a:ext uri="{0D108BD9-81ED-4DB2-BD59-A6C34878D82A}">
                    <a16:rowId xmlns:a16="http://schemas.microsoft.com/office/drawing/2014/main" val="1286376710"/>
                  </a:ext>
                </a:extLst>
              </a:tr>
            </a:tbl>
          </a:graphicData>
        </a:graphic>
      </p:graphicFrame>
      <p:graphicFrame>
        <p:nvGraphicFramePr>
          <p:cNvPr id="13" name="Table 12">
            <a:extLst>
              <a:ext uri="{FF2B5EF4-FFF2-40B4-BE49-F238E27FC236}">
                <a16:creationId xmlns:a16="http://schemas.microsoft.com/office/drawing/2014/main" id="{F3728CD4-3D18-95FF-9228-CE7DDC4609DF}"/>
              </a:ext>
            </a:extLst>
          </p:cNvPr>
          <p:cNvGraphicFramePr>
            <a:graphicFrameLocks noGrp="1"/>
          </p:cNvGraphicFramePr>
          <p:nvPr>
            <p:extLst>
              <p:ext uri="{D42A27DB-BD31-4B8C-83A1-F6EECF244321}">
                <p14:modId xmlns:p14="http://schemas.microsoft.com/office/powerpoint/2010/main" val="1550340"/>
              </p:ext>
            </p:extLst>
          </p:nvPr>
        </p:nvGraphicFramePr>
        <p:xfrm>
          <a:off x="7561008" y="4586195"/>
          <a:ext cx="3362630" cy="670560"/>
        </p:xfrm>
        <a:graphic>
          <a:graphicData uri="http://schemas.openxmlformats.org/drawingml/2006/table">
            <a:tbl>
              <a:tblPr firstRow="1">
                <a:tableStyleId>{69C7853C-536D-4A76-A0AE-DD22124D55A5}</a:tableStyleId>
              </a:tblPr>
              <a:tblGrid>
                <a:gridCol w="3362630">
                  <a:extLst>
                    <a:ext uri="{9D8B030D-6E8A-4147-A177-3AD203B41FA5}">
                      <a16:colId xmlns:a16="http://schemas.microsoft.com/office/drawing/2014/main" val="2549589592"/>
                    </a:ext>
                  </a:extLst>
                </a:gridCol>
              </a:tblGrid>
              <a:tr h="0">
                <a:tc>
                  <a:txBody>
                    <a:bodyPr/>
                    <a:lstStyle/>
                    <a:p>
                      <a:r>
                        <a:rPr lang="en-IN" sz="1400" b="1" dirty="0" err="1">
                          <a:solidFill>
                            <a:schemeClr val="tx1"/>
                          </a:solidFill>
                          <a:effectLst/>
                        </a:rPr>
                        <a:t>Total_Interest</a:t>
                      </a:r>
                      <a:endParaRPr lang="en-IN" sz="1400" dirty="0">
                        <a:solidFill>
                          <a:schemeClr val="tx1"/>
                        </a:solidFill>
                        <a:effectLst/>
                        <a:latin typeface="Google Sans Text"/>
                      </a:endParaRPr>
                    </a:p>
                  </a:txBody>
                  <a:tcPr marT="60960" marB="60960" anchor="ctr"/>
                </a:tc>
                <a:extLst>
                  <a:ext uri="{0D108BD9-81ED-4DB2-BD59-A6C34878D82A}">
                    <a16:rowId xmlns:a16="http://schemas.microsoft.com/office/drawing/2014/main" val="3415302820"/>
                  </a:ext>
                </a:extLst>
              </a:tr>
              <a:tr h="0">
                <a:tc>
                  <a:txBody>
                    <a:bodyPr/>
                    <a:lstStyle/>
                    <a:p>
                      <a:r>
                        <a:rPr lang="en-IN" sz="1400" dirty="0">
                          <a:effectLst/>
                        </a:rPr>
                        <a:t>155.30</a:t>
                      </a:r>
                      <a:endParaRPr lang="en-IN" sz="1400" dirty="0">
                        <a:effectLst/>
                        <a:latin typeface="Google Sans Text"/>
                      </a:endParaRPr>
                    </a:p>
                  </a:txBody>
                  <a:tcPr marT="60960" marB="60960" anchor="ctr"/>
                </a:tc>
                <a:extLst>
                  <a:ext uri="{0D108BD9-81ED-4DB2-BD59-A6C34878D82A}">
                    <a16:rowId xmlns:a16="http://schemas.microsoft.com/office/drawing/2014/main" val="3883404605"/>
                  </a:ext>
                </a:extLst>
              </a:tr>
            </a:tbl>
          </a:graphicData>
        </a:graphic>
      </p:graphicFrame>
      <p:graphicFrame>
        <p:nvGraphicFramePr>
          <p:cNvPr id="14" name="Table 13">
            <a:extLst>
              <a:ext uri="{FF2B5EF4-FFF2-40B4-BE49-F238E27FC236}">
                <a16:creationId xmlns:a16="http://schemas.microsoft.com/office/drawing/2014/main" id="{71F1DE4E-AD56-96CE-A4E0-D174B3642304}"/>
              </a:ext>
            </a:extLst>
          </p:cNvPr>
          <p:cNvGraphicFramePr>
            <a:graphicFrameLocks noGrp="1"/>
          </p:cNvGraphicFramePr>
          <p:nvPr>
            <p:extLst>
              <p:ext uri="{D42A27DB-BD31-4B8C-83A1-F6EECF244321}">
                <p14:modId xmlns:p14="http://schemas.microsoft.com/office/powerpoint/2010/main" val="1329369509"/>
              </p:ext>
            </p:extLst>
          </p:nvPr>
        </p:nvGraphicFramePr>
        <p:xfrm>
          <a:off x="7600334" y="5899463"/>
          <a:ext cx="3323304" cy="609600"/>
        </p:xfrm>
        <a:graphic>
          <a:graphicData uri="http://schemas.openxmlformats.org/drawingml/2006/table">
            <a:tbl>
              <a:tblPr firstRow="1">
                <a:tableStyleId>{69C7853C-536D-4A76-A0AE-DD22124D55A5}</a:tableStyleId>
              </a:tblPr>
              <a:tblGrid>
                <a:gridCol w="3323304">
                  <a:extLst>
                    <a:ext uri="{9D8B030D-6E8A-4147-A177-3AD203B41FA5}">
                      <a16:colId xmlns:a16="http://schemas.microsoft.com/office/drawing/2014/main" val="2297066597"/>
                    </a:ext>
                  </a:extLst>
                </a:gridCol>
              </a:tblGrid>
              <a:tr h="0">
                <a:tc>
                  <a:txBody>
                    <a:bodyPr/>
                    <a:lstStyle/>
                    <a:p>
                      <a:r>
                        <a:rPr lang="en-IN" sz="1400" b="1" dirty="0" err="1">
                          <a:solidFill>
                            <a:schemeClr val="tx1"/>
                          </a:solidFill>
                        </a:rPr>
                        <a:t>Default_Loan_Count</a:t>
                      </a:r>
                      <a:endParaRPr lang="en-IN" sz="1400" b="1" dirty="0">
                        <a:solidFill>
                          <a:schemeClr val="tx1"/>
                        </a:solidFill>
                      </a:endParaRPr>
                    </a:p>
                  </a:txBody>
                  <a:tcPr anchor="ctr"/>
                </a:tc>
                <a:extLst>
                  <a:ext uri="{0D108BD9-81ED-4DB2-BD59-A6C34878D82A}">
                    <a16:rowId xmlns:a16="http://schemas.microsoft.com/office/drawing/2014/main" val="2698922159"/>
                  </a:ext>
                </a:extLst>
              </a:tr>
              <a:tr h="0">
                <a:tc>
                  <a:txBody>
                    <a:bodyPr/>
                    <a:lstStyle/>
                    <a:p>
                      <a:r>
                        <a:rPr lang="en-IN" sz="1400" dirty="0"/>
                        <a:t>1020</a:t>
                      </a:r>
                    </a:p>
                  </a:txBody>
                  <a:tcPr anchor="ctr"/>
                </a:tc>
                <a:extLst>
                  <a:ext uri="{0D108BD9-81ED-4DB2-BD59-A6C34878D82A}">
                    <a16:rowId xmlns:a16="http://schemas.microsoft.com/office/drawing/2014/main" val="1934487565"/>
                  </a:ext>
                </a:extLst>
              </a:tr>
            </a:tbl>
          </a:graphicData>
        </a:graphic>
      </p:graphicFrame>
    </p:spTree>
    <p:extLst>
      <p:ext uri="{BB962C8B-B14F-4D97-AF65-F5344CB8AC3E}">
        <p14:creationId xmlns:p14="http://schemas.microsoft.com/office/powerpoint/2010/main" val="2532461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0FA26-680C-0B68-D303-C6ABF5C5CF07}"/>
              </a:ext>
            </a:extLst>
          </p:cNvPr>
          <p:cNvSpPr txBox="1"/>
          <p:nvPr/>
        </p:nvSpPr>
        <p:spPr>
          <a:xfrm>
            <a:off x="334297" y="186813"/>
            <a:ext cx="6037006" cy="6247864"/>
          </a:xfrm>
          <a:prstGeom prst="rect">
            <a:avLst/>
          </a:prstGeom>
          <a:noFill/>
        </p:spPr>
        <p:txBody>
          <a:bodyPr wrap="square" rtlCol="0">
            <a:spAutoFit/>
          </a:bodyPr>
          <a:lstStyle/>
          <a:p>
            <a:pPr marL="285750" indent="-285750">
              <a:buFont typeface="Wingdings" panose="05000000000000000000" pitchFamily="2" charset="2"/>
              <a:buChar char="Ø"/>
            </a:pPr>
            <a:r>
              <a:rPr lang="en-US" sz="1600" b="1" u="sng" dirty="0">
                <a:solidFill>
                  <a:schemeClr val="accent2">
                    <a:lumMod val="75000"/>
                  </a:schemeClr>
                </a:solidFill>
                <a:latin typeface="Google Sans Text"/>
              </a:rPr>
              <a:t>Branch-Wise Performance</a:t>
            </a:r>
          </a:p>
          <a:p>
            <a:r>
              <a:rPr lang="en-US" sz="1600" dirty="0">
                <a:latin typeface="Google Sans Text"/>
              </a:rPr>
              <a:t>SELECT `Branch Name`,</a:t>
            </a:r>
          </a:p>
          <a:p>
            <a:r>
              <a:rPr lang="en-US" sz="1600" dirty="0">
                <a:latin typeface="Google Sans Text"/>
              </a:rPr>
              <a:t>     ROUND(SUM(`Total Collection`)/1000000,2) AS </a:t>
            </a:r>
            <a:r>
              <a:rPr lang="en-US" sz="1600" dirty="0" err="1">
                <a:latin typeface="Google Sans Text"/>
              </a:rPr>
              <a:t>Collection_M</a:t>
            </a:r>
            <a:r>
              <a:rPr lang="en-US" sz="1600" dirty="0">
                <a:latin typeface="Google Sans Text"/>
              </a:rPr>
              <a:t>,      </a:t>
            </a:r>
          </a:p>
          <a:p>
            <a:r>
              <a:rPr lang="en-US" sz="1600" dirty="0">
                <a:latin typeface="Google Sans Text"/>
              </a:rPr>
              <a:t>     ROUND(SUM(`Total Fees`)/1000000,2) AS </a:t>
            </a:r>
            <a:r>
              <a:rPr lang="en-US" sz="1600" dirty="0" err="1">
                <a:latin typeface="Google Sans Text"/>
              </a:rPr>
              <a:t>Fees_M</a:t>
            </a:r>
            <a:r>
              <a:rPr lang="en-US" sz="1600" dirty="0">
                <a:latin typeface="Google Sans Text"/>
              </a:rPr>
              <a:t>,</a:t>
            </a:r>
          </a:p>
          <a:p>
            <a:r>
              <a:rPr lang="en-US" sz="1600" dirty="0">
                <a:latin typeface="Google Sans Text"/>
              </a:rPr>
              <a:t>     ROUND(SUM(`Total </a:t>
            </a:r>
            <a:r>
              <a:rPr lang="en-US" sz="1600" dirty="0" err="1">
                <a:latin typeface="Google Sans Text"/>
              </a:rPr>
              <a:t>Rrec</a:t>
            </a:r>
            <a:r>
              <a:rPr lang="en-US" sz="1600" dirty="0">
                <a:latin typeface="Google Sans Text"/>
              </a:rPr>
              <a:t> int`)/1000000,2) AS </a:t>
            </a:r>
            <a:r>
              <a:rPr lang="en-US" sz="1600" dirty="0" err="1">
                <a:latin typeface="Google Sans Text"/>
              </a:rPr>
              <a:t>Interest_M</a:t>
            </a:r>
            <a:endParaRPr lang="en-US" sz="1600" dirty="0">
              <a:latin typeface="Google Sans Text"/>
            </a:endParaRPr>
          </a:p>
          <a:p>
            <a:r>
              <a:rPr lang="en-US" sz="1600" dirty="0">
                <a:latin typeface="Google Sans Text"/>
              </a:rPr>
              <a:t>FROM </a:t>
            </a:r>
            <a:r>
              <a:rPr lang="en-US" sz="1600" dirty="0" err="1">
                <a:latin typeface="Google Sans Text"/>
              </a:rPr>
              <a:t>banking_data</a:t>
            </a:r>
            <a:endParaRPr lang="en-US" sz="1600" dirty="0">
              <a:latin typeface="Google Sans Text"/>
            </a:endParaRPr>
          </a:p>
          <a:p>
            <a:r>
              <a:rPr lang="en-US" sz="1600" dirty="0">
                <a:latin typeface="Google Sans Text"/>
              </a:rPr>
              <a:t>GROUP BY `Branch Name`</a:t>
            </a:r>
          </a:p>
          <a:p>
            <a:r>
              <a:rPr lang="en-US" sz="1600" dirty="0">
                <a:latin typeface="Google Sans Text"/>
              </a:rPr>
              <a:t>ORDER BY </a:t>
            </a:r>
            <a:r>
              <a:rPr lang="en-US" sz="1600" dirty="0" err="1">
                <a:latin typeface="Google Sans Text"/>
              </a:rPr>
              <a:t>Collection_M</a:t>
            </a:r>
            <a:r>
              <a:rPr lang="en-US" sz="1600" dirty="0">
                <a:latin typeface="Google Sans Text"/>
              </a:rPr>
              <a:t> DESC;</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a:solidFill>
                  <a:schemeClr val="accent2">
                    <a:lumMod val="75000"/>
                  </a:schemeClr>
                </a:solidFill>
                <a:latin typeface="Google Sans Text"/>
              </a:rPr>
              <a:t>Product Group-Wise Loan</a:t>
            </a:r>
          </a:p>
          <a:p>
            <a:r>
              <a:rPr lang="en-US" sz="1600" dirty="0">
                <a:latin typeface="Google Sans Text"/>
              </a:rPr>
              <a:t>SELECT `Purpose Category`,</a:t>
            </a:r>
          </a:p>
          <a:p>
            <a:r>
              <a:rPr lang="en-US" sz="1600" dirty="0">
                <a:latin typeface="Google Sans Text"/>
              </a:rPr>
              <a:t>    ROUND(SUM(`Funded Amount`)/1000000,2) </a:t>
            </a:r>
          </a:p>
          <a:p>
            <a:r>
              <a:rPr lang="en-US" sz="1600" dirty="0">
                <a:latin typeface="Google Sans Text"/>
              </a:rPr>
              <a:t>AS </a:t>
            </a:r>
            <a:r>
              <a:rPr lang="en-US" sz="1600" dirty="0" err="1">
                <a:latin typeface="Google Sans Text"/>
              </a:rPr>
              <a:t>Funded_Loan_M</a:t>
            </a:r>
            <a:r>
              <a:rPr lang="en-US" sz="1600" dirty="0">
                <a:latin typeface="Google Sans Text"/>
              </a:rPr>
              <a:t> FROM </a:t>
            </a:r>
            <a:r>
              <a:rPr lang="en-US" sz="1600" dirty="0" err="1">
                <a:latin typeface="Google Sans Text"/>
              </a:rPr>
              <a:t>banking_data</a:t>
            </a:r>
            <a:endParaRPr lang="en-US" sz="1600" dirty="0">
              <a:latin typeface="Google Sans Text"/>
            </a:endParaRPr>
          </a:p>
          <a:p>
            <a:r>
              <a:rPr lang="en-US" sz="1600" dirty="0">
                <a:latin typeface="Google Sans Text"/>
              </a:rPr>
              <a:t>GROUP BY `Purpose Category`</a:t>
            </a:r>
          </a:p>
          <a:p>
            <a:r>
              <a:rPr lang="en-US" sz="1600" dirty="0">
                <a:latin typeface="Google Sans Text"/>
              </a:rPr>
              <a:t>ORDER BY </a:t>
            </a:r>
            <a:r>
              <a:rPr lang="en-US" sz="1600" dirty="0" err="1">
                <a:latin typeface="Google Sans Text"/>
              </a:rPr>
              <a:t>Funded_Loan_M</a:t>
            </a:r>
            <a:r>
              <a:rPr lang="en-US" sz="1600" dirty="0">
                <a:latin typeface="Google Sans Text"/>
              </a:rPr>
              <a:t> DESC;</a:t>
            </a: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a:solidFill>
                  <a:schemeClr val="accent2">
                    <a:lumMod val="75000"/>
                  </a:schemeClr>
                </a:solidFill>
                <a:latin typeface="Google Sans Text"/>
              </a:rPr>
              <a:t>State-Wise Loan</a:t>
            </a:r>
          </a:p>
          <a:p>
            <a:r>
              <a:rPr lang="en-US" sz="1600" dirty="0">
                <a:latin typeface="Google Sans Text"/>
              </a:rPr>
              <a:t>SELECT `State Name`,</a:t>
            </a:r>
          </a:p>
          <a:p>
            <a:r>
              <a:rPr lang="en-US" sz="1600" dirty="0">
                <a:latin typeface="Google Sans Text"/>
              </a:rPr>
              <a:t>ROUND(SUM(`Funded Amount`)/1000000,2) AS </a:t>
            </a:r>
            <a:r>
              <a:rPr lang="en-US" sz="1600" dirty="0" err="1">
                <a:latin typeface="Google Sans Text"/>
              </a:rPr>
              <a:t>Funded_Loan_M</a:t>
            </a:r>
            <a:endParaRPr lang="en-US" sz="1600" dirty="0">
              <a:latin typeface="Google Sans Text"/>
            </a:endParaRPr>
          </a:p>
          <a:p>
            <a:r>
              <a:rPr lang="en-US" sz="1600" dirty="0">
                <a:latin typeface="Google Sans Text"/>
              </a:rPr>
              <a:t>FROM </a:t>
            </a:r>
            <a:r>
              <a:rPr lang="en-US" sz="1600" dirty="0" err="1">
                <a:latin typeface="Google Sans Text"/>
              </a:rPr>
              <a:t>banking_data</a:t>
            </a:r>
            <a:endParaRPr lang="en-US" sz="1600" dirty="0">
              <a:latin typeface="Google Sans Text"/>
            </a:endParaRPr>
          </a:p>
          <a:p>
            <a:r>
              <a:rPr lang="en-US" sz="1600" dirty="0">
                <a:latin typeface="Google Sans Text"/>
              </a:rPr>
              <a:t>GROUP BY `State Name`</a:t>
            </a:r>
          </a:p>
          <a:p>
            <a:r>
              <a:rPr lang="en-US" sz="1600" dirty="0">
                <a:latin typeface="Google Sans Text"/>
              </a:rPr>
              <a:t>ORDER BY </a:t>
            </a:r>
            <a:r>
              <a:rPr lang="en-US" sz="1600" dirty="0" err="1">
                <a:latin typeface="Google Sans Text"/>
              </a:rPr>
              <a:t>Funded_Loan_M</a:t>
            </a:r>
            <a:r>
              <a:rPr lang="en-US" sz="1600" dirty="0">
                <a:latin typeface="Google Sans Text"/>
              </a:rPr>
              <a:t> DESC;</a:t>
            </a:r>
          </a:p>
          <a:p>
            <a:endParaRPr lang="en-US" sz="1600" dirty="0">
              <a:latin typeface="Google Sans Text"/>
            </a:endParaRPr>
          </a:p>
        </p:txBody>
      </p:sp>
      <p:graphicFrame>
        <p:nvGraphicFramePr>
          <p:cNvPr id="4" name="Table 3">
            <a:extLst>
              <a:ext uri="{FF2B5EF4-FFF2-40B4-BE49-F238E27FC236}">
                <a16:creationId xmlns:a16="http://schemas.microsoft.com/office/drawing/2014/main" id="{4BB50AC0-B877-8E5D-6FA7-C0B649C64758}"/>
              </a:ext>
            </a:extLst>
          </p:cNvPr>
          <p:cNvGraphicFramePr>
            <a:graphicFrameLocks noGrp="1"/>
          </p:cNvGraphicFramePr>
          <p:nvPr>
            <p:extLst>
              <p:ext uri="{D42A27DB-BD31-4B8C-83A1-F6EECF244321}">
                <p14:modId xmlns:p14="http://schemas.microsoft.com/office/powerpoint/2010/main" val="2708913211"/>
              </p:ext>
            </p:extLst>
          </p:nvPr>
        </p:nvGraphicFramePr>
        <p:xfrm>
          <a:off x="6587613" y="98321"/>
          <a:ext cx="4994787" cy="1645920"/>
        </p:xfrm>
        <a:graphic>
          <a:graphicData uri="http://schemas.openxmlformats.org/drawingml/2006/table">
            <a:tbl>
              <a:tblPr firstRow="1">
                <a:tableStyleId>{69C7853C-536D-4A76-A0AE-DD22124D55A5}</a:tableStyleId>
              </a:tblPr>
              <a:tblGrid>
                <a:gridCol w="1391265">
                  <a:extLst>
                    <a:ext uri="{9D8B030D-6E8A-4147-A177-3AD203B41FA5}">
                      <a16:colId xmlns:a16="http://schemas.microsoft.com/office/drawing/2014/main" val="3485982404"/>
                    </a:ext>
                  </a:extLst>
                </a:gridCol>
                <a:gridCol w="1391265">
                  <a:extLst>
                    <a:ext uri="{9D8B030D-6E8A-4147-A177-3AD203B41FA5}">
                      <a16:colId xmlns:a16="http://schemas.microsoft.com/office/drawing/2014/main" val="4028759611"/>
                    </a:ext>
                  </a:extLst>
                </a:gridCol>
                <a:gridCol w="1012240">
                  <a:extLst>
                    <a:ext uri="{9D8B030D-6E8A-4147-A177-3AD203B41FA5}">
                      <a16:colId xmlns:a16="http://schemas.microsoft.com/office/drawing/2014/main" val="4028147202"/>
                    </a:ext>
                  </a:extLst>
                </a:gridCol>
                <a:gridCol w="1200017">
                  <a:extLst>
                    <a:ext uri="{9D8B030D-6E8A-4147-A177-3AD203B41FA5}">
                      <a16:colId xmlns:a16="http://schemas.microsoft.com/office/drawing/2014/main" val="525925025"/>
                    </a:ext>
                  </a:extLst>
                </a:gridCol>
              </a:tblGrid>
              <a:tr h="242406">
                <a:tc>
                  <a:txBody>
                    <a:bodyPr/>
                    <a:lstStyle/>
                    <a:p>
                      <a:r>
                        <a:rPr lang="en-IN" sz="1000" b="1">
                          <a:solidFill>
                            <a:schemeClr val="tx1"/>
                          </a:solidFill>
                          <a:effectLst/>
                        </a:rPr>
                        <a:t>Branch Name</a:t>
                      </a:r>
                      <a:endParaRPr lang="en-IN" sz="1000">
                        <a:solidFill>
                          <a:schemeClr val="tx1"/>
                        </a:solidFill>
                        <a:effectLst/>
                        <a:latin typeface="Google Sans Text"/>
                      </a:endParaRPr>
                    </a:p>
                  </a:txBody>
                  <a:tcPr marT="60960" marB="60960" anchor="ctr"/>
                </a:tc>
                <a:tc>
                  <a:txBody>
                    <a:bodyPr/>
                    <a:lstStyle/>
                    <a:p>
                      <a:r>
                        <a:rPr lang="en-IN" sz="1000" b="1">
                          <a:solidFill>
                            <a:schemeClr val="tx1"/>
                          </a:solidFill>
                          <a:effectLst/>
                        </a:rPr>
                        <a:t>Collection_M</a:t>
                      </a:r>
                      <a:endParaRPr lang="en-IN" sz="1000">
                        <a:solidFill>
                          <a:schemeClr val="tx1"/>
                        </a:solidFill>
                        <a:effectLst/>
                        <a:latin typeface="Google Sans Text"/>
                      </a:endParaRPr>
                    </a:p>
                  </a:txBody>
                  <a:tcPr marT="60960" marB="60960" anchor="ctr"/>
                </a:tc>
                <a:tc>
                  <a:txBody>
                    <a:bodyPr/>
                    <a:lstStyle/>
                    <a:p>
                      <a:r>
                        <a:rPr lang="en-IN" sz="1000" b="1" dirty="0" err="1">
                          <a:solidFill>
                            <a:schemeClr val="tx1"/>
                          </a:solidFill>
                          <a:effectLst/>
                        </a:rPr>
                        <a:t>Fees_M</a:t>
                      </a:r>
                      <a:endParaRPr lang="en-IN" sz="1000" dirty="0">
                        <a:solidFill>
                          <a:schemeClr val="tx1"/>
                        </a:solidFill>
                        <a:effectLst/>
                        <a:latin typeface="Google Sans Text"/>
                      </a:endParaRPr>
                    </a:p>
                  </a:txBody>
                  <a:tcPr marT="60960" marB="60960" anchor="ctr"/>
                </a:tc>
                <a:tc>
                  <a:txBody>
                    <a:bodyPr/>
                    <a:lstStyle/>
                    <a:p>
                      <a:r>
                        <a:rPr lang="en-IN" sz="1000" b="1" dirty="0" err="1">
                          <a:solidFill>
                            <a:schemeClr val="tx1"/>
                          </a:solidFill>
                          <a:effectLst/>
                        </a:rPr>
                        <a:t>Interest_M</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2664361410"/>
                  </a:ext>
                </a:extLst>
              </a:tr>
              <a:tr h="242406">
                <a:tc>
                  <a:txBody>
                    <a:bodyPr/>
                    <a:lstStyle/>
                    <a:p>
                      <a:r>
                        <a:rPr lang="en-IN" sz="1000">
                          <a:effectLst/>
                        </a:rPr>
                        <a:t>MATHURA</a:t>
                      </a:r>
                      <a:endParaRPr lang="en-IN" sz="1000">
                        <a:effectLst/>
                        <a:latin typeface="Google Sans Text"/>
                      </a:endParaRPr>
                    </a:p>
                  </a:txBody>
                  <a:tcPr marT="60960" marB="60960" anchor="ctr"/>
                </a:tc>
                <a:tc>
                  <a:txBody>
                    <a:bodyPr/>
                    <a:lstStyle/>
                    <a:p>
                      <a:r>
                        <a:rPr lang="en-IN" sz="1000">
                          <a:effectLst/>
                        </a:rPr>
                        <a:t>26.64</a:t>
                      </a:r>
                      <a:endParaRPr lang="en-IN" sz="1000">
                        <a:effectLst/>
                        <a:latin typeface="Google Sans Text"/>
                      </a:endParaRPr>
                    </a:p>
                  </a:txBody>
                  <a:tcPr marT="60960" marB="60960" anchor="ctr"/>
                </a:tc>
                <a:tc>
                  <a:txBody>
                    <a:bodyPr/>
                    <a:lstStyle/>
                    <a:p>
                      <a:r>
                        <a:rPr lang="en-IN" sz="1000" dirty="0">
                          <a:effectLst/>
                        </a:rPr>
                        <a:t>0.03</a:t>
                      </a:r>
                      <a:endParaRPr lang="en-IN" sz="1000" dirty="0">
                        <a:effectLst/>
                        <a:latin typeface="Google Sans Text"/>
                      </a:endParaRPr>
                    </a:p>
                  </a:txBody>
                  <a:tcPr marT="60960" marB="60960" anchor="ctr"/>
                </a:tc>
                <a:tc>
                  <a:txBody>
                    <a:bodyPr/>
                    <a:lstStyle/>
                    <a:p>
                      <a:r>
                        <a:rPr lang="en-IN" sz="1000">
                          <a:effectLst/>
                        </a:rPr>
                        <a:t>5.26</a:t>
                      </a:r>
                      <a:endParaRPr lang="en-IN" sz="1000">
                        <a:effectLst/>
                        <a:latin typeface="Google Sans Text"/>
                      </a:endParaRPr>
                    </a:p>
                  </a:txBody>
                  <a:tcPr marT="60960" marB="60960" anchor="ctr"/>
                </a:tc>
                <a:extLst>
                  <a:ext uri="{0D108BD9-81ED-4DB2-BD59-A6C34878D82A}">
                    <a16:rowId xmlns:a16="http://schemas.microsoft.com/office/drawing/2014/main" val="4248281649"/>
                  </a:ext>
                </a:extLst>
              </a:tr>
              <a:tr h="272642">
                <a:tc>
                  <a:txBody>
                    <a:bodyPr/>
                    <a:lstStyle/>
                    <a:p>
                      <a:r>
                        <a:rPr lang="en-IN" sz="1000">
                          <a:effectLst/>
                        </a:rPr>
                        <a:t>FATEHGARH SAHIB</a:t>
                      </a:r>
                      <a:endParaRPr lang="en-IN" sz="1000">
                        <a:effectLst/>
                        <a:latin typeface="Google Sans Text"/>
                      </a:endParaRPr>
                    </a:p>
                  </a:txBody>
                  <a:tcPr marT="60960" marB="60960" anchor="ctr"/>
                </a:tc>
                <a:tc>
                  <a:txBody>
                    <a:bodyPr/>
                    <a:lstStyle/>
                    <a:p>
                      <a:r>
                        <a:rPr lang="en-IN" sz="1000">
                          <a:effectLst/>
                        </a:rPr>
                        <a:t>25.12</a:t>
                      </a:r>
                      <a:endParaRPr lang="en-IN" sz="1000">
                        <a:effectLst/>
                        <a:latin typeface="Google Sans Text"/>
                      </a:endParaRPr>
                    </a:p>
                  </a:txBody>
                  <a:tcPr marT="60960" marB="60960" anchor="ctr"/>
                </a:tc>
                <a:tc>
                  <a:txBody>
                    <a:bodyPr/>
                    <a:lstStyle/>
                    <a:p>
                      <a:r>
                        <a:rPr lang="en-IN" sz="1000" dirty="0">
                          <a:effectLst/>
                        </a:rPr>
                        <a:t>0.04</a:t>
                      </a:r>
                      <a:endParaRPr lang="en-IN" sz="1000" dirty="0">
                        <a:effectLst/>
                        <a:latin typeface="Google Sans Text"/>
                      </a:endParaRPr>
                    </a:p>
                  </a:txBody>
                  <a:tcPr marT="60960" marB="60960" anchor="ctr"/>
                </a:tc>
                <a:tc>
                  <a:txBody>
                    <a:bodyPr/>
                    <a:lstStyle/>
                    <a:p>
                      <a:r>
                        <a:rPr lang="en-IN" sz="1000" dirty="0">
                          <a:effectLst/>
                        </a:rPr>
                        <a:t>4.97</a:t>
                      </a:r>
                      <a:endParaRPr lang="en-IN" sz="1000" dirty="0">
                        <a:effectLst/>
                        <a:latin typeface="Google Sans Text"/>
                      </a:endParaRPr>
                    </a:p>
                  </a:txBody>
                  <a:tcPr marT="60960" marB="60960" anchor="ctr"/>
                </a:tc>
                <a:extLst>
                  <a:ext uri="{0D108BD9-81ED-4DB2-BD59-A6C34878D82A}">
                    <a16:rowId xmlns:a16="http://schemas.microsoft.com/office/drawing/2014/main" val="267548298"/>
                  </a:ext>
                </a:extLst>
              </a:tr>
              <a:tr h="242406">
                <a:tc>
                  <a:txBody>
                    <a:bodyPr/>
                    <a:lstStyle/>
                    <a:p>
                      <a:r>
                        <a:rPr lang="en-IN" sz="1000">
                          <a:effectLst/>
                        </a:rPr>
                        <a:t>HARIDWAR</a:t>
                      </a:r>
                      <a:endParaRPr lang="en-IN" sz="1000">
                        <a:effectLst/>
                        <a:latin typeface="Google Sans Text"/>
                      </a:endParaRPr>
                    </a:p>
                  </a:txBody>
                  <a:tcPr marT="60960" marB="60960" anchor="ctr"/>
                </a:tc>
                <a:tc>
                  <a:txBody>
                    <a:bodyPr/>
                    <a:lstStyle/>
                    <a:p>
                      <a:r>
                        <a:rPr lang="en-IN" sz="1000">
                          <a:effectLst/>
                        </a:rPr>
                        <a:t>24.68</a:t>
                      </a:r>
                      <a:endParaRPr lang="en-IN" sz="1000">
                        <a:effectLst/>
                        <a:latin typeface="Google Sans Text"/>
                      </a:endParaRPr>
                    </a:p>
                  </a:txBody>
                  <a:tcPr marT="60960" marB="60960" anchor="ctr"/>
                </a:tc>
                <a:tc>
                  <a:txBody>
                    <a:bodyPr/>
                    <a:lstStyle/>
                    <a:p>
                      <a:r>
                        <a:rPr lang="en-IN" sz="1000">
                          <a:effectLst/>
                        </a:rPr>
                        <a:t>0.04</a:t>
                      </a:r>
                      <a:endParaRPr lang="en-IN" sz="1000">
                        <a:effectLst/>
                        <a:latin typeface="Google Sans Text"/>
                      </a:endParaRPr>
                    </a:p>
                  </a:txBody>
                  <a:tcPr marT="60960" marB="60960" anchor="ctr"/>
                </a:tc>
                <a:tc>
                  <a:txBody>
                    <a:bodyPr/>
                    <a:lstStyle/>
                    <a:p>
                      <a:r>
                        <a:rPr lang="en-IN" sz="1000">
                          <a:effectLst/>
                        </a:rPr>
                        <a:t>4.67</a:t>
                      </a:r>
                      <a:endParaRPr lang="en-IN" sz="1000">
                        <a:effectLst/>
                        <a:latin typeface="Google Sans Text"/>
                      </a:endParaRPr>
                    </a:p>
                  </a:txBody>
                  <a:tcPr marT="60960" marB="60960" anchor="ctr"/>
                </a:tc>
                <a:extLst>
                  <a:ext uri="{0D108BD9-81ED-4DB2-BD59-A6C34878D82A}">
                    <a16:rowId xmlns:a16="http://schemas.microsoft.com/office/drawing/2014/main" val="954410713"/>
                  </a:ext>
                </a:extLst>
              </a:tr>
              <a:tr h="242406">
                <a:tc>
                  <a:txBody>
                    <a:bodyPr/>
                    <a:lstStyle/>
                    <a:p>
                      <a:r>
                        <a:rPr lang="en-IN" sz="1000">
                          <a:effectLst/>
                        </a:rPr>
                        <a:t>SANGRUR</a:t>
                      </a:r>
                      <a:endParaRPr lang="en-IN" sz="1000">
                        <a:effectLst/>
                        <a:latin typeface="Google Sans Text"/>
                      </a:endParaRPr>
                    </a:p>
                  </a:txBody>
                  <a:tcPr marT="60960" marB="60960" anchor="ctr"/>
                </a:tc>
                <a:tc>
                  <a:txBody>
                    <a:bodyPr/>
                    <a:lstStyle/>
                    <a:p>
                      <a:r>
                        <a:rPr lang="en-IN" sz="1000">
                          <a:effectLst/>
                        </a:rPr>
                        <a:t>22.86</a:t>
                      </a:r>
                      <a:endParaRPr lang="en-IN" sz="1000">
                        <a:effectLst/>
                        <a:latin typeface="Google Sans Text"/>
                      </a:endParaRPr>
                    </a:p>
                  </a:txBody>
                  <a:tcPr marT="60960" marB="60960" anchor="ctr"/>
                </a:tc>
                <a:tc>
                  <a:txBody>
                    <a:bodyPr/>
                    <a:lstStyle/>
                    <a:p>
                      <a:r>
                        <a:rPr lang="en-IN" sz="1000">
                          <a:effectLst/>
                        </a:rPr>
                        <a:t>0.03</a:t>
                      </a:r>
                      <a:endParaRPr lang="en-IN" sz="1000">
                        <a:effectLst/>
                        <a:latin typeface="Google Sans Text"/>
                      </a:endParaRPr>
                    </a:p>
                  </a:txBody>
                  <a:tcPr marT="60960" marB="60960" anchor="ctr"/>
                </a:tc>
                <a:tc>
                  <a:txBody>
                    <a:bodyPr/>
                    <a:lstStyle/>
                    <a:p>
                      <a:r>
                        <a:rPr lang="en-IN" sz="1000">
                          <a:effectLst/>
                        </a:rPr>
                        <a:t>4.41</a:t>
                      </a:r>
                      <a:endParaRPr lang="en-IN" sz="1000">
                        <a:effectLst/>
                        <a:latin typeface="Google Sans Text"/>
                      </a:endParaRPr>
                    </a:p>
                  </a:txBody>
                  <a:tcPr marT="60960" marB="60960" anchor="ctr"/>
                </a:tc>
                <a:extLst>
                  <a:ext uri="{0D108BD9-81ED-4DB2-BD59-A6C34878D82A}">
                    <a16:rowId xmlns:a16="http://schemas.microsoft.com/office/drawing/2014/main" val="3516996592"/>
                  </a:ext>
                </a:extLst>
              </a:tr>
              <a:tr h="242406">
                <a:tc>
                  <a:txBody>
                    <a:bodyPr/>
                    <a:lstStyle/>
                    <a:p>
                      <a:r>
                        <a:rPr lang="en-IN" sz="1000">
                          <a:effectLst/>
                        </a:rPr>
                        <a:t>PATIALA</a:t>
                      </a:r>
                      <a:endParaRPr lang="en-IN" sz="1000">
                        <a:effectLst/>
                        <a:latin typeface="Google Sans Text"/>
                      </a:endParaRPr>
                    </a:p>
                  </a:txBody>
                  <a:tcPr marT="60960" marB="60960" anchor="ctr"/>
                </a:tc>
                <a:tc>
                  <a:txBody>
                    <a:bodyPr/>
                    <a:lstStyle/>
                    <a:p>
                      <a:r>
                        <a:rPr lang="en-IN" sz="1000">
                          <a:effectLst/>
                        </a:rPr>
                        <a:t>21.98</a:t>
                      </a:r>
                      <a:endParaRPr lang="en-IN" sz="1000">
                        <a:effectLst/>
                        <a:latin typeface="Google Sans Text"/>
                      </a:endParaRPr>
                    </a:p>
                  </a:txBody>
                  <a:tcPr marT="60960" marB="60960" anchor="ctr"/>
                </a:tc>
                <a:tc>
                  <a:txBody>
                    <a:bodyPr/>
                    <a:lstStyle/>
                    <a:p>
                      <a:r>
                        <a:rPr lang="en-IN" sz="1000">
                          <a:effectLst/>
                        </a:rPr>
                        <a:t>0.03</a:t>
                      </a:r>
                      <a:endParaRPr lang="en-IN" sz="1000">
                        <a:effectLst/>
                        <a:latin typeface="Google Sans Text"/>
                      </a:endParaRPr>
                    </a:p>
                  </a:txBody>
                  <a:tcPr marT="60960" marB="60960" anchor="ctr"/>
                </a:tc>
                <a:tc>
                  <a:txBody>
                    <a:bodyPr/>
                    <a:lstStyle/>
                    <a:p>
                      <a:r>
                        <a:rPr lang="en-IN" sz="1000" dirty="0">
                          <a:effectLst/>
                        </a:rPr>
                        <a:t>4.30</a:t>
                      </a:r>
                      <a:endParaRPr lang="en-IN" sz="1000" dirty="0">
                        <a:effectLst/>
                        <a:latin typeface="Google Sans Text"/>
                      </a:endParaRPr>
                    </a:p>
                  </a:txBody>
                  <a:tcPr marT="60960" marB="60960" anchor="ctr"/>
                </a:tc>
                <a:extLst>
                  <a:ext uri="{0D108BD9-81ED-4DB2-BD59-A6C34878D82A}">
                    <a16:rowId xmlns:a16="http://schemas.microsoft.com/office/drawing/2014/main" val="2855962278"/>
                  </a:ext>
                </a:extLst>
              </a:tr>
            </a:tbl>
          </a:graphicData>
        </a:graphic>
      </p:graphicFrame>
      <p:graphicFrame>
        <p:nvGraphicFramePr>
          <p:cNvPr id="5" name="Table 4">
            <a:extLst>
              <a:ext uri="{FF2B5EF4-FFF2-40B4-BE49-F238E27FC236}">
                <a16:creationId xmlns:a16="http://schemas.microsoft.com/office/drawing/2014/main" id="{7F5677CB-AC3A-DFC6-8264-A088B3221ABD}"/>
              </a:ext>
            </a:extLst>
          </p:cNvPr>
          <p:cNvGraphicFramePr>
            <a:graphicFrameLocks noGrp="1"/>
          </p:cNvGraphicFramePr>
          <p:nvPr>
            <p:extLst>
              <p:ext uri="{D42A27DB-BD31-4B8C-83A1-F6EECF244321}">
                <p14:modId xmlns:p14="http://schemas.microsoft.com/office/powerpoint/2010/main" val="1776827178"/>
              </p:ext>
            </p:extLst>
          </p:nvPr>
        </p:nvGraphicFramePr>
        <p:xfrm>
          <a:off x="8617103" y="3760838"/>
          <a:ext cx="3329090" cy="2743200"/>
        </p:xfrm>
        <a:graphic>
          <a:graphicData uri="http://schemas.openxmlformats.org/drawingml/2006/table">
            <a:tbl>
              <a:tblPr firstRow="1">
                <a:tableStyleId>{69C7853C-536D-4A76-A0AE-DD22124D55A5}</a:tableStyleId>
              </a:tblPr>
              <a:tblGrid>
                <a:gridCol w="1746096">
                  <a:extLst>
                    <a:ext uri="{9D8B030D-6E8A-4147-A177-3AD203B41FA5}">
                      <a16:colId xmlns:a16="http://schemas.microsoft.com/office/drawing/2014/main" val="3980953820"/>
                    </a:ext>
                  </a:extLst>
                </a:gridCol>
                <a:gridCol w="1582994">
                  <a:extLst>
                    <a:ext uri="{9D8B030D-6E8A-4147-A177-3AD203B41FA5}">
                      <a16:colId xmlns:a16="http://schemas.microsoft.com/office/drawing/2014/main" val="153847169"/>
                    </a:ext>
                  </a:extLst>
                </a:gridCol>
              </a:tblGrid>
              <a:tr h="183164">
                <a:tc>
                  <a:txBody>
                    <a:bodyPr/>
                    <a:lstStyle/>
                    <a:p>
                      <a:r>
                        <a:rPr lang="en-IN" sz="1000" b="1" dirty="0">
                          <a:solidFill>
                            <a:schemeClr val="tx1"/>
                          </a:solidFill>
                          <a:effectLst/>
                        </a:rPr>
                        <a:t>State Name</a:t>
                      </a:r>
                      <a:endParaRPr lang="en-IN" sz="1000" dirty="0">
                        <a:solidFill>
                          <a:schemeClr val="tx1"/>
                        </a:solidFill>
                        <a:effectLst/>
                        <a:latin typeface="Google Sans Text"/>
                      </a:endParaRPr>
                    </a:p>
                  </a:txBody>
                  <a:tcPr marT="60960" marB="60960" anchor="ctr"/>
                </a:tc>
                <a:tc>
                  <a:txBody>
                    <a:bodyPr/>
                    <a:lstStyle/>
                    <a:p>
                      <a:r>
                        <a:rPr lang="en-IN" sz="1000" b="1" dirty="0" err="1">
                          <a:solidFill>
                            <a:schemeClr val="tx1"/>
                          </a:solidFill>
                          <a:effectLst/>
                        </a:rPr>
                        <a:t>Funded_Loan_M</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131636071"/>
                  </a:ext>
                </a:extLst>
              </a:tr>
              <a:tr h="183164">
                <a:tc>
                  <a:txBody>
                    <a:bodyPr/>
                    <a:lstStyle/>
                    <a:p>
                      <a:r>
                        <a:rPr lang="en-IN" sz="1000">
                          <a:effectLst/>
                        </a:rPr>
                        <a:t>UTTAR PRADESH</a:t>
                      </a:r>
                      <a:endParaRPr lang="en-IN" sz="1000">
                        <a:effectLst/>
                        <a:latin typeface="Google Sans Text"/>
                      </a:endParaRPr>
                    </a:p>
                  </a:txBody>
                  <a:tcPr marT="60960" marB="60960" anchor="ctr"/>
                </a:tc>
                <a:tc>
                  <a:txBody>
                    <a:bodyPr/>
                    <a:lstStyle/>
                    <a:p>
                      <a:r>
                        <a:rPr lang="en-IN" sz="1000">
                          <a:effectLst/>
                        </a:rPr>
                        <a:t>135.00</a:t>
                      </a:r>
                      <a:endParaRPr lang="en-IN" sz="1000">
                        <a:effectLst/>
                        <a:latin typeface="Google Sans Text"/>
                      </a:endParaRPr>
                    </a:p>
                  </a:txBody>
                  <a:tcPr marT="60960" marB="60960" anchor="ctr"/>
                </a:tc>
                <a:extLst>
                  <a:ext uri="{0D108BD9-81ED-4DB2-BD59-A6C34878D82A}">
                    <a16:rowId xmlns:a16="http://schemas.microsoft.com/office/drawing/2014/main" val="3718908346"/>
                  </a:ext>
                </a:extLst>
              </a:tr>
              <a:tr h="183164">
                <a:tc>
                  <a:txBody>
                    <a:bodyPr/>
                    <a:lstStyle/>
                    <a:p>
                      <a:r>
                        <a:rPr lang="en-IN" sz="1000">
                          <a:effectLst/>
                        </a:rPr>
                        <a:t>PUNJAB</a:t>
                      </a:r>
                      <a:endParaRPr lang="en-IN" sz="1000">
                        <a:effectLst/>
                        <a:latin typeface="Google Sans Text"/>
                      </a:endParaRPr>
                    </a:p>
                  </a:txBody>
                  <a:tcPr marT="60960" marB="60960" anchor="ctr"/>
                </a:tc>
                <a:tc>
                  <a:txBody>
                    <a:bodyPr/>
                    <a:lstStyle/>
                    <a:p>
                      <a:r>
                        <a:rPr lang="en-IN" sz="1000" dirty="0">
                          <a:effectLst/>
                        </a:rPr>
                        <a:t>116.00</a:t>
                      </a:r>
                      <a:endParaRPr lang="en-IN" sz="1000" dirty="0">
                        <a:effectLst/>
                        <a:latin typeface="Google Sans Text"/>
                      </a:endParaRPr>
                    </a:p>
                  </a:txBody>
                  <a:tcPr marT="60960" marB="60960" anchor="ctr"/>
                </a:tc>
                <a:extLst>
                  <a:ext uri="{0D108BD9-81ED-4DB2-BD59-A6C34878D82A}">
                    <a16:rowId xmlns:a16="http://schemas.microsoft.com/office/drawing/2014/main" val="2459038545"/>
                  </a:ext>
                </a:extLst>
              </a:tr>
              <a:tr h="183164">
                <a:tc>
                  <a:txBody>
                    <a:bodyPr/>
                    <a:lstStyle/>
                    <a:p>
                      <a:r>
                        <a:rPr lang="en-IN" sz="1000" dirty="0">
                          <a:effectLst/>
                        </a:rPr>
                        <a:t>BIHAR</a:t>
                      </a:r>
                      <a:endParaRPr lang="en-IN" sz="1000" dirty="0">
                        <a:effectLst/>
                        <a:latin typeface="Google Sans Text"/>
                      </a:endParaRPr>
                    </a:p>
                  </a:txBody>
                  <a:tcPr marT="60960" marB="60960" anchor="ctr"/>
                </a:tc>
                <a:tc>
                  <a:txBody>
                    <a:bodyPr/>
                    <a:lstStyle/>
                    <a:p>
                      <a:r>
                        <a:rPr lang="en-IN" sz="1000">
                          <a:effectLst/>
                        </a:rPr>
                        <a:t>93.00</a:t>
                      </a:r>
                      <a:endParaRPr lang="en-IN" sz="1000">
                        <a:effectLst/>
                        <a:latin typeface="Google Sans Text"/>
                      </a:endParaRPr>
                    </a:p>
                  </a:txBody>
                  <a:tcPr marT="60960" marB="60960" anchor="ctr"/>
                </a:tc>
                <a:extLst>
                  <a:ext uri="{0D108BD9-81ED-4DB2-BD59-A6C34878D82A}">
                    <a16:rowId xmlns:a16="http://schemas.microsoft.com/office/drawing/2014/main" val="189559984"/>
                  </a:ext>
                </a:extLst>
              </a:tr>
              <a:tr h="183164">
                <a:tc>
                  <a:txBody>
                    <a:bodyPr/>
                    <a:lstStyle/>
                    <a:p>
                      <a:r>
                        <a:rPr lang="en-IN" sz="1000">
                          <a:effectLst/>
                        </a:rPr>
                        <a:t>HARYANA</a:t>
                      </a:r>
                      <a:endParaRPr lang="en-IN" sz="1000">
                        <a:effectLst/>
                        <a:latin typeface="Google Sans Text"/>
                      </a:endParaRPr>
                    </a:p>
                  </a:txBody>
                  <a:tcPr marT="60960" marB="60960" anchor="ctr"/>
                </a:tc>
                <a:tc>
                  <a:txBody>
                    <a:bodyPr/>
                    <a:lstStyle/>
                    <a:p>
                      <a:r>
                        <a:rPr lang="en-IN" sz="1000">
                          <a:effectLst/>
                        </a:rPr>
                        <a:t>79.00</a:t>
                      </a:r>
                      <a:endParaRPr lang="en-IN" sz="1000">
                        <a:effectLst/>
                        <a:latin typeface="Google Sans Text"/>
                      </a:endParaRPr>
                    </a:p>
                  </a:txBody>
                  <a:tcPr marT="60960" marB="60960" anchor="ctr"/>
                </a:tc>
                <a:extLst>
                  <a:ext uri="{0D108BD9-81ED-4DB2-BD59-A6C34878D82A}">
                    <a16:rowId xmlns:a16="http://schemas.microsoft.com/office/drawing/2014/main" val="988480457"/>
                  </a:ext>
                </a:extLst>
              </a:tr>
              <a:tr h="183164">
                <a:tc>
                  <a:txBody>
                    <a:bodyPr/>
                    <a:lstStyle/>
                    <a:p>
                      <a:r>
                        <a:rPr lang="en-IN" sz="1000">
                          <a:effectLst/>
                        </a:rPr>
                        <a:t>RAJASTHAN</a:t>
                      </a:r>
                      <a:endParaRPr lang="en-IN" sz="1000">
                        <a:effectLst/>
                        <a:latin typeface="Google Sans Text"/>
                      </a:endParaRPr>
                    </a:p>
                  </a:txBody>
                  <a:tcPr marT="60960" marB="60960" anchor="ctr"/>
                </a:tc>
                <a:tc>
                  <a:txBody>
                    <a:bodyPr/>
                    <a:lstStyle/>
                    <a:p>
                      <a:r>
                        <a:rPr lang="en-IN" sz="1000" dirty="0">
                          <a:effectLst/>
                        </a:rPr>
                        <a:t>65.00</a:t>
                      </a:r>
                      <a:endParaRPr lang="en-IN" sz="1000" dirty="0">
                        <a:effectLst/>
                        <a:latin typeface="Google Sans Text"/>
                      </a:endParaRPr>
                    </a:p>
                  </a:txBody>
                  <a:tcPr marT="60960" marB="60960" anchor="ctr"/>
                </a:tc>
                <a:extLst>
                  <a:ext uri="{0D108BD9-81ED-4DB2-BD59-A6C34878D82A}">
                    <a16:rowId xmlns:a16="http://schemas.microsoft.com/office/drawing/2014/main" val="3644795729"/>
                  </a:ext>
                </a:extLst>
              </a:tr>
              <a:tr h="183164">
                <a:tc>
                  <a:txBody>
                    <a:bodyPr/>
                    <a:lstStyle/>
                    <a:p>
                      <a:r>
                        <a:rPr lang="en-IN" sz="1000">
                          <a:effectLst/>
                        </a:rPr>
                        <a:t>ODISHA</a:t>
                      </a:r>
                      <a:endParaRPr lang="en-IN" sz="1000">
                        <a:effectLst/>
                        <a:latin typeface="Google Sans Text"/>
                      </a:endParaRPr>
                    </a:p>
                  </a:txBody>
                  <a:tcPr marT="60960" marB="60960" anchor="ctr"/>
                </a:tc>
                <a:tc>
                  <a:txBody>
                    <a:bodyPr/>
                    <a:lstStyle/>
                    <a:p>
                      <a:r>
                        <a:rPr lang="en-IN" sz="1000">
                          <a:effectLst/>
                        </a:rPr>
                        <a:t>46.00</a:t>
                      </a:r>
                      <a:endParaRPr lang="en-IN" sz="1000">
                        <a:effectLst/>
                        <a:latin typeface="Google Sans Text"/>
                      </a:endParaRPr>
                    </a:p>
                  </a:txBody>
                  <a:tcPr marT="60960" marB="60960" anchor="ctr"/>
                </a:tc>
                <a:extLst>
                  <a:ext uri="{0D108BD9-81ED-4DB2-BD59-A6C34878D82A}">
                    <a16:rowId xmlns:a16="http://schemas.microsoft.com/office/drawing/2014/main" val="1393818532"/>
                  </a:ext>
                </a:extLst>
              </a:tr>
              <a:tr h="183164">
                <a:tc>
                  <a:txBody>
                    <a:bodyPr/>
                    <a:lstStyle/>
                    <a:p>
                      <a:r>
                        <a:rPr lang="en-IN" sz="1000">
                          <a:effectLst/>
                        </a:rPr>
                        <a:t>ASSAM</a:t>
                      </a:r>
                      <a:endParaRPr lang="en-IN" sz="1000">
                        <a:effectLst/>
                        <a:latin typeface="Google Sans Text"/>
                      </a:endParaRPr>
                    </a:p>
                  </a:txBody>
                  <a:tcPr marT="60960" marB="60960" anchor="ctr"/>
                </a:tc>
                <a:tc>
                  <a:txBody>
                    <a:bodyPr/>
                    <a:lstStyle/>
                    <a:p>
                      <a:r>
                        <a:rPr lang="en-IN" sz="1000">
                          <a:effectLst/>
                        </a:rPr>
                        <a:t>44.00</a:t>
                      </a:r>
                      <a:endParaRPr lang="en-IN" sz="1000">
                        <a:effectLst/>
                        <a:latin typeface="Google Sans Text"/>
                      </a:endParaRPr>
                    </a:p>
                  </a:txBody>
                  <a:tcPr marT="60960" marB="60960" anchor="ctr"/>
                </a:tc>
                <a:extLst>
                  <a:ext uri="{0D108BD9-81ED-4DB2-BD59-A6C34878D82A}">
                    <a16:rowId xmlns:a16="http://schemas.microsoft.com/office/drawing/2014/main" val="237970928"/>
                  </a:ext>
                </a:extLst>
              </a:tr>
              <a:tr h="183164">
                <a:tc>
                  <a:txBody>
                    <a:bodyPr/>
                    <a:lstStyle/>
                    <a:p>
                      <a:r>
                        <a:rPr lang="en-IN" sz="1000" dirty="0">
                          <a:effectLst/>
                        </a:rPr>
                        <a:t>WEST BENGAL</a:t>
                      </a:r>
                      <a:endParaRPr lang="en-IN" sz="1000" dirty="0">
                        <a:effectLst/>
                        <a:latin typeface="Google Sans Text"/>
                      </a:endParaRPr>
                    </a:p>
                  </a:txBody>
                  <a:tcPr marT="60960" marB="60960" anchor="ctr"/>
                </a:tc>
                <a:tc>
                  <a:txBody>
                    <a:bodyPr/>
                    <a:lstStyle/>
                    <a:p>
                      <a:r>
                        <a:rPr lang="en-IN" sz="1000">
                          <a:effectLst/>
                        </a:rPr>
                        <a:t>39.00</a:t>
                      </a:r>
                      <a:endParaRPr lang="en-IN" sz="1000">
                        <a:effectLst/>
                        <a:latin typeface="Google Sans Text"/>
                      </a:endParaRPr>
                    </a:p>
                  </a:txBody>
                  <a:tcPr marT="60960" marB="60960" anchor="ctr"/>
                </a:tc>
                <a:extLst>
                  <a:ext uri="{0D108BD9-81ED-4DB2-BD59-A6C34878D82A}">
                    <a16:rowId xmlns:a16="http://schemas.microsoft.com/office/drawing/2014/main" val="2960200013"/>
                  </a:ext>
                </a:extLst>
              </a:tr>
              <a:tr h="183164">
                <a:tc>
                  <a:txBody>
                    <a:bodyPr/>
                    <a:lstStyle/>
                    <a:p>
                      <a:r>
                        <a:rPr lang="en-IN" sz="1000" dirty="0">
                          <a:effectLst/>
                        </a:rPr>
                        <a:t>CHATTISGARH</a:t>
                      </a:r>
                      <a:endParaRPr lang="en-IN" sz="1000" dirty="0">
                        <a:effectLst/>
                        <a:latin typeface="Google Sans Text"/>
                      </a:endParaRPr>
                    </a:p>
                  </a:txBody>
                  <a:tcPr marT="60960" marB="60960" anchor="ctr"/>
                </a:tc>
                <a:tc>
                  <a:txBody>
                    <a:bodyPr/>
                    <a:lstStyle/>
                    <a:p>
                      <a:r>
                        <a:rPr lang="en-IN" sz="1000" dirty="0">
                          <a:effectLst/>
                        </a:rPr>
                        <a:t>30.00</a:t>
                      </a:r>
                      <a:endParaRPr lang="en-IN" sz="1000" dirty="0">
                        <a:effectLst/>
                        <a:latin typeface="Google Sans Text"/>
                      </a:endParaRPr>
                    </a:p>
                  </a:txBody>
                  <a:tcPr marT="60960" marB="60960" anchor="ctr"/>
                </a:tc>
                <a:extLst>
                  <a:ext uri="{0D108BD9-81ED-4DB2-BD59-A6C34878D82A}">
                    <a16:rowId xmlns:a16="http://schemas.microsoft.com/office/drawing/2014/main" val="2911186500"/>
                  </a:ext>
                </a:extLst>
              </a:tr>
            </a:tbl>
          </a:graphicData>
        </a:graphic>
      </p:graphicFrame>
      <p:graphicFrame>
        <p:nvGraphicFramePr>
          <p:cNvPr id="6" name="Table 5">
            <a:extLst>
              <a:ext uri="{FF2B5EF4-FFF2-40B4-BE49-F238E27FC236}">
                <a16:creationId xmlns:a16="http://schemas.microsoft.com/office/drawing/2014/main" id="{6583727A-1AFA-948F-A9B8-4B4F898E6A4F}"/>
              </a:ext>
            </a:extLst>
          </p:cNvPr>
          <p:cNvGraphicFramePr>
            <a:graphicFrameLocks noGrp="1"/>
          </p:cNvGraphicFramePr>
          <p:nvPr>
            <p:extLst>
              <p:ext uri="{D42A27DB-BD31-4B8C-83A1-F6EECF244321}">
                <p14:modId xmlns:p14="http://schemas.microsoft.com/office/powerpoint/2010/main" val="2015864533"/>
              </p:ext>
            </p:extLst>
          </p:nvPr>
        </p:nvGraphicFramePr>
        <p:xfrm>
          <a:off x="4589642" y="2375473"/>
          <a:ext cx="3563322" cy="2194560"/>
        </p:xfrm>
        <a:graphic>
          <a:graphicData uri="http://schemas.openxmlformats.org/drawingml/2006/table">
            <a:tbl>
              <a:tblPr firstRow="1">
                <a:tableStyleId>{69C7853C-536D-4A76-A0AE-DD22124D55A5}</a:tableStyleId>
              </a:tblPr>
              <a:tblGrid>
                <a:gridCol w="1773851">
                  <a:extLst>
                    <a:ext uri="{9D8B030D-6E8A-4147-A177-3AD203B41FA5}">
                      <a16:colId xmlns:a16="http://schemas.microsoft.com/office/drawing/2014/main" val="694295068"/>
                    </a:ext>
                  </a:extLst>
                </a:gridCol>
                <a:gridCol w="1789471">
                  <a:extLst>
                    <a:ext uri="{9D8B030D-6E8A-4147-A177-3AD203B41FA5}">
                      <a16:colId xmlns:a16="http://schemas.microsoft.com/office/drawing/2014/main" val="975573574"/>
                    </a:ext>
                  </a:extLst>
                </a:gridCol>
              </a:tblGrid>
              <a:tr h="240153">
                <a:tc>
                  <a:txBody>
                    <a:bodyPr/>
                    <a:lstStyle/>
                    <a:p>
                      <a:r>
                        <a:rPr lang="en-IN" sz="1000" b="1" dirty="0">
                          <a:solidFill>
                            <a:schemeClr val="tx1"/>
                          </a:solidFill>
                          <a:effectLst/>
                        </a:rPr>
                        <a:t>Purpose Category</a:t>
                      </a:r>
                      <a:endParaRPr lang="en-IN" sz="1000" dirty="0">
                        <a:solidFill>
                          <a:schemeClr val="tx1"/>
                        </a:solidFill>
                        <a:effectLst/>
                        <a:latin typeface="Google Sans Text"/>
                      </a:endParaRPr>
                    </a:p>
                  </a:txBody>
                  <a:tcPr marT="60960" marB="60960" anchor="ctr"/>
                </a:tc>
                <a:tc>
                  <a:txBody>
                    <a:bodyPr/>
                    <a:lstStyle/>
                    <a:p>
                      <a:r>
                        <a:rPr lang="en-IN" sz="1000" b="1" dirty="0" err="1">
                          <a:solidFill>
                            <a:schemeClr val="tx1"/>
                          </a:solidFill>
                          <a:effectLst/>
                        </a:rPr>
                        <a:t>Funded_Loan_M</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466376812"/>
                  </a:ext>
                </a:extLst>
              </a:tr>
              <a:tr h="240153">
                <a:tc>
                  <a:txBody>
                    <a:bodyPr/>
                    <a:lstStyle/>
                    <a:p>
                      <a:r>
                        <a:rPr lang="en-IN" sz="1000" dirty="0">
                          <a:solidFill>
                            <a:schemeClr val="tx1"/>
                          </a:solidFill>
                          <a:effectLst/>
                        </a:rPr>
                        <a:t>Business Loan</a:t>
                      </a:r>
                      <a:endParaRPr lang="en-IN" sz="1000" dirty="0">
                        <a:solidFill>
                          <a:schemeClr val="tx1"/>
                        </a:solidFill>
                        <a:effectLst/>
                        <a:latin typeface="Google Sans Text"/>
                      </a:endParaRPr>
                    </a:p>
                  </a:txBody>
                  <a:tcPr marT="60960" marB="60960" anchor="ctr"/>
                </a:tc>
                <a:tc>
                  <a:txBody>
                    <a:bodyPr/>
                    <a:lstStyle/>
                    <a:p>
                      <a:r>
                        <a:rPr lang="en-IN" sz="1000">
                          <a:solidFill>
                            <a:schemeClr val="tx1"/>
                          </a:solidFill>
                          <a:effectLst/>
                        </a:rPr>
                        <a:t>327.00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3953828519"/>
                  </a:ext>
                </a:extLst>
              </a:tr>
              <a:tr h="240153">
                <a:tc>
                  <a:txBody>
                    <a:bodyPr/>
                    <a:lstStyle/>
                    <a:p>
                      <a:r>
                        <a:rPr lang="en-IN" sz="1000" dirty="0">
                          <a:solidFill>
                            <a:schemeClr val="tx1"/>
                          </a:solidFill>
                          <a:effectLst/>
                        </a:rPr>
                        <a:t>Home Loan</a:t>
                      </a:r>
                      <a:endParaRPr lang="en-IN" sz="1000" dirty="0">
                        <a:solidFill>
                          <a:schemeClr val="tx1"/>
                        </a:solidFill>
                        <a:effectLst/>
                        <a:latin typeface="Google Sans Text"/>
                      </a:endParaRPr>
                    </a:p>
                  </a:txBody>
                  <a:tcPr marT="60960" marB="60960" anchor="ctr"/>
                </a:tc>
                <a:tc>
                  <a:txBody>
                    <a:bodyPr/>
                    <a:lstStyle/>
                    <a:p>
                      <a:r>
                        <a:rPr lang="en-IN" sz="1000">
                          <a:solidFill>
                            <a:schemeClr val="tx1"/>
                          </a:solidFill>
                          <a:effectLst/>
                        </a:rPr>
                        <a:t>272.00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522754595"/>
                  </a:ext>
                </a:extLst>
              </a:tr>
              <a:tr h="240153">
                <a:tc>
                  <a:txBody>
                    <a:bodyPr/>
                    <a:lstStyle/>
                    <a:p>
                      <a:r>
                        <a:rPr lang="en-IN" sz="1000">
                          <a:solidFill>
                            <a:schemeClr val="tx1"/>
                          </a:solidFill>
                          <a:effectLst/>
                        </a:rPr>
                        <a:t>Others</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38.00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568804099"/>
                  </a:ext>
                </a:extLst>
              </a:tr>
              <a:tr h="240153">
                <a:tc>
                  <a:txBody>
                    <a:bodyPr/>
                    <a:lstStyle/>
                    <a:p>
                      <a:r>
                        <a:rPr lang="en-IN" sz="1000" dirty="0">
                          <a:solidFill>
                            <a:schemeClr val="tx1"/>
                          </a:solidFill>
                          <a:effectLst/>
                        </a:rPr>
                        <a:t>Agriculture Loan</a:t>
                      </a:r>
                      <a:endParaRPr lang="en-IN" sz="1000" dirty="0">
                        <a:solidFill>
                          <a:schemeClr val="tx1"/>
                        </a:solidFill>
                        <a:effectLst/>
                        <a:latin typeface="Google Sans Text"/>
                      </a:endParaRPr>
                    </a:p>
                  </a:txBody>
                  <a:tcPr marT="60960" marB="60960" anchor="ctr"/>
                </a:tc>
                <a:tc>
                  <a:txBody>
                    <a:bodyPr/>
                    <a:lstStyle/>
                    <a:p>
                      <a:r>
                        <a:rPr lang="en-IN" sz="1000">
                          <a:solidFill>
                            <a:schemeClr val="tx1"/>
                          </a:solidFill>
                          <a:effectLst/>
                        </a:rPr>
                        <a:t>37.00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596099298"/>
                  </a:ext>
                </a:extLst>
              </a:tr>
              <a:tr h="240153">
                <a:tc>
                  <a:txBody>
                    <a:bodyPr/>
                    <a:lstStyle/>
                    <a:p>
                      <a:r>
                        <a:rPr lang="en-IN" sz="1000">
                          <a:solidFill>
                            <a:schemeClr val="tx1"/>
                          </a:solidFill>
                          <a:effectLst/>
                        </a:rPr>
                        <a:t>Personal Loan</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25.00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387518965"/>
                  </a:ext>
                </a:extLst>
              </a:tr>
              <a:tr h="240153">
                <a:tc>
                  <a:txBody>
                    <a:bodyPr/>
                    <a:lstStyle/>
                    <a:p>
                      <a:r>
                        <a:rPr lang="en-IN" sz="1000" dirty="0">
                          <a:solidFill>
                            <a:schemeClr val="tx1"/>
                          </a:solidFill>
                          <a:effectLst/>
                        </a:rPr>
                        <a:t>Emergency Loan</a:t>
                      </a:r>
                      <a:endParaRPr lang="en-IN" sz="1000" dirty="0">
                        <a:solidFill>
                          <a:schemeClr val="tx1"/>
                        </a:solidFill>
                        <a:effectLst/>
                        <a:latin typeface="Google Sans Text"/>
                      </a:endParaRPr>
                    </a:p>
                  </a:txBody>
                  <a:tcPr marT="60960" marB="60960" anchor="ctr"/>
                </a:tc>
                <a:tc>
                  <a:txBody>
                    <a:bodyPr/>
                    <a:lstStyle/>
                    <a:p>
                      <a:r>
                        <a:rPr lang="en-IN" sz="1000">
                          <a:solidFill>
                            <a:schemeClr val="tx1"/>
                          </a:solidFill>
                          <a:effectLst/>
                        </a:rPr>
                        <a:t>24.00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238814735"/>
                  </a:ext>
                </a:extLst>
              </a:tr>
              <a:tr h="240153">
                <a:tc>
                  <a:txBody>
                    <a:bodyPr/>
                    <a:lstStyle/>
                    <a:p>
                      <a:r>
                        <a:rPr lang="en-IN" sz="1000">
                          <a:solidFill>
                            <a:schemeClr val="tx1"/>
                          </a:solidFill>
                          <a:effectLst/>
                        </a:rPr>
                        <a:t>Festival Loan</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11.00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3573208910"/>
                  </a:ext>
                </a:extLst>
              </a:tr>
            </a:tbl>
          </a:graphicData>
        </a:graphic>
      </p:graphicFrame>
    </p:spTree>
    <p:extLst>
      <p:ext uri="{BB962C8B-B14F-4D97-AF65-F5344CB8AC3E}">
        <p14:creationId xmlns:p14="http://schemas.microsoft.com/office/powerpoint/2010/main" val="1277310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0FA26-680C-0B68-D303-C6ABF5C5CF07}"/>
              </a:ext>
            </a:extLst>
          </p:cNvPr>
          <p:cNvSpPr txBox="1"/>
          <p:nvPr/>
        </p:nvSpPr>
        <p:spPr>
          <a:xfrm>
            <a:off x="314632" y="431046"/>
            <a:ext cx="6518787" cy="6001643"/>
          </a:xfrm>
          <a:prstGeom prst="rect">
            <a:avLst/>
          </a:prstGeom>
          <a:noFill/>
        </p:spPr>
        <p:txBody>
          <a:bodyPr wrap="square" rtlCol="0">
            <a:spAutoFit/>
          </a:bodyPr>
          <a:lstStyle/>
          <a:p>
            <a:pPr marL="285750" indent="-285750">
              <a:buFont typeface="Wingdings" panose="05000000000000000000" pitchFamily="2" charset="2"/>
              <a:buChar char="Ø"/>
            </a:pPr>
            <a:r>
              <a:rPr lang="en-US" sz="1600" b="1" u="sng" dirty="0">
                <a:solidFill>
                  <a:schemeClr val="accent2">
                    <a:lumMod val="75000"/>
                  </a:schemeClr>
                </a:solidFill>
                <a:latin typeface="Google Sans Text"/>
              </a:rPr>
              <a:t>Disbursement Trend (Year-Wise)</a:t>
            </a:r>
          </a:p>
          <a:p>
            <a:r>
              <a:rPr lang="en-US" sz="1600" dirty="0">
                <a:latin typeface="Google Sans Text"/>
              </a:rPr>
              <a:t>SELECT</a:t>
            </a:r>
          </a:p>
          <a:p>
            <a:r>
              <a:rPr lang="en-US" sz="1600" dirty="0">
                <a:latin typeface="Google Sans Text"/>
              </a:rPr>
              <a:t>    YEAR(STR_TO_DATE(`Disbursement Date`, '%d-%m-%Y')) AS Year_,</a:t>
            </a:r>
          </a:p>
          <a:p>
            <a:r>
              <a:rPr lang="en-US" sz="1600" dirty="0">
                <a:latin typeface="Google Sans Text"/>
              </a:rPr>
              <a:t>    ROUND(SUM(`Funded Amount`) / 1000000, 1) AS </a:t>
            </a:r>
            <a:r>
              <a:rPr lang="en-US" sz="1600" dirty="0" err="1">
                <a:latin typeface="Google Sans Text"/>
              </a:rPr>
              <a:t>Funded_Amount_M</a:t>
            </a:r>
            <a:endParaRPr lang="en-US" sz="1600" dirty="0">
              <a:latin typeface="Google Sans Text"/>
            </a:endParaRPr>
          </a:p>
          <a:p>
            <a:r>
              <a:rPr lang="en-US" sz="1600" dirty="0">
                <a:latin typeface="Google Sans Text"/>
              </a:rPr>
              <a:t>FROM </a:t>
            </a:r>
            <a:r>
              <a:rPr lang="en-US" sz="1600" dirty="0" err="1">
                <a:latin typeface="Google Sans Text"/>
              </a:rPr>
              <a:t>banking_data</a:t>
            </a:r>
            <a:endParaRPr lang="en-US" sz="1600" dirty="0">
              <a:latin typeface="Google Sans Text"/>
            </a:endParaRPr>
          </a:p>
          <a:p>
            <a:r>
              <a:rPr lang="en-US" sz="1600" dirty="0">
                <a:latin typeface="Google Sans Text"/>
              </a:rPr>
              <a:t>GROUP BY Year_</a:t>
            </a:r>
          </a:p>
          <a:p>
            <a:r>
              <a:rPr lang="en-US" sz="1600" dirty="0">
                <a:latin typeface="Google Sans Text"/>
              </a:rPr>
              <a:t>ORDER BY Year_;</a:t>
            </a:r>
          </a:p>
          <a:p>
            <a:endParaRPr lang="en-US" sz="1600" dirty="0">
              <a:latin typeface="Google Sans Text"/>
            </a:endParaRP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a:solidFill>
                  <a:schemeClr val="accent2">
                    <a:lumMod val="75000"/>
                  </a:schemeClr>
                </a:solidFill>
                <a:latin typeface="Google Sans Text"/>
              </a:rPr>
              <a:t>Loan Status-Wise Loan</a:t>
            </a:r>
          </a:p>
          <a:p>
            <a:r>
              <a:rPr lang="en-US" sz="1600" dirty="0">
                <a:latin typeface="Google Sans Text"/>
              </a:rPr>
              <a:t>SELECT `Loan Status`, COUNT(`Account ID`) AS </a:t>
            </a:r>
            <a:r>
              <a:rPr lang="en-US" sz="1600" dirty="0" err="1">
                <a:latin typeface="Google Sans Text"/>
              </a:rPr>
              <a:t>Loan_Count</a:t>
            </a:r>
            <a:endParaRPr lang="en-US" sz="1600" dirty="0">
              <a:latin typeface="Google Sans Text"/>
            </a:endParaRPr>
          </a:p>
          <a:p>
            <a:r>
              <a:rPr lang="en-US" sz="1600" dirty="0">
                <a:latin typeface="Google Sans Text"/>
              </a:rPr>
              <a:t>FROM </a:t>
            </a:r>
            <a:r>
              <a:rPr lang="en-US" sz="1600" dirty="0" err="1">
                <a:latin typeface="Google Sans Text"/>
              </a:rPr>
              <a:t>banking_data</a:t>
            </a:r>
            <a:endParaRPr lang="en-US" sz="1600" dirty="0">
              <a:latin typeface="Google Sans Text"/>
            </a:endParaRPr>
          </a:p>
          <a:p>
            <a:r>
              <a:rPr lang="en-US" sz="1600" dirty="0">
                <a:latin typeface="Google Sans Text"/>
              </a:rPr>
              <a:t>GROUP BY `Loan Status`</a:t>
            </a:r>
          </a:p>
          <a:p>
            <a:r>
              <a:rPr lang="en-US" sz="1600" dirty="0">
                <a:latin typeface="Google Sans Text"/>
              </a:rPr>
              <a:t>ORDER BY </a:t>
            </a:r>
            <a:r>
              <a:rPr lang="en-US" sz="1600" dirty="0" err="1">
                <a:latin typeface="Google Sans Text"/>
              </a:rPr>
              <a:t>Loan_Count</a:t>
            </a:r>
            <a:r>
              <a:rPr lang="en-US" sz="1600" dirty="0">
                <a:latin typeface="Google Sans Text"/>
              </a:rPr>
              <a:t> DESC;</a:t>
            </a:r>
          </a:p>
          <a:p>
            <a:endParaRPr lang="en-US" sz="1600" dirty="0">
              <a:latin typeface="Google Sans Text"/>
            </a:endParaRPr>
          </a:p>
          <a:p>
            <a:endParaRPr lang="en-US" sz="1600" dirty="0">
              <a:latin typeface="Google Sans Text"/>
            </a:endParaRPr>
          </a:p>
          <a:p>
            <a:endParaRPr lang="en-US" sz="1600" dirty="0">
              <a:latin typeface="Google Sans Text"/>
            </a:endParaRPr>
          </a:p>
          <a:p>
            <a:pPr marL="285750" indent="-285750">
              <a:buFont typeface="Wingdings" panose="05000000000000000000" pitchFamily="2" charset="2"/>
              <a:buChar char="Ø"/>
            </a:pPr>
            <a:r>
              <a:rPr lang="en-US" sz="1600" b="1" u="sng" dirty="0">
                <a:solidFill>
                  <a:schemeClr val="accent2">
                    <a:lumMod val="75000"/>
                  </a:schemeClr>
                </a:solidFill>
                <a:latin typeface="Google Sans Text"/>
              </a:rPr>
              <a:t> Loan Maturity</a:t>
            </a:r>
          </a:p>
          <a:p>
            <a:r>
              <a:rPr lang="en-US" sz="1600" dirty="0">
                <a:latin typeface="Google Sans Text"/>
              </a:rPr>
              <a:t>SELECT Term,</a:t>
            </a:r>
          </a:p>
          <a:p>
            <a:r>
              <a:rPr lang="en-US" sz="1600" dirty="0">
                <a:latin typeface="Google Sans Text"/>
              </a:rPr>
              <a:t>    ROUND(SUM(`Funded Amount`)/1000000,2) AS </a:t>
            </a:r>
            <a:r>
              <a:rPr lang="en-US" sz="1600" dirty="0" err="1">
                <a:latin typeface="Google Sans Text"/>
              </a:rPr>
              <a:t>Funded_Loan_M</a:t>
            </a:r>
            <a:endParaRPr lang="en-US" sz="1600" dirty="0">
              <a:latin typeface="Google Sans Text"/>
            </a:endParaRPr>
          </a:p>
          <a:p>
            <a:r>
              <a:rPr lang="en-US" sz="1600" dirty="0">
                <a:latin typeface="Google Sans Text"/>
              </a:rPr>
              <a:t>FROM </a:t>
            </a:r>
            <a:r>
              <a:rPr lang="en-US" sz="1600" dirty="0" err="1">
                <a:latin typeface="Google Sans Text"/>
              </a:rPr>
              <a:t>banking_data</a:t>
            </a:r>
            <a:endParaRPr lang="en-US" sz="1600" dirty="0">
              <a:latin typeface="Google Sans Text"/>
            </a:endParaRPr>
          </a:p>
          <a:p>
            <a:r>
              <a:rPr lang="en-US" sz="1600" dirty="0">
                <a:latin typeface="Google Sans Text"/>
              </a:rPr>
              <a:t>GROUP BY Term</a:t>
            </a:r>
          </a:p>
          <a:p>
            <a:r>
              <a:rPr lang="en-US" sz="1600" dirty="0">
                <a:latin typeface="Google Sans Text"/>
              </a:rPr>
              <a:t>ORDER BY </a:t>
            </a:r>
            <a:r>
              <a:rPr lang="en-US" sz="1600" dirty="0" err="1">
                <a:latin typeface="Google Sans Text"/>
              </a:rPr>
              <a:t>Funded_Loan_M</a:t>
            </a:r>
            <a:r>
              <a:rPr lang="en-US" sz="1600" dirty="0">
                <a:latin typeface="Google Sans Text"/>
              </a:rPr>
              <a:t> DESC;</a:t>
            </a:r>
          </a:p>
        </p:txBody>
      </p:sp>
      <p:graphicFrame>
        <p:nvGraphicFramePr>
          <p:cNvPr id="2" name="Table 1">
            <a:extLst>
              <a:ext uri="{FF2B5EF4-FFF2-40B4-BE49-F238E27FC236}">
                <a16:creationId xmlns:a16="http://schemas.microsoft.com/office/drawing/2014/main" id="{EC652BF4-8DC3-1C93-17FB-D4B8E95FA193}"/>
              </a:ext>
            </a:extLst>
          </p:cNvPr>
          <p:cNvGraphicFramePr>
            <a:graphicFrameLocks noGrp="1"/>
          </p:cNvGraphicFramePr>
          <p:nvPr>
            <p:extLst>
              <p:ext uri="{D42A27DB-BD31-4B8C-83A1-F6EECF244321}">
                <p14:modId xmlns:p14="http://schemas.microsoft.com/office/powerpoint/2010/main" val="4220692250"/>
              </p:ext>
            </p:extLst>
          </p:nvPr>
        </p:nvGraphicFramePr>
        <p:xfrm>
          <a:off x="7364360" y="328997"/>
          <a:ext cx="4021396" cy="1430975"/>
        </p:xfrm>
        <a:graphic>
          <a:graphicData uri="http://schemas.openxmlformats.org/drawingml/2006/table">
            <a:tbl>
              <a:tblPr firstRow="1">
                <a:tableStyleId>{69C7853C-536D-4A76-A0AE-DD22124D55A5}</a:tableStyleId>
              </a:tblPr>
              <a:tblGrid>
                <a:gridCol w="2010698">
                  <a:extLst>
                    <a:ext uri="{9D8B030D-6E8A-4147-A177-3AD203B41FA5}">
                      <a16:colId xmlns:a16="http://schemas.microsoft.com/office/drawing/2014/main" val="3792841100"/>
                    </a:ext>
                  </a:extLst>
                </a:gridCol>
                <a:gridCol w="2010698">
                  <a:extLst>
                    <a:ext uri="{9D8B030D-6E8A-4147-A177-3AD203B41FA5}">
                      <a16:colId xmlns:a16="http://schemas.microsoft.com/office/drawing/2014/main" val="360163436"/>
                    </a:ext>
                  </a:extLst>
                </a:gridCol>
              </a:tblGrid>
              <a:tr h="286195">
                <a:tc>
                  <a:txBody>
                    <a:bodyPr/>
                    <a:lstStyle/>
                    <a:p>
                      <a:r>
                        <a:rPr lang="en-IN" sz="1000" b="1">
                          <a:solidFill>
                            <a:schemeClr val="tx1"/>
                          </a:solidFill>
                          <a:effectLst/>
                        </a:rPr>
                        <a:t>Year_</a:t>
                      </a:r>
                      <a:endParaRPr lang="en-IN" sz="1000">
                        <a:solidFill>
                          <a:schemeClr val="tx1"/>
                        </a:solidFill>
                        <a:effectLst/>
                        <a:latin typeface="Google Sans Text"/>
                      </a:endParaRPr>
                    </a:p>
                  </a:txBody>
                  <a:tcPr marT="60960" marB="60960" anchor="ctr"/>
                </a:tc>
                <a:tc>
                  <a:txBody>
                    <a:bodyPr/>
                    <a:lstStyle/>
                    <a:p>
                      <a:r>
                        <a:rPr lang="en-IN" sz="1000" b="1">
                          <a:solidFill>
                            <a:schemeClr val="tx1"/>
                          </a:solidFill>
                          <a:effectLst/>
                        </a:rPr>
                        <a:t>Funded_Amount_M</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3122686632"/>
                  </a:ext>
                </a:extLst>
              </a:tr>
              <a:tr h="286195">
                <a:tc>
                  <a:txBody>
                    <a:bodyPr/>
                    <a:lstStyle/>
                    <a:p>
                      <a:r>
                        <a:rPr lang="en-IN" sz="1000">
                          <a:solidFill>
                            <a:schemeClr val="tx1"/>
                          </a:solidFill>
                          <a:effectLst/>
                        </a:rPr>
                        <a:t>2017</a:t>
                      </a:r>
                      <a:endParaRPr lang="en-IN" sz="1000">
                        <a:solidFill>
                          <a:schemeClr val="tx1"/>
                        </a:solidFill>
                        <a:effectLst/>
                        <a:latin typeface="Google Sans Text"/>
                      </a:endParaRPr>
                    </a:p>
                  </a:txBody>
                  <a:tcPr marT="60960" marB="60960" anchor="ctr"/>
                </a:tc>
                <a:tc>
                  <a:txBody>
                    <a:bodyPr/>
                    <a:lstStyle/>
                    <a:p>
                      <a:r>
                        <a:rPr lang="en-IN" sz="1000">
                          <a:solidFill>
                            <a:schemeClr val="tx1"/>
                          </a:solidFill>
                          <a:effectLst/>
                        </a:rPr>
                        <a:t>30.0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1968114277"/>
                  </a:ext>
                </a:extLst>
              </a:tr>
              <a:tr h="286195">
                <a:tc>
                  <a:txBody>
                    <a:bodyPr/>
                    <a:lstStyle/>
                    <a:p>
                      <a:r>
                        <a:rPr lang="en-IN" sz="1000">
                          <a:solidFill>
                            <a:schemeClr val="tx1"/>
                          </a:solidFill>
                          <a:effectLst/>
                        </a:rPr>
                        <a:t>2018</a:t>
                      </a:r>
                      <a:endParaRPr lang="en-IN" sz="1000">
                        <a:solidFill>
                          <a:schemeClr val="tx1"/>
                        </a:solidFill>
                        <a:effectLst/>
                        <a:latin typeface="Google Sans Text"/>
                      </a:endParaRPr>
                    </a:p>
                  </a:txBody>
                  <a:tcPr marT="60960" marB="60960" anchor="ctr"/>
                </a:tc>
                <a:tc>
                  <a:txBody>
                    <a:bodyPr/>
                    <a:lstStyle/>
                    <a:p>
                      <a:r>
                        <a:rPr lang="en-IN" sz="1000">
                          <a:solidFill>
                            <a:schemeClr val="tx1"/>
                          </a:solidFill>
                          <a:effectLst/>
                        </a:rPr>
                        <a:t>224.0</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2443514102"/>
                  </a:ext>
                </a:extLst>
              </a:tr>
              <a:tr h="286195">
                <a:tc>
                  <a:txBody>
                    <a:bodyPr/>
                    <a:lstStyle/>
                    <a:p>
                      <a:r>
                        <a:rPr lang="en-IN" sz="1000">
                          <a:solidFill>
                            <a:schemeClr val="tx1"/>
                          </a:solidFill>
                          <a:effectLst/>
                        </a:rPr>
                        <a:t>2019</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418.0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2446769161"/>
                  </a:ext>
                </a:extLst>
              </a:tr>
              <a:tr h="286195">
                <a:tc>
                  <a:txBody>
                    <a:bodyPr/>
                    <a:lstStyle/>
                    <a:p>
                      <a:r>
                        <a:rPr lang="en-IN" sz="1000">
                          <a:solidFill>
                            <a:schemeClr val="tx1"/>
                          </a:solidFill>
                          <a:effectLst/>
                        </a:rPr>
                        <a:t>2020</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60.0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2609171959"/>
                  </a:ext>
                </a:extLst>
              </a:tr>
            </a:tbl>
          </a:graphicData>
        </a:graphic>
      </p:graphicFrame>
      <p:graphicFrame>
        <p:nvGraphicFramePr>
          <p:cNvPr id="4" name="Table 3">
            <a:extLst>
              <a:ext uri="{FF2B5EF4-FFF2-40B4-BE49-F238E27FC236}">
                <a16:creationId xmlns:a16="http://schemas.microsoft.com/office/drawing/2014/main" id="{93FE6C8D-8DAE-B3AA-7971-FA4457EC90E1}"/>
              </a:ext>
            </a:extLst>
          </p:cNvPr>
          <p:cNvGraphicFramePr>
            <a:graphicFrameLocks noGrp="1"/>
          </p:cNvGraphicFramePr>
          <p:nvPr>
            <p:extLst>
              <p:ext uri="{D42A27DB-BD31-4B8C-83A1-F6EECF244321}">
                <p14:modId xmlns:p14="http://schemas.microsoft.com/office/powerpoint/2010/main" val="699630523"/>
              </p:ext>
            </p:extLst>
          </p:nvPr>
        </p:nvGraphicFramePr>
        <p:xfrm>
          <a:off x="8042786" y="5407741"/>
          <a:ext cx="2741460" cy="1045254"/>
        </p:xfrm>
        <a:graphic>
          <a:graphicData uri="http://schemas.openxmlformats.org/drawingml/2006/table">
            <a:tbl>
              <a:tblPr firstRow="1">
                <a:tableStyleId>{69C7853C-536D-4A76-A0AE-DD22124D55A5}</a:tableStyleId>
              </a:tblPr>
              <a:tblGrid>
                <a:gridCol w="1370730">
                  <a:extLst>
                    <a:ext uri="{9D8B030D-6E8A-4147-A177-3AD203B41FA5}">
                      <a16:colId xmlns:a16="http://schemas.microsoft.com/office/drawing/2014/main" val="318974778"/>
                    </a:ext>
                  </a:extLst>
                </a:gridCol>
                <a:gridCol w="1370730">
                  <a:extLst>
                    <a:ext uri="{9D8B030D-6E8A-4147-A177-3AD203B41FA5}">
                      <a16:colId xmlns:a16="http://schemas.microsoft.com/office/drawing/2014/main" val="2219674686"/>
                    </a:ext>
                  </a:extLst>
                </a:gridCol>
              </a:tblGrid>
              <a:tr h="348418">
                <a:tc>
                  <a:txBody>
                    <a:bodyPr/>
                    <a:lstStyle/>
                    <a:p>
                      <a:r>
                        <a:rPr lang="en-IN" sz="1000" b="1" dirty="0">
                          <a:solidFill>
                            <a:schemeClr val="tx1"/>
                          </a:solidFill>
                          <a:effectLst/>
                        </a:rPr>
                        <a:t>Term</a:t>
                      </a:r>
                      <a:endParaRPr lang="en-IN" sz="1000" dirty="0">
                        <a:solidFill>
                          <a:schemeClr val="tx1"/>
                        </a:solidFill>
                        <a:effectLst/>
                        <a:latin typeface="Google Sans Text"/>
                      </a:endParaRPr>
                    </a:p>
                  </a:txBody>
                  <a:tcPr marT="60960" marB="60960" anchor="ctr"/>
                </a:tc>
                <a:tc>
                  <a:txBody>
                    <a:bodyPr/>
                    <a:lstStyle/>
                    <a:p>
                      <a:r>
                        <a:rPr lang="en-US" sz="1000" b="1" dirty="0" err="1">
                          <a:solidFill>
                            <a:schemeClr val="tx1"/>
                          </a:solidFill>
                          <a:effectLst/>
                        </a:rPr>
                        <a:t>Funded_Loan_M</a:t>
                      </a:r>
                      <a:r>
                        <a:rPr lang="en-US" sz="1000" b="1" dirty="0">
                          <a:solidFill>
                            <a:schemeClr val="tx1"/>
                          </a:solidFill>
                          <a:effectLst/>
                        </a:rPr>
                        <a:t> </a:t>
                      </a:r>
                      <a:endParaRPr lang="en-US" sz="1000" dirty="0">
                        <a:solidFill>
                          <a:schemeClr val="tx1"/>
                        </a:solidFill>
                        <a:effectLst/>
                        <a:latin typeface="Google Sans Text"/>
                      </a:endParaRPr>
                    </a:p>
                  </a:txBody>
                  <a:tcPr marT="60960" marB="60960" anchor="ctr"/>
                </a:tc>
                <a:extLst>
                  <a:ext uri="{0D108BD9-81ED-4DB2-BD59-A6C34878D82A}">
                    <a16:rowId xmlns:a16="http://schemas.microsoft.com/office/drawing/2014/main" val="3445088717"/>
                  </a:ext>
                </a:extLst>
              </a:tr>
              <a:tr h="348418">
                <a:tc>
                  <a:txBody>
                    <a:bodyPr/>
                    <a:lstStyle/>
                    <a:p>
                      <a:r>
                        <a:rPr lang="en-IN" sz="1000" dirty="0">
                          <a:solidFill>
                            <a:schemeClr val="tx1"/>
                          </a:solidFill>
                          <a:effectLst/>
                        </a:rPr>
                        <a:t>36 months</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431.60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3148347929"/>
                  </a:ext>
                </a:extLst>
              </a:tr>
              <a:tr h="348418">
                <a:tc>
                  <a:txBody>
                    <a:bodyPr/>
                    <a:lstStyle/>
                    <a:p>
                      <a:r>
                        <a:rPr lang="en-IN" sz="1000" dirty="0">
                          <a:solidFill>
                            <a:schemeClr val="tx1"/>
                          </a:solidFill>
                          <a:effectLst/>
                        </a:rPr>
                        <a:t>60 months</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301.10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664099540"/>
                  </a:ext>
                </a:extLst>
              </a:tr>
            </a:tbl>
          </a:graphicData>
        </a:graphic>
      </p:graphicFrame>
      <p:graphicFrame>
        <p:nvGraphicFramePr>
          <p:cNvPr id="5" name="Table 4">
            <a:extLst>
              <a:ext uri="{FF2B5EF4-FFF2-40B4-BE49-F238E27FC236}">
                <a16:creationId xmlns:a16="http://schemas.microsoft.com/office/drawing/2014/main" id="{21E9CD9C-630C-C535-A7FC-D41D8F478BF9}"/>
              </a:ext>
            </a:extLst>
          </p:cNvPr>
          <p:cNvGraphicFramePr>
            <a:graphicFrameLocks noGrp="1"/>
          </p:cNvGraphicFramePr>
          <p:nvPr>
            <p:extLst>
              <p:ext uri="{D42A27DB-BD31-4B8C-83A1-F6EECF244321}">
                <p14:modId xmlns:p14="http://schemas.microsoft.com/office/powerpoint/2010/main" val="4285328357"/>
              </p:ext>
            </p:extLst>
          </p:nvPr>
        </p:nvGraphicFramePr>
        <p:xfrm>
          <a:off x="7629831" y="2208647"/>
          <a:ext cx="3528040" cy="2743200"/>
        </p:xfrm>
        <a:graphic>
          <a:graphicData uri="http://schemas.openxmlformats.org/drawingml/2006/table">
            <a:tbl>
              <a:tblPr firstRow="1">
                <a:tableStyleId>{69C7853C-536D-4A76-A0AE-DD22124D55A5}</a:tableStyleId>
              </a:tblPr>
              <a:tblGrid>
                <a:gridCol w="1758233">
                  <a:extLst>
                    <a:ext uri="{9D8B030D-6E8A-4147-A177-3AD203B41FA5}">
                      <a16:colId xmlns:a16="http://schemas.microsoft.com/office/drawing/2014/main" val="230423382"/>
                    </a:ext>
                  </a:extLst>
                </a:gridCol>
                <a:gridCol w="1769807">
                  <a:extLst>
                    <a:ext uri="{9D8B030D-6E8A-4147-A177-3AD203B41FA5}">
                      <a16:colId xmlns:a16="http://schemas.microsoft.com/office/drawing/2014/main" val="4148274738"/>
                    </a:ext>
                  </a:extLst>
                </a:gridCol>
              </a:tblGrid>
              <a:tr h="0">
                <a:tc>
                  <a:txBody>
                    <a:bodyPr/>
                    <a:lstStyle/>
                    <a:p>
                      <a:r>
                        <a:rPr lang="en-IN" sz="1000" b="1">
                          <a:solidFill>
                            <a:schemeClr val="tx1"/>
                          </a:solidFill>
                          <a:effectLst/>
                        </a:rPr>
                        <a:t>Loan Status</a:t>
                      </a:r>
                      <a:endParaRPr lang="en-IN" sz="1000">
                        <a:solidFill>
                          <a:schemeClr val="tx1"/>
                        </a:solidFill>
                        <a:effectLst/>
                        <a:latin typeface="Google Sans Text"/>
                      </a:endParaRPr>
                    </a:p>
                  </a:txBody>
                  <a:tcPr marT="60960" marB="60960" anchor="ctr"/>
                </a:tc>
                <a:tc>
                  <a:txBody>
                    <a:bodyPr/>
                    <a:lstStyle/>
                    <a:p>
                      <a:r>
                        <a:rPr lang="en-IN" sz="1000" b="1">
                          <a:solidFill>
                            <a:schemeClr val="tx1"/>
                          </a:solidFill>
                          <a:effectLst/>
                        </a:rPr>
                        <a:t>Loan_Count</a:t>
                      </a:r>
                      <a:endParaRPr lang="en-IN" sz="1000">
                        <a:solidFill>
                          <a:schemeClr val="tx1"/>
                        </a:solidFill>
                        <a:effectLst/>
                        <a:latin typeface="Google Sans Text"/>
                      </a:endParaRPr>
                    </a:p>
                  </a:txBody>
                  <a:tcPr marT="60960" marB="60960" anchor="ctr"/>
                </a:tc>
                <a:extLst>
                  <a:ext uri="{0D108BD9-81ED-4DB2-BD59-A6C34878D82A}">
                    <a16:rowId xmlns:a16="http://schemas.microsoft.com/office/drawing/2014/main" val="3623089400"/>
                  </a:ext>
                </a:extLst>
              </a:tr>
              <a:tr h="0">
                <a:tc>
                  <a:txBody>
                    <a:bodyPr/>
                    <a:lstStyle/>
                    <a:p>
                      <a:r>
                        <a:rPr lang="en-IN" sz="1000">
                          <a:solidFill>
                            <a:schemeClr val="tx1"/>
                          </a:solidFill>
                          <a:effectLst/>
                        </a:rPr>
                        <a:t>Active Loan</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36351</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2512244597"/>
                  </a:ext>
                </a:extLst>
              </a:tr>
              <a:tr h="0">
                <a:tc>
                  <a:txBody>
                    <a:bodyPr/>
                    <a:lstStyle/>
                    <a:p>
                      <a:r>
                        <a:rPr lang="en-IN" sz="1000">
                          <a:solidFill>
                            <a:schemeClr val="tx1"/>
                          </a:solidFill>
                          <a:effectLst/>
                        </a:rPr>
                        <a:t>Fully Paid</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15850</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4163576200"/>
                  </a:ext>
                </a:extLst>
              </a:tr>
              <a:tr h="0">
                <a:tc>
                  <a:txBody>
                    <a:bodyPr/>
                    <a:lstStyle/>
                    <a:p>
                      <a:r>
                        <a:rPr lang="en-IN" sz="1000">
                          <a:solidFill>
                            <a:schemeClr val="tx1"/>
                          </a:solidFill>
                          <a:effectLst/>
                        </a:rPr>
                        <a:t>Net-Off</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6252</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841253717"/>
                  </a:ext>
                </a:extLst>
              </a:tr>
              <a:tr h="0">
                <a:tc>
                  <a:txBody>
                    <a:bodyPr/>
                    <a:lstStyle/>
                    <a:p>
                      <a:r>
                        <a:rPr lang="en-IN" sz="1000">
                          <a:solidFill>
                            <a:schemeClr val="tx1"/>
                          </a:solidFill>
                          <a:effectLst/>
                        </a:rPr>
                        <a:t>Transferred</a:t>
                      </a:r>
                      <a:endParaRPr lang="en-IN" sz="100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2</a:t>
                      </a:r>
                      <a:r>
                        <a:rPr lang="en-IN" sz="1000" dirty="0">
                          <a:solidFill>
                            <a:schemeClr val="tx1"/>
                          </a:solidFill>
                          <a:effectLst/>
                          <a:latin typeface="Google Sans Text"/>
                        </a:rPr>
                        <a:t>776</a:t>
                      </a:r>
                    </a:p>
                  </a:txBody>
                  <a:tcPr marT="60960" marB="60960" anchor="ctr"/>
                </a:tc>
                <a:extLst>
                  <a:ext uri="{0D108BD9-81ED-4DB2-BD59-A6C34878D82A}">
                    <a16:rowId xmlns:a16="http://schemas.microsoft.com/office/drawing/2014/main" val="1553458105"/>
                  </a:ext>
                </a:extLst>
              </a:tr>
              <a:tr h="0">
                <a:tc>
                  <a:txBody>
                    <a:bodyPr/>
                    <a:lstStyle/>
                    <a:p>
                      <a:r>
                        <a:rPr lang="en-IN" sz="1000">
                          <a:solidFill>
                            <a:schemeClr val="tx1"/>
                          </a:solidFill>
                          <a:effectLst/>
                        </a:rPr>
                        <a:t>Paid Off</a:t>
                      </a:r>
                      <a:endParaRPr lang="en-IN" sz="1000">
                        <a:solidFill>
                          <a:schemeClr val="tx1"/>
                        </a:solidFill>
                        <a:effectLst/>
                        <a:latin typeface="Google Sans Text"/>
                      </a:endParaRPr>
                    </a:p>
                  </a:txBody>
                  <a:tcPr marT="60960" marB="60960" anchor="ctr"/>
                </a:tc>
                <a:tc>
                  <a:txBody>
                    <a:bodyPr/>
                    <a:lstStyle/>
                    <a:p>
                      <a:r>
                        <a:rPr lang="en-IN" sz="1000" dirty="0">
                          <a:solidFill>
                            <a:schemeClr val="tx1"/>
                          </a:solidFill>
                          <a:effectLst/>
                        </a:rPr>
                        <a:t>2411</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331539462"/>
                  </a:ext>
                </a:extLst>
              </a:tr>
              <a:tr h="0">
                <a:tc>
                  <a:txBody>
                    <a:bodyPr/>
                    <a:lstStyle/>
                    <a:p>
                      <a:r>
                        <a:rPr lang="en-IN" sz="1000">
                          <a:solidFill>
                            <a:schemeClr val="tx1"/>
                          </a:solidFill>
                          <a:effectLst/>
                        </a:rPr>
                        <a:t>Insurance ...</a:t>
                      </a:r>
                      <a:endParaRPr lang="en-IN" sz="100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6</a:t>
                      </a:r>
                      <a:r>
                        <a:rPr lang="en-IN" sz="1000" dirty="0">
                          <a:solidFill>
                            <a:schemeClr val="tx1"/>
                          </a:solidFill>
                          <a:effectLst/>
                          <a:latin typeface="Google Sans Text"/>
                        </a:rPr>
                        <a:t>68</a:t>
                      </a:r>
                    </a:p>
                  </a:txBody>
                  <a:tcPr marT="60960" marB="60960" anchor="ctr"/>
                </a:tc>
                <a:extLst>
                  <a:ext uri="{0D108BD9-81ED-4DB2-BD59-A6C34878D82A}">
                    <a16:rowId xmlns:a16="http://schemas.microsoft.com/office/drawing/2014/main" val="2285296548"/>
                  </a:ext>
                </a:extLst>
              </a:tr>
              <a:tr h="0">
                <a:tc>
                  <a:txBody>
                    <a:bodyPr/>
                    <a:lstStyle/>
                    <a:p>
                      <a:r>
                        <a:rPr lang="en-IN" sz="1000">
                          <a:solidFill>
                            <a:schemeClr val="tx1"/>
                          </a:solidFill>
                          <a:effectLst/>
                        </a:rPr>
                        <a:t>Cancelled</a:t>
                      </a:r>
                      <a:endParaRPr lang="en-IN" sz="100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6</a:t>
                      </a:r>
                      <a:r>
                        <a:rPr lang="en-IN" sz="1000" dirty="0">
                          <a:solidFill>
                            <a:schemeClr val="tx1"/>
                          </a:solidFill>
                          <a:effectLst/>
                          <a:latin typeface="Google Sans Text"/>
                        </a:rPr>
                        <a:t>12</a:t>
                      </a:r>
                    </a:p>
                  </a:txBody>
                  <a:tcPr marT="60960" marB="60960" anchor="ctr"/>
                </a:tc>
                <a:extLst>
                  <a:ext uri="{0D108BD9-81ED-4DB2-BD59-A6C34878D82A}">
                    <a16:rowId xmlns:a16="http://schemas.microsoft.com/office/drawing/2014/main" val="2427509812"/>
                  </a:ext>
                </a:extLst>
              </a:tr>
              <a:tr h="0">
                <a:tc>
                  <a:txBody>
                    <a:bodyPr/>
                    <a:lstStyle/>
                    <a:p>
                      <a:r>
                        <a:rPr lang="en-IN" sz="1000">
                          <a:solidFill>
                            <a:schemeClr val="tx1"/>
                          </a:solidFill>
                          <a:effectLst/>
                        </a:rPr>
                        <a:t>NPA</a:t>
                      </a:r>
                      <a:endParaRPr lang="en-IN" sz="100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5</a:t>
                      </a:r>
                      <a:r>
                        <a:rPr lang="en-IN" sz="1000" dirty="0">
                          <a:solidFill>
                            <a:schemeClr val="tx1"/>
                          </a:solidFill>
                          <a:effectLst/>
                          <a:latin typeface="Google Sans Text"/>
                        </a:rPr>
                        <a:t>30</a:t>
                      </a:r>
                    </a:p>
                  </a:txBody>
                  <a:tcPr marT="60960" marB="60960" anchor="ctr"/>
                </a:tc>
                <a:extLst>
                  <a:ext uri="{0D108BD9-81ED-4DB2-BD59-A6C34878D82A}">
                    <a16:rowId xmlns:a16="http://schemas.microsoft.com/office/drawing/2014/main" val="3517024103"/>
                  </a:ext>
                </a:extLst>
              </a:tr>
              <a:tr h="0">
                <a:tc>
                  <a:txBody>
                    <a:bodyPr/>
                    <a:lstStyle/>
                    <a:p>
                      <a:r>
                        <a:rPr lang="en-IN" sz="1000" dirty="0">
                          <a:solidFill>
                            <a:schemeClr val="tx1"/>
                          </a:solidFill>
                          <a:effectLst/>
                        </a:rPr>
                        <a:t>Write Off</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8</a:t>
                      </a:r>
                      <a:r>
                        <a:rPr lang="en-IN" sz="1000" dirty="0">
                          <a:solidFill>
                            <a:schemeClr val="tx1"/>
                          </a:solidFill>
                          <a:effectLst/>
                          <a:latin typeface="Google Sans Text"/>
                        </a:rPr>
                        <a:t>5</a:t>
                      </a:r>
                    </a:p>
                  </a:txBody>
                  <a:tcPr marT="60960" marB="60960" anchor="ctr"/>
                </a:tc>
                <a:extLst>
                  <a:ext uri="{0D108BD9-81ED-4DB2-BD59-A6C34878D82A}">
                    <a16:rowId xmlns:a16="http://schemas.microsoft.com/office/drawing/2014/main" val="1998184530"/>
                  </a:ext>
                </a:extLst>
              </a:tr>
            </a:tbl>
          </a:graphicData>
        </a:graphic>
      </p:graphicFrame>
    </p:spTree>
    <p:extLst>
      <p:ext uri="{BB962C8B-B14F-4D97-AF65-F5344CB8AC3E}">
        <p14:creationId xmlns:p14="http://schemas.microsoft.com/office/powerpoint/2010/main" val="4364164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57029"/>
            <a:ext cx="10671048" cy="473913"/>
          </a:xfrm>
          <a:noFill/>
        </p:spPr>
        <p:txBody>
          <a:bodyPr/>
          <a:lstStyle/>
          <a:p>
            <a:r>
              <a:rPr lang="en-US" sz="2400" dirty="0">
                <a:latin typeface="Times New Roman" panose="02020603050405020304" pitchFamily="18" charset="0"/>
                <a:cs typeface="Times New Roman" panose="02020603050405020304" pitchFamily="18" charset="0"/>
              </a:rPr>
              <a:t>TABLEAU DASHBOARD </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43E92E5-6F63-2CE3-A23A-C5940346FEF6}"/>
              </a:ext>
            </a:extLst>
          </p:cNvPr>
          <p:cNvPicPr>
            <a:picLocks noChangeAspect="1"/>
          </p:cNvPicPr>
          <p:nvPr/>
        </p:nvPicPr>
        <p:blipFill>
          <a:blip r:embed="rId2"/>
          <a:stretch>
            <a:fillRect/>
          </a:stretch>
        </p:blipFill>
        <p:spPr>
          <a:xfrm>
            <a:off x="501445" y="776748"/>
            <a:ext cx="11159614" cy="5653548"/>
          </a:xfrm>
          <a:prstGeom prst="rect">
            <a:avLst/>
          </a:prstGeom>
        </p:spPr>
      </p:pic>
    </p:spTree>
    <p:extLst>
      <p:ext uri="{BB962C8B-B14F-4D97-AF65-F5344CB8AC3E}">
        <p14:creationId xmlns:p14="http://schemas.microsoft.com/office/powerpoint/2010/main" val="6137070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A727F6-79B8-4001-6CB2-8654FDF9D2D7}"/>
              </a:ext>
            </a:extLst>
          </p:cNvPr>
          <p:cNvPicPr>
            <a:picLocks noChangeAspect="1"/>
          </p:cNvPicPr>
          <p:nvPr/>
        </p:nvPicPr>
        <p:blipFill>
          <a:blip r:embed="rId2"/>
          <a:stretch>
            <a:fillRect/>
          </a:stretch>
        </p:blipFill>
        <p:spPr>
          <a:xfrm>
            <a:off x="530942" y="334297"/>
            <a:ext cx="11149781" cy="6184490"/>
          </a:xfrm>
          <a:prstGeom prst="rect">
            <a:avLst/>
          </a:prstGeom>
        </p:spPr>
      </p:pic>
    </p:spTree>
    <p:extLst>
      <p:ext uri="{BB962C8B-B14F-4D97-AF65-F5344CB8AC3E}">
        <p14:creationId xmlns:p14="http://schemas.microsoft.com/office/powerpoint/2010/main" val="27679146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540774" y="580103"/>
            <a:ext cx="7631709" cy="444530"/>
          </a:xfrm>
        </p:spPr>
        <p:txBody>
          <a:bodyPr/>
          <a:lstStyle/>
          <a:p>
            <a:r>
              <a:rPr lang="en-US" sz="2600" dirty="0">
                <a:latin typeface="Times New Roman" panose="02020603050405020304" pitchFamily="18" charset="0"/>
                <a:cs typeface="Times New Roman" panose="02020603050405020304" pitchFamily="18" charset="0"/>
              </a:rPr>
              <a:t>Key Takeaways</a:t>
            </a:r>
          </a:p>
        </p:txBody>
      </p:sp>
      <p:sp>
        <p:nvSpPr>
          <p:cNvPr id="5" name="Rectangle 1">
            <a:extLst>
              <a:ext uri="{FF2B5EF4-FFF2-40B4-BE49-F238E27FC236}">
                <a16:creationId xmlns:a16="http://schemas.microsoft.com/office/drawing/2014/main" id="{8B93BC99-F9B2-925F-B6A6-43CC4A23C291}"/>
              </a:ext>
            </a:extLst>
          </p:cNvPr>
          <p:cNvSpPr>
            <a:spLocks noGrp="1" noChangeArrowheads="1"/>
          </p:cNvSpPr>
          <p:nvPr>
            <p:ph sz="half" idx="15"/>
          </p:nvPr>
        </p:nvSpPr>
        <p:spPr bwMode="auto">
          <a:xfrm>
            <a:off x="540774" y="1268523"/>
            <a:ext cx="9950246"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Strong Loan Portfolio Performance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The bank successfully funded ₹732.7M across 65,535 loan accounts, demonstrating a strong lending presence and consistent customer demand.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 Healthy Revenue Generation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Total collections reached ₹816.9M, while interest income contributed ₹155.3M, indicating effective loan recovery and sustainable profitability.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Product Performance Insights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Business Loans (₹327M) and Home Loans (₹272M) are the largest contributors to the loan portfolio, making them the most significant revenue-generating products.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Geographic Concentration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Uttar Pradesh, Punjab, and Bihar account for the highest funded loan amounts, highlighting these regions as key growth markets for the bank.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p:txBody>
      </p:sp>
    </p:spTree>
    <p:extLst>
      <p:ext uri="{BB962C8B-B14F-4D97-AF65-F5344CB8AC3E}">
        <p14:creationId xmlns:p14="http://schemas.microsoft.com/office/powerpoint/2010/main" val="17423003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540774" y="580103"/>
            <a:ext cx="7631709" cy="444530"/>
          </a:xfrm>
        </p:spPr>
        <p:txBody>
          <a:bodyPr/>
          <a:lstStyle/>
          <a:p>
            <a:r>
              <a:rPr lang="en-US" sz="2600" dirty="0">
                <a:latin typeface="Times New Roman" panose="02020603050405020304" pitchFamily="18" charset="0"/>
                <a:cs typeface="Times New Roman" panose="02020603050405020304" pitchFamily="18" charset="0"/>
              </a:rPr>
              <a:t>Key Takeaways</a:t>
            </a:r>
          </a:p>
        </p:txBody>
      </p:sp>
      <p:sp>
        <p:nvSpPr>
          <p:cNvPr id="5" name="Rectangle 1">
            <a:extLst>
              <a:ext uri="{FF2B5EF4-FFF2-40B4-BE49-F238E27FC236}">
                <a16:creationId xmlns:a16="http://schemas.microsoft.com/office/drawing/2014/main" id="{8B93BC99-F9B2-925F-B6A6-43CC4A23C291}"/>
              </a:ext>
            </a:extLst>
          </p:cNvPr>
          <p:cNvSpPr>
            <a:spLocks noGrp="1" noChangeArrowheads="1"/>
          </p:cNvSpPr>
          <p:nvPr>
            <p:ph sz="half" idx="15"/>
          </p:nvPr>
        </p:nvSpPr>
        <p:spPr bwMode="auto">
          <a:xfrm>
            <a:off x="540774" y="1292601"/>
            <a:ext cx="995024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Risk Monitoring &amp; Portfolio Quality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The bank maintains a relatively low Default Rate (1.56%), indicating good portfolio quality. However, the Delinquency Rate (10.84%) suggests that overdue accounts require continuous monitoring and follow-up actions.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Customer Demographic Insights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Customers in the 26–45 age group contribute the highest share of funded loans, making them the primary target segment for future lending strategies.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Loan Tenure Preference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Customers show a stronger preference for 36-month loans (₹431.6M) compared to 60-month loans (₹301.1M), indicating demand for shorter repayment periods.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2">
                    <a:lumMod val="75000"/>
                  </a:schemeClr>
                </a:solidFill>
                <a:effectLst/>
                <a:latin typeface="Google Sans Text"/>
              </a:rPr>
              <a:t>Data-Driven Decision Making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Google Sans Text"/>
              </a:rPr>
              <a:t>The integration of SQL, Excel, Tableau, and Power BI transformed raw banking data into actionable insights, enabling better decision-making in lending, risk management, and business growth.</a:t>
            </a:r>
          </a:p>
        </p:txBody>
      </p:sp>
    </p:spTree>
    <p:extLst>
      <p:ext uri="{BB962C8B-B14F-4D97-AF65-F5344CB8AC3E}">
        <p14:creationId xmlns:p14="http://schemas.microsoft.com/office/powerpoint/2010/main" val="13555743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60000"/>
                <a:lumOff val="40000"/>
              </a:schemeClr>
            </a:gs>
            <a:gs pos="74000">
              <a:schemeClr val="accent4">
                <a:lumMod val="60000"/>
                <a:lumOff val="40000"/>
              </a:schemeClr>
            </a:gs>
            <a:gs pos="83000">
              <a:schemeClr val="accent4">
                <a:lumMod val="75000"/>
              </a:schemeClr>
            </a:gs>
            <a:gs pos="100000">
              <a:schemeClr val="accent4">
                <a:lumMod val="7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CE94-7ECA-D922-1B2A-42899E4181AE}"/>
              </a:ext>
            </a:extLst>
          </p:cNvPr>
          <p:cNvSpPr>
            <a:spLocks noGrp="1"/>
          </p:cNvSpPr>
          <p:nvPr>
            <p:ph type="title"/>
          </p:nvPr>
        </p:nvSpPr>
        <p:spPr>
          <a:xfrm>
            <a:off x="532809" y="238257"/>
            <a:ext cx="11167578" cy="603541"/>
          </a:xfrm>
          <a:noFill/>
        </p:spPr>
        <p:txBody>
          <a:bodyPr/>
          <a:lstStyle/>
          <a:p>
            <a:r>
              <a:rPr lang="en-US" sz="2800" dirty="0">
                <a:latin typeface="Times New Roman" panose="02020603050405020304" pitchFamily="18" charset="0"/>
                <a:cs typeface="Times New Roman" panose="02020603050405020304" pitchFamily="18" charset="0"/>
              </a:rPr>
              <a:t>BANK DEBIT AND CREDIT ANALYTICS</a:t>
            </a:r>
            <a:endParaRPr lang="en-IN" sz="2800" dirty="0"/>
          </a:p>
        </p:txBody>
      </p:sp>
      <p:sp>
        <p:nvSpPr>
          <p:cNvPr id="4" name="TextBox 3">
            <a:extLst>
              <a:ext uri="{FF2B5EF4-FFF2-40B4-BE49-F238E27FC236}">
                <a16:creationId xmlns:a16="http://schemas.microsoft.com/office/drawing/2014/main" id="{C87C6569-78E9-25A6-EE41-37DF34A55A3C}"/>
              </a:ext>
            </a:extLst>
          </p:cNvPr>
          <p:cNvSpPr txBox="1"/>
          <p:nvPr/>
        </p:nvSpPr>
        <p:spPr>
          <a:xfrm>
            <a:off x="1150375" y="1311302"/>
            <a:ext cx="10225548" cy="5109091"/>
          </a:xfrm>
          <a:prstGeom prst="rect">
            <a:avLst/>
          </a:prstGeom>
          <a:noFill/>
        </p:spPr>
        <p:txBody>
          <a:bodyPr wrap="square" rtlCol="0">
            <a:spAutoFit/>
          </a:bodyPr>
          <a:lstStyle/>
          <a:p>
            <a:r>
              <a:rPr lang="en-US" b="1" u="sng" dirty="0">
                <a:solidFill>
                  <a:schemeClr val="accent4">
                    <a:lumMod val="50000"/>
                  </a:schemeClr>
                </a:solidFill>
              </a:rPr>
              <a:t>PROJECT OVERVIEW : </a:t>
            </a:r>
          </a:p>
          <a:p>
            <a:pPr marL="0" marR="0" lvl="0" indent="0" algn="l" defTabSz="914400" rtl="0" eaLnBrk="0" fontAlgn="base" latinLnBrk="0" hangingPunct="0">
              <a:lnSpc>
                <a:spcPct val="100000"/>
              </a:lnSpc>
              <a:spcBef>
                <a:spcPct val="0"/>
              </a:spcBef>
              <a:spcAft>
                <a:spcPct val="0"/>
              </a:spcAft>
              <a:buClrTx/>
              <a:buSzTx/>
              <a:tabLst/>
            </a:pPr>
            <a:r>
              <a:rPr lang="en-US" altLang="en-US" dirty="0"/>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t>This project delivers a comprehensive operational view of the bank’s ledger system to track cash liquidity and transaction health. By transforming raw ledger entries into 12 actionable KPIs, the dashboard enables treasury managers to instantly monitor net cash flows, assess the stability of deposits versus withdrawals, and evaluate branch-level performance. Beyond standard reporting, the project integrates automated risk-detection logic to flag high-value or irregular transaction patterns, providing security and compliance teams with the real-time intelligence needed to mitigate fraud risks effectively.</a:t>
            </a:r>
          </a:p>
          <a:p>
            <a:pPr marR="0" lvl="0" algn="l" defTabSz="914400" rtl="0" eaLnBrk="0" fontAlgn="base" latinLnBrk="0" hangingPunct="0">
              <a:lnSpc>
                <a:spcPct val="100000"/>
              </a:lnSpc>
              <a:spcBef>
                <a:spcPct val="0"/>
              </a:spcBef>
              <a:spcAft>
                <a:spcPct val="0"/>
              </a:spcAft>
              <a:buClrTx/>
              <a:buSzTx/>
              <a:tabLst/>
            </a:pPr>
            <a:endParaRPr lang="en-US" altLang="en-US" sz="1600" b="1" u="sng" dirty="0">
              <a:solidFill>
                <a:schemeClr val="accent4">
                  <a:lumMod val="50000"/>
                </a:schemeClr>
              </a:solidFill>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u="sng" strike="noStrike" cap="none" normalizeH="0" baseline="0" dirty="0">
                <a:ln>
                  <a:noFill/>
                </a:ln>
                <a:solidFill>
                  <a:schemeClr val="accent4">
                    <a:lumMod val="50000"/>
                  </a:schemeClr>
                </a:solidFill>
                <a:effectLst/>
              </a:rPr>
              <a:t>DATASET OVERVIEW : </a:t>
            </a:r>
          </a:p>
          <a:p>
            <a:pPr marR="0" lvl="0" algn="l" defTabSz="914400" rtl="0" eaLnBrk="0" fontAlgn="base" latinLnBrk="0" hangingPunct="0">
              <a:lnSpc>
                <a:spcPct val="100000"/>
              </a:lnSpc>
              <a:spcBef>
                <a:spcPct val="0"/>
              </a:spcBef>
              <a:spcAft>
                <a:spcPct val="0"/>
              </a:spcAft>
              <a:buClrTx/>
              <a:buSzTx/>
              <a:tabLst/>
            </a:pPr>
            <a:endParaRPr lang="en-US" altLang="en-US" sz="1600"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t>The dataset acts as a central financial ledger, capturing everyday cash movements across customer checking and savings accounts. It breaks raw transaction rows into categories like </a:t>
            </a:r>
            <a:r>
              <a:rPr lang="en-US" sz="1600" b="1" dirty="0"/>
              <a:t>location</a:t>
            </a:r>
            <a:r>
              <a:rPr lang="en-US" sz="1600" dirty="0"/>
              <a:t> (branch and bank entity) , </a:t>
            </a:r>
            <a:r>
              <a:rPr lang="en-US" sz="1600" b="1" dirty="0"/>
              <a:t>methodology</a:t>
            </a:r>
            <a:r>
              <a:rPr lang="en-US" sz="1600" dirty="0"/>
              <a:t> (transfers, debit, or credit cards) , and </a:t>
            </a:r>
            <a:r>
              <a:rPr lang="en-US" sz="1600" b="1" dirty="0"/>
              <a:t>entry type</a:t>
            </a:r>
            <a:r>
              <a:rPr lang="en-US" sz="1600" dirty="0"/>
              <a:t> (deposits vs. withdrawals) to give you clean filters for the dashboard. At the same time, the numerical values serve as the math engine to compute your 12 core KPIs, dynamically tracking net cash flow positions, credit-to-debit stability ratios, and account activity speeds while instantly flagging high-value transaction alerts. This simple structure effortlessly changes a massive sheet of daily ledger details into an organized visual workspace for smart cash management and fraud auditing. </a:t>
            </a:r>
            <a:endParaRPr lang="en-US" altLang="en-US" sz="1600"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endParaRPr>
          </a:p>
          <a:p>
            <a:endParaRPr lang="en-IN" dirty="0"/>
          </a:p>
        </p:txBody>
      </p:sp>
    </p:spTree>
    <p:extLst>
      <p:ext uri="{BB962C8B-B14F-4D97-AF65-F5344CB8AC3E}">
        <p14:creationId xmlns:p14="http://schemas.microsoft.com/office/powerpoint/2010/main" val="522460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2703481" y="98322"/>
            <a:ext cx="7965461" cy="518803"/>
          </a:xfrm>
          <a:noFill/>
        </p:spPr>
        <p:txBody>
          <a:bodyPr/>
          <a:lstStyle/>
          <a:p>
            <a:r>
              <a:rPr lang="en-US" sz="2400" dirty="0">
                <a:latin typeface="Times New Roman" panose="02020603050405020304" pitchFamily="18" charset="0"/>
                <a:cs typeface="Times New Roman" panose="02020603050405020304" pitchFamily="18" charset="0"/>
              </a:rPr>
              <a:t>KPI LIST</a:t>
            </a:r>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sz="half" idx="2"/>
          </p:nvPr>
        </p:nvSpPr>
        <p:spPr>
          <a:xfrm>
            <a:off x="2703482" y="928483"/>
            <a:ext cx="7965460" cy="3497698"/>
          </a:xfrm>
        </p:spPr>
        <p:txBody>
          <a:bodyPr/>
          <a:lstStyle/>
          <a:p>
            <a:pPr marL="0" indent="0">
              <a:buNone/>
            </a:pPr>
            <a:r>
              <a:rPr lang="en-IN" b="1" u="sng" dirty="0">
                <a:solidFill>
                  <a:schemeClr val="accent4">
                    <a:lumMod val="50000"/>
                  </a:schemeClr>
                </a:solidFill>
              </a:rPr>
              <a:t>Cash Flow &amp; Liquidity Metrics :</a:t>
            </a:r>
          </a:p>
          <a:p>
            <a:pPr marL="0" indent="0">
              <a:buNone/>
            </a:pPr>
            <a:endParaRPr lang="en-IN" sz="1800" dirty="0">
              <a:solidFill>
                <a:schemeClr val="accent2">
                  <a:lumMod val="75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pPr marL="0" indent="0">
              <a:buNone/>
            </a:pPr>
            <a:endParaRPr lang="en-IN" b="1" dirty="0">
              <a:solidFill>
                <a:schemeClr val="accent4">
                  <a:lumMod val="50000"/>
                </a:schemeClr>
              </a:solidFill>
            </a:endParaRPr>
          </a:p>
          <a:p>
            <a:pPr marL="0" indent="0">
              <a:buNone/>
            </a:pPr>
            <a:r>
              <a:rPr lang="en-IN" b="1" u="sng" dirty="0">
                <a:solidFill>
                  <a:schemeClr val="accent4">
                    <a:lumMod val="50000"/>
                  </a:schemeClr>
                </a:solidFill>
              </a:rPr>
              <a:t>Operational</a:t>
            </a:r>
            <a:r>
              <a:rPr lang="en-IN" sz="1800" b="1" u="sng" dirty="0">
                <a:solidFill>
                  <a:schemeClr val="accent4">
                    <a:lumMod val="50000"/>
                  </a:schemeClr>
                </a:solidFill>
              </a:rPr>
              <a:t> &amp; Activity Metrics :</a:t>
            </a:r>
          </a:p>
          <a:p>
            <a:pPr marL="0" indent="0">
              <a:buNone/>
            </a:pPr>
            <a:endParaRPr lang="en-IN" sz="1800" dirty="0">
              <a:solidFill>
                <a:schemeClr val="accent4">
                  <a:lumMod val="50000"/>
                </a:schemeClr>
              </a:solidFill>
            </a:endParaRPr>
          </a:p>
          <a:p>
            <a:endParaRPr lang="en-IN" sz="1800" dirty="0">
              <a:solidFill>
                <a:schemeClr val="accent2">
                  <a:lumMod val="75000"/>
                </a:schemeClr>
              </a:solidFill>
            </a:endParaRPr>
          </a:p>
          <a:p>
            <a:endParaRPr lang="en-IN" sz="1800" dirty="0">
              <a:solidFill>
                <a:schemeClr val="accent2">
                  <a:lumMod val="75000"/>
                </a:schemeClr>
              </a:solidFill>
            </a:endParaRPr>
          </a:p>
          <a:p>
            <a:endParaRPr lang="en-US" dirty="0">
              <a:solidFill>
                <a:schemeClr val="tx1"/>
              </a:solidFill>
            </a:endParaRPr>
          </a:p>
        </p:txBody>
      </p:sp>
      <p:sp>
        <p:nvSpPr>
          <p:cNvPr id="3" name="Rectangle 1">
            <a:extLst>
              <a:ext uri="{FF2B5EF4-FFF2-40B4-BE49-F238E27FC236}">
                <a16:creationId xmlns:a16="http://schemas.microsoft.com/office/drawing/2014/main" id="{B06002CE-C7A2-2BFC-AB7F-80C07B10DE3C}"/>
              </a:ext>
            </a:extLst>
          </p:cNvPr>
          <p:cNvSpPr>
            <a:spLocks noChangeArrowheads="1"/>
          </p:cNvSpPr>
          <p:nvPr/>
        </p:nvSpPr>
        <p:spPr bwMode="auto">
          <a:xfrm>
            <a:off x="2703481" y="1353893"/>
            <a:ext cx="940002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Credit Amount:</a:t>
            </a:r>
            <a:r>
              <a:rPr kumimoji="0" lang="en-US" altLang="en-US" sz="1600" b="0" i="0" u="none" strike="noStrike" cap="none" normalizeH="0" baseline="0" dirty="0">
                <a:ln>
                  <a:noFill/>
                </a:ln>
                <a:solidFill>
                  <a:schemeClr val="tx1"/>
                </a:solidFill>
                <a:effectLst/>
                <a:latin typeface="Google Sans Text"/>
              </a:rPr>
              <a:t> The sum of all inbound ledger entries (deposits).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Debit Amount:</a:t>
            </a:r>
            <a:r>
              <a:rPr kumimoji="0" lang="en-US" altLang="en-US" sz="1600" b="0" i="0" u="none" strike="noStrike" cap="none" normalizeH="0" baseline="0" dirty="0">
                <a:ln>
                  <a:noFill/>
                </a:ln>
                <a:solidFill>
                  <a:schemeClr val="tx1"/>
                </a:solidFill>
                <a:effectLst/>
                <a:latin typeface="Google Sans Text"/>
              </a:rPr>
              <a:t> The sum of all outbound ledger entries (withdrawals).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Credit-to-Debit Ratio:</a:t>
            </a:r>
            <a:r>
              <a:rPr kumimoji="0" lang="en-US" altLang="en-US" sz="1600" b="0" i="0" u="none" strike="noStrike" cap="none" normalizeH="0" baseline="0" dirty="0">
                <a:ln>
                  <a:noFill/>
                </a:ln>
                <a:solidFill>
                  <a:schemeClr val="tx1"/>
                </a:solidFill>
                <a:effectLst/>
                <a:latin typeface="Google Sans Text"/>
              </a:rPr>
              <a:t> The ratio of inbound credits to outbound debits, used to measure core deposit stability.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Net Transaction Amount:</a:t>
            </a:r>
            <a:r>
              <a:rPr kumimoji="0" lang="en-US" altLang="en-US" sz="1600" b="0" i="0" u="none" strike="noStrike" cap="none" normalizeH="0" baseline="0" dirty="0">
                <a:ln>
                  <a:noFill/>
                </a:ln>
                <a:solidFill>
                  <a:schemeClr val="tx1"/>
                </a:solidFill>
                <a:effectLst/>
                <a:latin typeface="Google Sans Text"/>
              </a:rPr>
              <a:t> The net cash flow position (Total Credits minus Total Debits).</a:t>
            </a:r>
          </a:p>
        </p:txBody>
      </p:sp>
      <p:sp>
        <p:nvSpPr>
          <p:cNvPr id="5" name="Rectangle 2">
            <a:extLst>
              <a:ext uri="{FF2B5EF4-FFF2-40B4-BE49-F238E27FC236}">
                <a16:creationId xmlns:a16="http://schemas.microsoft.com/office/drawing/2014/main" id="{D866322C-3479-00F4-D33A-41D52F4F81A6}"/>
              </a:ext>
            </a:extLst>
          </p:cNvPr>
          <p:cNvSpPr>
            <a:spLocks noChangeArrowheads="1"/>
          </p:cNvSpPr>
          <p:nvPr/>
        </p:nvSpPr>
        <p:spPr bwMode="auto">
          <a:xfrm>
            <a:off x="2772308" y="3358430"/>
            <a:ext cx="9006348"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Account Activity Ratio:</a:t>
            </a:r>
            <a:r>
              <a:rPr kumimoji="0" lang="en-US" altLang="en-US" sz="1600" b="0" i="0" u="none" strike="noStrike" cap="none" normalizeH="0" baseline="0" dirty="0">
                <a:ln>
                  <a:noFill/>
                </a:ln>
                <a:solidFill>
                  <a:schemeClr val="tx1"/>
                </a:solidFill>
                <a:effectLst/>
                <a:latin typeface="Google Sans Text"/>
              </a:rPr>
              <a:t> The frequency of transactions relative to average account balances to gauge customer engagement.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Daily/Weekly Volume Trends:</a:t>
            </a:r>
            <a:r>
              <a:rPr kumimoji="0" lang="en-US" altLang="en-US" sz="1600" b="0" i="0" u="none" strike="noStrike" cap="none" normalizeH="0" baseline="0" dirty="0">
                <a:ln>
                  <a:noFill/>
                </a:ln>
                <a:solidFill>
                  <a:schemeClr val="tx1"/>
                </a:solidFill>
                <a:effectLst/>
                <a:latin typeface="Google Sans Text"/>
              </a:rPr>
              <a:t> Analysis of transaction frequencies over time to identify peak processing periods.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Total Transaction Amount by Branch:</a:t>
            </a:r>
            <a:r>
              <a:rPr kumimoji="0" lang="en-US" altLang="en-US" sz="1600" b="0" i="0" u="none" strike="noStrike" cap="none" normalizeH="0" baseline="0" dirty="0">
                <a:ln>
                  <a:noFill/>
                </a:ln>
                <a:solidFill>
                  <a:schemeClr val="tx1"/>
                </a:solidFill>
                <a:effectLst/>
                <a:latin typeface="Google Sans Text"/>
              </a:rPr>
              <a:t> The aggregate volume of transactions per branch, used to compare regional performance.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Transaction Volume by Bank:</a:t>
            </a:r>
            <a:r>
              <a:rPr kumimoji="0" lang="en-US" altLang="en-US" sz="1600" b="0" i="0" u="none" strike="noStrike" cap="none" normalizeH="0" baseline="0" dirty="0">
                <a:ln>
                  <a:noFill/>
                </a:ln>
                <a:solidFill>
                  <a:schemeClr val="tx1"/>
                </a:solidFill>
                <a:effectLst/>
                <a:latin typeface="Google Sans Text"/>
              </a:rPr>
              <a:t> Comparison of total transaction activity across different bank entities.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Transaction Method Distribution:</a:t>
            </a:r>
            <a:r>
              <a:rPr kumimoji="0" lang="en-US" altLang="en-US" sz="1600" b="0" i="0" u="none" strike="noStrike" cap="none" normalizeH="0" baseline="0" dirty="0">
                <a:ln>
                  <a:noFill/>
                </a:ln>
                <a:solidFill>
                  <a:schemeClr val="tx1"/>
                </a:solidFill>
                <a:effectLst/>
                <a:latin typeface="Google Sans Text"/>
              </a:rPr>
              <a:t> A breakdown of volume by payment type (Bank Transfer, Debit Card, Credit Card, etc.) to optimize service offerings.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Branch Transaction Growth:</a:t>
            </a:r>
            <a:r>
              <a:rPr kumimoji="0" lang="en-US" altLang="en-US" sz="1600" b="0" i="0" u="none" strike="noStrike" cap="none" normalizeH="0" baseline="0" dirty="0">
                <a:ln>
                  <a:noFill/>
                </a:ln>
                <a:solidFill>
                  <a:schemeClr val="tx1"/>
                </a:solidFill>
                <a:effectLst/>
                <a:latin typeface="Google Sans Text"/>
              </a:rPr>
              <a:t> The percentage growth (or decline) in transaction volume per branch over a specific period.</a:t>
            </a:r>
          </a:p>
        </p:txBody>
      </p:sp>
    </p:spTree>
    <p:extLst>
      <p:ext uri="{BB962C8B-B14F-4D97-AF65-F5344CB8AC3E}">
        <p14:creationId xmlns:p14="http://schemas.microsoft.com/office/powerpoint/2010/main" val="2966605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70646" y="294968"/>
            <a:ext cx="7796464" cy="521109"/>
          </a:xfrm>
          <a:noFill/>
        </p:spPr>
        <p:txBody>
          <a:bodyPr/>
          <a:lstStyle/>
          <a:p>
            <a:r>
              <a:rPr lang="en-US" sz="2400" dirty="0">
                <a:latin typeface="Times New Roman" panose="02020603050405020304" pitchFamily="18" charset="0"/>
                <a:cs typeface="Times New Roman" panose="02020603050405020304" pitchFamily="18" charset="0"/>
              </a:rPr>
              <a:t>KPI LIST</a:t>
            </a:r>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70646" y="1339466"/>
            <a:ext cx="7767484" cy="3720337"/>
          </a:xfrm>
          <a:noFill/>
        </p:spPr>
        <p:txBody>
          <a:bodyPr>
            <a:normAutofit/>
          </a:bodyPr>
          <a:lstStyle/>
          <a:p>
            <a:r>
              <a:rPr lang="en-IN" b="1" u="sng" dirty="0">
                <a:solidFill>
                  <a:schemeClr val="accent4">
                    <a:lumMod val="50000"/>
                  </a:schemeClr>
                </a:solidFill>
              </a:rPr>
              <a:t>Risk &amp; Security Metrics :</a:t>
            </a:r>
          </a:p>
          <a:p>
            <a:endParaRPr lang="en-US" dirty="0"/>
          </a:p>
        </p:txBody>
      </p:sp>
      <p:sp>
        <p:nvSpPr>
          <p:cNvPr id="3" name="Rectangle 1">
            <a:extLst>
              <a:ext uri="{FF2B5EF4-FFF2-40B4-BE49-F238E27FC236}">
                <a16:creationId xmlns:a16="http://schemas.microsoft.com/office/drawing/2014/main" id="{7D0612F1-95D3-1A7B-5238-6A2490C42B8B}"/>
              </a:ext>
            </a:extLst>
          </p:cNvPr>
          <p:cNvSpPr>
            <a:spLocks noChangeArrowheads="1"/>
          </p:cNvSpPr>
          <p:nvPr/>
        </p:nvSpPr>
        <p:spPr bwMode="auto">
          <a:xfrm>
            <a:off x="270646" y="1796346"/>
            <a:ext cx="746734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High-Risk Transaction Flag:</a:t>
            </a:r>
            <a:r>
              <a:rPr kumimoji="0" lang="en-US" altLang="en-US" sz="1600" b="0" i="0" u="none" strike="noStrike" cap="none" normalizeH="0" baseline="0" dirty="0">
                <a:ln>
                  <a:noFill/>
                </a:ln>
                <a:solidFill>
                  <a:schemeClr val="tx1"/>
                </a:solidFill>
                <a:effectLst/>
                <a:latin typeface="Google Sans Text"/>
              </a:rPr>
              <a:t> Identifies transactions that exceed a specific amount threshold or show irregular patterns (e.g., unusually large transfers).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Google Sans Text"/>
              </a:rPr>
              <a:t>Suspicious Transaction Frequency:</a:t>
            </a:r>
            <a:r>
              <a:rPr kumimoji="0" lang="en-US" altLang="en-US" sz="1600" b="0" i="0" u="none" strike="noStrike" cap="none" normalizeH="0" baseline="0" dirty="0">
                <a:ln>
                  <a:noFill/>
                </a:ln>
                <a:solidFill>
                  <a:schemeClr val="tx1"/>
                </a:solidFill>
                <a:effectLst/>
                <a:latin typeface="Google Sans Text"/>
              </a:rPr>
              <a:t> The count of flagged high-risk transactions over a set timeframe to support security audits.</a:t>
            </a:r>
          </a:p>
        </p:txBody>
      </p:sp>
    </p:spTree>
    <p:extLst>
      <p:ext uri="{BB962C8B-B14F-4D97-AF65-F5344CB8AC3E}">
        <p14:creationId xmlns:p14="http://schemas.microsoft.com/office/powerpoint/2010/main" val="35369736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2948"/>
            <a:ext cx="10671048" cy="379525"/>
          </a:xfrm>
          <a:noFill/>
        </p:spPr>
        <p:txBody>
          <a:bodyPr/>
          <a:lstStyle/>
          <a:p>
            <a:r>
              <a:rPr lang="en-US" sz="2400" dirty="0">
                <a:latin typeface="Times New Roman" panose="02020603050405020304" pitchFamily="18" charset="0"/>
                <a:cs typeface="Times New Roman" panose="02020603050405020304" pitchFamily="18" charset="0"/>
              </a:rPr>
              <a:t>Excel DASHBOARD </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02B0D5E-06B6-E332-FCC9-77534E2174DA}"/>
              </a:ext>
            </a:extLst>
          </p:cNvPr>
          <p:cNvPicPr>
            <a:picLocks noChangeAspect="1"/>
          </p:cNvPicPr>
          <p:nvPr/>
        </p:nvPicPr>
        <p:blipFill>
          <a:blip r:embed="rId2"/>
          <a:stretch>
            <a:fillRect/>
          </a:stretch>
        </p:blipFill>
        <p:spPr>
          <a:xfrm>
            <a:off x="817946" y="639098"/>
            <a:ext cx="10982632" cy="6027174"/>
          </a:xfrm>
          <a:prstGeom prst="rect">
            <a:avLst/>
          </a:prstGeom>
        </p:spPr>
      </p:pic>
    </p:spTree>
    <p:extLst>
      <p:ext uri="{BB962C8B-B14F-4D97-AF65-F5344CB8AC3E}">
        <p14:creationId xmlns:p14="http://schemas.microsoft.com/office/powerpoint/2010/main" val="12496748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78658"/>
            <a:ext cx="10671048" cy="367728"/>
          </a:xfrm>
          <a:noFill/>
        </p:spPr>
        <p:txBody>
          <a:bodyPr/>
          <a:lstStyle/>
          <a:p>
            <a:r>
              <a:rPr lang="en-US" sz="2400" dirty="0">
                <a:latin typeface="Times New Roman" panose="02020603050405020304" pitchFamily="18" charset="0"/>
                <a:cs typeface="Times New Roman" panose="02020603050405020304" pitchFamily="18" charset="0"/>
              </a:rPr>
              <a:t>POWER BI DASHBOARD </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F11D79-7F85-9A86-BB1B-2EDFB7527AE4}"/>
              </a:ext>
            </a:extLst>
          </p:cNvPr>
          <p:cNvPicPr>
            <a:picLocks noChangeAspect="1"/>
          </p:cNvPicPr>
          <p:nvPr/>
        </p:nvPicPr>
        <p:blipFill>
          <a:blip r:embed="rId2"/>
          <a:stretch>
            <a:fillRect/>
          </a:stretch>
        </p:blipFill>
        <p:spPr>
          <a:xfrm>
            <a:off x="540774" y="702024"/>
            <a:ext cx="11130116" cy="5915086"/>
          </a:xfrm>
          <a:prstGeom prst="rect">
            <a:avLst/>
          </a:prstGeom>
        </p:spPr>
      </p:pic>
    </p:spTree>
    <p:extLst>
      <p:ext uri="{BB962C8B-B14F-4D97-AF65-F5344CB8AC3E}">
        <p14:creationId xmlns:p14="http://schemas.microsoft.com/office/powerpoint/2010/main" val="12380395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0"/>
            <a:ext cx="10671048" cy="475883"/>
          </a:xfrm>
          <a:noFill/>
        </p:spPr>
        <p:txBody>
          <a:bodyPr/>
          <a:lstStyle/>
          <a:p>
            <a:r>
              <a:rPr lang="en-US" sz="2400" dirty="0">
                <a:latin typeface="Times New Roman" panose="02020603050405020304" pitchFamily="18" charset="0"/>
                <a:cs typeface="Times New Roman" panose="02020603050405020304" pitchFamily="18" charset="0"/>
              </a:rPr>
              <a:t>SQL QUERIES AND RESULTS</a:t>
            </a: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148CFFB-994B-6304-6559-67C14D64FC13}"/>
              </a:ext>
            </a:extLst>
          </p:cNvPr>
          <p:cNvSpPr txBox="1"/>
          <p:nvPr/>
        </p:nvSpPr>
        <p:spPr>
          <a:xfrm>
            <a:off x="452284" y="825909"/>
            <a:ext cx="8485239" cy="5632311"/>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a:solidFill>
                  <a:schemeClr val="accent4">
                    <a:lumMod val="50000"/>
                  </a:schemeClr>
                </a:solidFill>
                <a:latin typeface="Google Sans Text"/>
              </a:rPr>
              <a:t>Total Credit Amount</a:t>
            </a:r>
          </a:p>
          <a:p>
            <a:r>
              <a:rPr lang="en-US" dirty="0">
                <a:latin typeface="Google Sans Text"/>
              </a:rPr>
              <a:t>select </a:t>
            </a:r>
            <a:r>
              <a:rPr lang="en-US" dirty="0" err="1">
                <a:latin typeface="Google Sans Text"/>
              </a:rPr>
              <a:t>TransactionType</a:t>
            </a:r>
            <a:r>
              <a:rPr lang="en-US" dirty="0">
                <a:latin typeface="Google Sans Text"/>
              </a:rPr>
              <a:t>, </a:t>
            </a:r>
            <a:r>
              <a:rPr lang="en-US" dirty="0" err="1">
                <a:latin typeface="Google Sans Text"/>
              </a:rPr>
              <a:t>concat</a:t>
            </a:r>
            <a:r>
              <a:rPr lang="en-US" dirty="0">
                <a:latin typeface="Google Sans Text"/>
              </a:rPr>
              <a:t>(round(sum(Amount)/1000000,2),'M’) from </a:t>
            </a:r>
            <a:r>
              <a:rPr lang="en-US" dirty="0" err="1">
                <a:latin typeface="Google Sans Text"/>
              </a:rPr>
              <a:t>Credit_Debitwhere</a:t>
            </a:r>
            <a:r>
              <a:rPr lang="en-US" dirty="0">
                <a:latin typeface="Google Sans Text"/>
              </a:rPr>
              <a:t> </a:t>
            </a:r>
            <a:r>
              <a:rPr lang="en-US" dirty="0" err="1">
                <a:latin typeface="Google Sans Text"/>
              </a:rPr>
              <a:t>TransactionType</a:t>
            </a:r>
            <a:r>
              <a:rPr lang="en-US" dirty="0">
                <a:latin typeface="Google Sans Text"/>
              </a:rPr>
              <a:t>="Credit";</a:t>
            </a:r>
          </a:p>
          <a:p>
            <a:endParaRPr lang="en-US" dirty="0">
              <a:latin typeface="Google Sans Text"/>
            </a:endParaRPr>
          </a:p>
          <a:p>
            <a:pPr marL="285750" indent="-285750">
              <a:buFont typeface="Wingdings" panose="05000000000000000000" pitchFamily="2" charset="2"/>
              <a:buChar char="Ø"/>
            </a:pPr>
            <a:r>
              <a:rPr lang="en-US" b="1" u="sng" dirty="0">
                <a:solidFill>
                  <a:schemeClr val="accent4">
                    <a:lumMod val="50000"/>
                  </a:schemeClr>
                </a:solidFill>
                <a:latin typeface="Google Sans Text"/>
              </a:rPr>
              <a:t>Total Debit Amount</a:t>
            </a:r>
          </a:p>
          <a:p>
            <a:r>
              <a:rPr lang="en-US" dirty="0">
                <a:latin typeface="Google Sans Text"/>
              </a:rPr>
              <a:t>select </a:t>
            </a:r>
            <a:r>
              <a:rPr lang="en-US" dirty="0" err="1">
                <a:latin typeface="Google Sans Text"/>
              </a:rPr>
              <a:t>TransactionType</a:t>
            </a:r>
            <a:r>
              <a:rPr lang="en-US" dirty="0">
                <a:latin typeface="Google Sans Text"/>
              </a:rPr>
              <a:t>, </a:t>
            </a:r>
            <a:r>
              <a:rPr lang="en-US" dirty="0" err="1">
                <a:latin typeface="Google Sans Text"/>
              </a:rPr>
              <a:t>concat</a:t>
            </a:r>
            <a:r>
              <a:rPr lang="en-US" dirty="0">
                <a:latin typeface="Google Sans Text"/>
              </a:rPr>
              <a:t>(round(sum(Amount)/1000000,2),'M’) from </a:t>
            </a:r>
            <a:r>
              <a:rPr lang="en-US" dirty="0" err="1">
                <a:latin typeface="Google Sans Text"/>
              </a:rPr>
              <a:t>Credit_Debitwhere</a:t>
            </a:r>
            <a:r>
              <a:rPr lang="en-US" dirty="0">
                <a:latin typeface="Google Sans Text"/>
              </a:rPr>
              <a:t> </a:t>
            </a:r>
            <a:r>
              <a:rPr lang="en-US" dirty="0" err="1">
                <a:latin typeface="Google Sans Text"/>
              </a:rPr>
              <a:t>TransactionType</a:t>
            </a:r>
            <a:r>
              <a:rPr lang="en-US" dirty="0">
                <a:latin typeface="Google Sans Text"/>
              </a:rPr>
              <a:t>="Debit";</a:t>
            </a:r>
          </a:p>
          <a:p>
            <a:endParaRPr lang="en-US" dirty="0">
              <a:latin typeface="Google Sans Text"/>
            </a:endParaRPr>
          </a:p>
          <a:p>
            <a:pPr marL="285750" indent="-285750">
              <a:buFont typeface="Wingdings" panose="05000000000000000000" pitchFamily="2" charset="2"/>
              <a:buChar char="Ø"/>
            </a:pPr>
            <a:r>
              <a:rPr lang="en-US" b="1" u="sng" dirty="0">
                <a:solidFill>
                  <a:schemeClr val="accent4">
                    <a:lumMod val="50000"/>
                  </a:schemeClr>
                </a:solidFill>
                <a:latin typeface="Google Sans Text"/>
              </a:rPr>
              <a:t>Credit to Debit Ratio</a:t>
            </a:r>
          </a:p>
          <a:p>
            <a:r>
              <a:rPr lang="en-US" dirty="0">
                <a:latin typeface="Google Sans Text"/>
              </a:rPr>
              <a:t>With ratio as ( </a:t>
            </a:r>
          </a:p>
          <a:p>
            <a:r>
              <a:rPr lang="en-US" dirty="0">
                <a:latin typeface="Google Sans Text"/>
              </a:rPr>
              <a:t>Select sum (case when </a:t>
            </a:r>
            <a:r>
              <a:rPr lang="en-US" dirty="0" err="1">
                <a:latin typeface="Google Sans Text"/>
              </a:rPr>
              <a:t>TransactionType</a:t>
            </a:r>
            <a:r>
              <a:rPr lang="en-US" dirty="0">
                <a:latin typeface="Google Sans Text"/>
              </a:rPr>
              <a:t> = 'Credit’ then amount else 0 end) as </a:t>
            </a:r>
            <a:r>
              <a:rPr lang="en-US" dirty="0" err="1">
                <a:latin typeface="Google Sans Text"/>
              </a:rPr>
              <a:t>total_credit_amount</a:t>
            </a:r>
            <a:r>
              <a:rPr lang="en-US" dirty="0">
                <a:latin typeface="Google Sans Text"/>
              </a:rPr>
              <a:t>, </a:t>
            </a:r>
          </a:p>
          <a:p>
            <a:r>
              <a:rPr lang="en-US" dirty="0">
                <a:latin typeface="Google Sans Text"/>
              </a:rPr>
              <a:t>sum(case when </a:t>
            </a:r>
            <a:r>
              <a:rPr lang="en-US" dirty="0" err="1">
                <a:latin typeface="Google Sans Text"/>
              </a:rPr>
              <a:t>TransactionType</a:t>
            </a:r>
            <a:r>
              <a:rPr lang="en-US" dirty="0">
                <a:latin typeface="Google Sans Text"/>
              </a:rPr>
              <a:t> = 'Debit’  then amount else 0 end) </a:t>
            </a:r>
          </a:p>
          <a:p>
            <a:r>
              <a:rPr lang="en-US" dirty="0">
                <a:latin typeface="Google Sans Text"/>
              </a:rPr>
              <a:t>as </a:t>
            </a:r>
            <a:r>
              <a:rPr lang="en-US" dirty="0" err="1">
                <a:latin typeface="Google Sans Text"/>
              </a:rPr>
              <a:t>total_debit_amount</a:t>
            </a:r>
            <a:r>
              <a:rPr lang="en-US" dirty="0">
                <a:latin typeface="Google Sans Text"/>
              </a:rPr>
              <a:t>   from </a:t>
            </a:r>
            <a:r>
              <a:rPr lang="en-US" dirty="0" err="1">
                <a:latin typeface="Google Sans Text"/>
              </a:rPr>
              <a:t>Credit_Debit</a:t>
            </a:r>
            <a:r>
              <a:rPr lang="en-US" dirty="0">
                <a:latin typeface="Google Sans Text"/>
              </a:rPr>
              <a:t>)</a:t>
            </a:r>
          </a:p>
          <a:p>
            <a:r>
              <a:rPr lang="en-US" dirty="0">
                <a:latin typeface="Google Sans Text"/>
              </a:rPr>
              <a:t>Select round(</a:t>
            </a:r>
            <a:r>
              <a:rPr lang="en-US" dirty="0" err="1">
                <a:latin typeface="Google Sans Text"/>
              </a:rPr>
              <a:t>total_credit_amount</a:t>
            </a:r>
            <a:r>
              <a:rPr lang="en-US" dirty="0">
                <a:latin typeface="Google Sans Text"/>
              </a:rPr>
              <a:t> / </a:t>
            </a:r>
            <a:r>
              <a:rPr lang="en-US" dirty="0" err="1">
                <a:latin typeface="Google Sans Text"/>
              </a:rPr>
              <a:t>total_debit_amount</a:t>
            </a:r>
            <a:r>
              <a:rPr lang="en-US" dirty="0">
                <a:latin typeface="Google Sans Text"/>
              </a:rPr>
              <a:t>, 2) as </a:t>
            </a:r>
            <a:r>
              <a:rPr lang="en-US" dirty="0" err="1">
                <a:latin typeface="Google Sans Text"/>
              </a:rPr>
              <a:t>credit_to_debit_ratio</a:t>
            </a:r>
            <a:r>
              <a:rPr lang="en-US" dirty="0">
                <a:latin typeface="Google Sans Text"/>
              </a:rPr>
              <a:t> from ratio;</a:t>
            </a:r>
          </a:p>
          <a:p>
            <a:endParaRPr lang="en-US" dirty="0">
              <a:latin typeface="Google Sans Text"/>
            </a:endParaRPr>
          </a:p>
          <a:p>
            <a:pPr marL="285750" indent="-285750">
              <a:buFont typeface="Wingdings" panose="05000000000000000000" pitchFamily="2" charset="2"/>
              <a:buChar char="Ø"/>
            </a:pPr>
            <a:r>
              <a:rPr lang="en-US" b="1" u="sng" dirty="0">
                <a:solidFill>
                  <a:schemeClr val="accent4">
                    <a:lumMod val="50000"/>
                  </a:schemeClr>
                </a:solidFill>
                <a:latin typeface="Google Sans Text"/>
              </a:rPr>
              <a:t>Account Activity Ratio</a:t>
            </a:r>
          </a:p>
          <a:p>
            <a:r>
              <a:rPr lang="en-US" dirty="0">
                <a:latin typeface="Google Sans Text"/>
              </a:rPr>
              <a:t>Select count(*) / NULLIF(avg(Balance), 2)</a:t>
            </a:r>
          </a:p>
          <a:p>
            <a:r>
              <a:rPr lang="en-US" dirty="0">
                <a:latin typeface="Google Sans Text"/>
              </a:rPr>
              <a:t>as ratio from </a:t>
            </a:r>
            <a:r>
              <a:rPr lang="en-US" dirty="0" err="1">
                <a:latin typeface="Google Sans Text"/>
              </a:rPr>
              <a:t>Credit_Debit</a:t>
            </a:r>
            <a:r>
              <a:rPr lang="en-US" dirty="0">
                <a:latin typeface="Google Sans Text"/>
              </a:rPr>
              <a:t>;</a:t>
            </a:r>
            <a:endParaRPr lang="en-IN" dirty="0">
              <a:latin typeface="Google Sans Text"/>
            </a:endParaRPr>
          </a:p>
        </p:txBody>
      </p:sp>
      <p:graphicFrame>
        <p:nvGraphicFramePr>
          <p:cNvPr id="11" name="Table 10">
            <a:extLst>
              <a:ext uri="{FF2B5EF4-FFF2-40B4-BE49-F238E27FC236}">
                <a16:creationId xmlns:a16="http://schemas.microsoft.com/office/drawing/2014/main" id="{8782E12B-21A4-5268-00A0-96FAF23640AF}"/>
              </a:ext>
            </a:extLst>
          </p:cNvPr>
          <p:cNvGraphicFramePr>
            <a:graphicFrameLocks noGrp="1"/>
          </p:cNvGraphicFramePr>
          <p:nvPr>
            <p:extLst>
              <p:ext uri="{D42A27DB-BD31-4B8C-83A1-F6EECF244321}">
                <p14:modId xmlns:p14="http://schemas.microsoft.com/office/powerpoint/2010/main" val="2946307760"/>
              </p:ext>
            </p:extLst>
          </p:nvPr>
        </p:nvGraphicFramePr>
        <p:xfrm>
          <a:off x="8239433" y="975362"/>
          <a:ext cx="3362631" cy="670560"/>
        </p:xfrm>
        <a:graphic>
          <a:graphicData uri="http://schemas.openxmlformats.org/drawingml/2006/table">
            <a:tbl>
              <a:tblPr firstRow="1">
                <a:tableStyleId>{69C7853C-536D-4A76-A0AE-DD22124D55A5}</a:tableStyleId>
              </a:tblPr>
              <a:tblGrid>
                <a:gridCol w="3362631">
                  <a:extLst>
                    <a:ext uri="{9D8B030D-6E8A-4147-A177-3AD203B41FA5}">
                      <a16:colId xmlns:a16="http://schemas.microsoft.com/office/drawing/2014/main" val="3237834468"/>
                    </a:ext>
                  </a:extLst>
                </a:gridCol>
              </a:tblGrid>
              <a:tr h="321515">
                <a:tc>
                  <a:txBody>
                    <a:bodyPr/>
                    <a:lstStyle/>
                    <a:p>
                      <a:pPr rtl="0"/>
                      <a:r>
                        <a:rPr lang="en-IN" sz="1400" b="1" dirty="0" err="1">
                          <a:solidFill>
                            <a:srgbClr val="1F1F1F"/>
                          </a:solidFill>
                          <a:effectLst/>
                        </a:rPr>
                        <a:t>Total_Credit_Amount</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533782046"/>
                  </a:ext>
                </a:extLst>
              </a:tr>
              <a:tr h="321515">
                <a:tc>
                  <a:txBody>
                    <a:bodyPr/>
                    <a:lstStyle/>
                    <a:p>
                      <a:pPr rtl="0"/>
                      <a:r>
                        <a:rPr lang="en-IN" sz="1400" dirty="0">
                          <a:solidFill>
                            <a:srgbClr val="1F1F1F"/>
                          </a:solidFill>
                          <a:effectLst/>
                        </a:rPr>
                        <a:t>127.60M</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610347802"/>
                  </a:ext>
                </a:extLst>
              </a:tr>
            </a:tbl>
          </a:graphicData>
        </a:graphic>
      </p:graphicFrame>
      <p:graphicFrame>
        <p:nvGraphicFramePr>
          <p:cNvPr id="12" name="Table 11">
            <a:extLst>
              <a:ext uri="{FF2B5EF4-FFF2-40B4-BE49-F238E27FC236}">
                <a16:creationId xmlns:a16="http://schemas.microsoft.com/office/drawing/2014/main" id="{443E0060-7C2B-C5D2-FAB8-EFDA7F44C8E5}"/>
              </a:ext>
            </a:extLst>
          </p:cNvPr>
          <p:cNvGraphicFramePr>
            <a:graphicFrameLocks noGrp="1"/>
          </p:cNvGraphicFramePr>
          <p:nvPr>
            <p:extLst>
              <p:ext uri="{D42A27DB-BD31-4B8C-83A1-F6EECF244321}">
                <p14:modId xmlns:p14="http://schemas.microsoft.com/office/powerpoint/2010/main" val="3020009248"/>
              </p:ext>
            </p:extLst>
          </p:nvPr>
        </p:nvGraphicFramePr>
        <p:xfrm>
          <a:off x="8239433" y="2069691"/>
          <a:ext cx="3362631" cy="670560"/>
        </p:xfrm>
        <a:graphic>
          <a:graphicData uri="http://schemas.openxmlformats.org/drawingml/2006/table">
            <a:tbl>
              <a:tblPr firstRow="1">
                <a:tableStyleId>{69C7853C-536D-4A76-A0AE-DD22124D55A5}</a:tableStyleId>
              </a:tblPr>
              <a:tblGrid>
                <a:gridCol w="3362631">
                  <a:extLst>
                    <a:ext uri="{9D8B030D-6E8A-4147-A177-3AD203B41FA5}">
                      <a16:colId xmlns:a16="http://schemas.microsoft.com/office/drawing/2014/main" val="3237834468"/>
                    </a:ext>
                  </a:extLst>
                </a:gridCol>
              </a:tblGrid>
              <a:tr h="321515">
                <a:tc>
                  <a:txBody>
                    <a:bodyPr/>
                    <a:lstStyle/>
                    <a:p>
                      <a:pPr rtl="0"/>
                      <a:r>
                        <a:rPr lang="en-IN" sz="1400" b="1" dirty="0" err="1">
                          <a:solidFill>
                            <a:srgbClr val="1F1F1F"/>
                          </a:solidFill>
                          <a:effectLst/>
                        </a:rPr>
                        <a:t>Total_Debit_Amount</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533782046"/>
                  </a:ext>
                </a:extLst>
              </a:tr>
              <a:tr h="321515">
                <a:tc>
                  <a:txBody>
                    <a:bodyPr/>
                    <a:lstStyle/>
                    <a:p>
                      <a:pPr rtl="0"/>
                      <a:r>
                        <a:rPr lang="en-IN" sz="1400" dirty="0">
                          <a:solidFill>
                            <a:srgbClr val="1F1F1F"/>
                          </a:solidFill>
                          <a:effectLst/>
                        </a:rPr>
                        <a:t>127.29M</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610347802"/>
                  </a:ext>
                </a:extLst>
              </a:tr>
            </a:tbl>
          </a:graphicData>
        </a:graphic>
      </p:graphicFrame>
      <p:graphicFrame>
        <p:nvGraphicFramePr>
          <p:cNvPr id="13" name="Table 12">
            <a:extLst>
              <a:ext uri="{FF2B5EF4-FFF2-40B4-BE49-F238E27FC236}">
                <a16:creationId xmlns:a16="http://schemas.microsoft.com/office/drawing/2014/main" id="{756E962B-8A37-0110-1E64-5C44A41FDA6A}"/>
              </a:ext>
            </a:extLst>
          </p:cNvPr>
          <p:cNvGraphicFramePr>
            <a:graphicFrameLocks noGrp="1"/>
          </p:cNvGraphicFramePr>
          <p:nvPr>
            <p:extLst>
              <p:ext uri="{D42A27DB-BD31-4B8C-83A1-F6EECF244321}">
                <p14:modId xmlns:p14="http://schemas.microsoft.com/office/powerpoint/2010/main" val="118119914"/>
              </p:ext>
            </p:extLst>
          </p:nvPr>
        </p:nvGraphicFramePr>
        <p:xfrm>
          <a:off x="8239433" y="3652685"/>
          <a:ext cx="3362631" cy="670560"/>
        </p:xfrm>
        <a:graphic>
          <a:graphicData uri="http://schemas.openxmlformats.org/drawingml/2006/table">
            <a:tbl>
              <a:tblPr firstRow="1">
                <a:tableStyleId>{69C7853C-536D-4A76-A0AE-DD22124D55A5}</a:tableStyleId>
              </a:tblPr>
              <a:tblGrid>
                <a:gridCol w="3362631">
                  <a:extLst>
                    <a:ext uri="{9D8B030D-6E8A-4147-A177-3AD203B41FA5}">
                      <a16:colId xmlns:a16="http://schemas.microsoft.com/office/drawing/2014/main" val="3237834468"/>
                    </a:ext>
                  </a:extLst>
                </a:gridCol>
              </a:tblGrid>
              <a:tr h="321515">
                <a:tc>
                  <a:txBody>
                    <a:bodyPr/>
                    <a:lstStyle/>
                    <a:p>
                      <a:pPr rtl="0"/>
                      <a:r>
                        <a:rPr lang="en-IN" sz="1400" b="1" dirty="0" err="1">
                          <a:solidFill>
                            <a:srgbClr val="1F1F1F"/>
                          </a:solidFill>
                          <a:effectLst/>
                        </a:rPr>
                        <a:t>Credit_to_Debit_Ratio</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533782046"/>
                  </a:ext>
                </a:extLst>
              </a:tr>
              <a:tr h="321515">
                <a:tc>
                  <a:txBody>
                    <a:bodyPr/>
                    <a:lstStyle/>
                    <a:p>
                      <a:pPr rtl="0"/>
                      <a:r>
                        <a:rPr lang="en-IN" sz="1400" dirty="0">
                          <a:solidFill>
                            <a:srgbClr val="1F1F1F"/>
                          </a:solidFill>
                          <a:effectLst/>
                        </a:rPr>
                        <a:t>1.00</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610347802"/>
                  </a:ext>
                </a:extLst>
              </a:tr>
            </a:tbl>
          </a:graphicData>
        </a:graphic>
      </p:graphicFrame>
      <p:graphicFrame>
        <p:nvGraphicFramePr>
          <p:cNvPr id="14" name="Table 13">
            <a:extLst>
              <a:ext uri="{FF2B5EF4-FFF2-40B4-BE49-F238E27FC236}">
                <a16:creationId xmlns:a16="http://schemas.microsoft.com/office/drawing/2014/main" id="{8FBBF12C-514B-B902-3912-3A29D107060B}"/>
              </a:ext>
            </a:extLst>
          </p:cNvPr>
          <p:cNvGraphicFramePr>
            <a:graphicFrameLocks noGrp="1"/>
          </p:cNvGraphicFramePr>
          <p:nvPr>
            <p:extLst>
              <p:ext uri="{D42A27DB-BD31-4B8C-83A1-F6EECF244321}">
                <p14:modId xmlns:p14="http://schemas.microsoft.com/office/powerpoint/2010/main" val="3469580415"/>
              </p:ext>
            </p:extLst>
          </p:nvPr>
        </p:nvGraphicFramePr>
        <p:xfrm>
          <a:off x="8239433" y="5658466"/>
          <a:ext cx="3362631" cy="670560"/>
        </p:xfrm>
        <a:graphic>
          <a:graphicData uri="http://schemas.openxmlformats.org/drawingml/2006/table">
            <a:tbl>
              <a:tblPr firstRow="1">
                <a:tableStyleId>{69C7853C-536D-4A76-A0AE-DD22124D55A5}</a:tableStyleId>
              </a:tblPr>
              <a:tblGrid>
                <a:gridCol w="3362631">
                  <a:extLst>
                    <a:ext uri="{9D8B030D-6E8A-4147-A177-3AD203B41FA5}">
                      <a16:colId xmlns:a16="http://schemas.microsoft.com/office/drawing/2014/main" val="3237834468"/>
                    </a:ext>
                  </a:extLst>
                </a:gridCol>
              </a:tblGrid>
              <a:tr h="321515">
                <a:tc>
                  <a:txBody>
                    <a:bodyPr/>
                    <a:lstStyle/>
                    <a:p>
                      <a:pPr rtl="0"/>
                      <a:r>
                        <a:rPr lang="en-IN" sz="1400" b="1" dirty="0" err="1">
                          <a:solidFill>
                            <a:srgbClr val="1F1F1F"/>
                          </a:solidFill>
                          <a:effectLst/>
                        </a:rPr>
                        <a:t>Account_Activity_Ratio</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533782046"/>
                  </a:ext>
                </a:extLst>
              </a:tr>
              <a:tr h="321515">
                <a:tc>
                  <a:txBody>
                    <a:bodyPr/>
                    <a:lstStyle/>
                    <a:p>
                      <a:pPr rtl="0"/>
                      <a:r>
                        <a:rPr lang="en-IN" sz="1400" dirty="0">
                          <a:solidFill>
                            <a:srgbClr val="1F1F1F"/>
                          </a:solidFill>
                          <a:effectLst/>
                        </a:rPr>
                        <a:t>318117.19</a:t>
                      </a:r>
                      <a:endParaRPr lang="en-IN" sz="1400" dirty="0">
                        <a:solidFill>
                          <a:srgbClr val="1F1F1F"/>
                        </a:solidFill>
                        <a:effectLst/>
                        <a:latin typeface="Google Sans Text"/>
                      </a:endParaRPr>
                    </a:p>
                  </a:txBody>
                  <a:tcPr marT="60960" marB="60960" anchor="ctr"/>
                </a:tc>
                <a:extLst>
                  <a:ext uri="{0D108BD9-81ED-4DB2-BD59-A6C34878D82A}">
                    <a16:rowId xmlns:a16="http://schemas.microsoft.com/office/drawing/2014/main" val="2610347802"/>
                  </a:ext>
                </a:extLst>
              </a:tr>
            </a:tbl>
          </a:graphicData>
        </a:graphic>
      </p:graphicFrame>
    </p:spTree>
    <p:extLst>
      <p:ext uri="{BB962C8B-B14F-4D97-AF65-F5344CB8AC3E}">
        <p14:creationId xmlns:p14="http://schemas.microsoft.com/office/powerpoint/2010/main" val="3581852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A9735B-2518-A7D3-3AB6-5EF71A60B922}"/>
              </a:ext>
            </a:extLst>
          </p:cNvPr>
          <p:cNvSpPr txBox="1"/>
          <p:nvPr/>
        </p:nvSpPr>
        <p:spPr>
          <a:xfrm>
            <a:off x="324465" y="245806"/>
            <a:ext cx="6695767" cy="6186309"/>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a:solidFill>
                  <a:schemeClr val="accent4">
                    <a:lumMod val="50000"/>
                  </a:schemeClr>
                </a:solidFill>
              </a:rPr>
              <a:t>Total Transaction Amount by Branch</a:t>
            </a:r>
          </a:p>
          <a:p>
            <a:r>
              <a:rPr lang="en-US" dirty="0"/>
              <a:t>select </a:t>
            </a:r>
            <a:r>
              <a:rPr lang="en-US" dirty="0" err="1"/>
              <a:t>Branch,round</a:t>
            </a:r>
            <a:r>
              <a:rPr lang="en-US" dirty="0"/>
              <a:t>(sum(Amount) / 1000000, 2) </a:t>
            </a:r>
          </a:p>
          <a:p>
            <a:r>
              <a:rPr lang="en-US" dirty="0"/>
              <a:t>as </a:t>
            </a:r>
            <a:r>
              <a:rPr lang="en-US" dirty="0" err="1"/>
              <a:t>Total_Transaction</a:t>
            </a:r>
            <a:r>
              <a:rPr lang="en-US" dirty="0"/>
              <a:t> from </a:t>
            </a:r>
            <a:r>
              <a:rPr lang="en-US" dirty="0" err="1"/>
              <a:t>Credit_Debit</a:t>
            </a:r>
            <a:endParaRPr lang="en-US" dirty="0"/>
          </a:p>
          <a:p>
            <a:r>
              <a:rPr lang="en-US" dirty="0"/>
              <a:t>group by Branch order by </a:t>
            </a:r>
            <a:r>
              <a:rPr lang="en-US" dirty="0" err="1"/>
              <a:t>Total_Transaction</a:t>
            </a:r>
            <a:r>
              <a:rPr lang="en-US" dirty="0"/>
              <a:t> desc;</a:t>
            </a:r>
          </a:p>
          <a:p>
            <a:endParaRPr lang="en-US" dirty="0"/>
          </a:p>
          <a:p>
            <a:endParaRPr lang="en-US" dirty="0"/>
          </a:p>
          <a:p>
            <a:endParaRPr lang="en-US" dirty="0"/>
          </a:p>
          <a:p>
            <a:endParaRPr lang="en-US" dirty="0"/>
          </a:p>
          <a:p>
            <a:pPr marL="285750" indent="-285750">
              <a:buFont typeface="Wingdings" panose="05000000000000000000" pitchFamily="2" charset="2"/>
              <a:buChar char="Ø"/>
            </a:pPr>
            <a:r>
              <a:rPr lang="en-US" b="1" u="sng" dirty="0">
                <a:solidFill>
                  <a:schemeClr val="accent4">
                    <a:lumMod val="50000"/>
                  </a:schemeClr>
                </a:solidFill>
              </a:rPr>
              <a:t>Transaction Volume by Bank</a:t>
            </a:r>
          </a:p>
          <a:p>
            <a:r>
              <a:rPr lang="en-US" dirty="0"/>
              <a:t>select </a:t>
            </a:r>
            <a:r>
              <a:rPr lang="en-US" dirty="0" err="1"/>
              <a:t>BankName,concat</a:t>
            </a:r>
            <a:r>
              <a:rPr lang="en-US" dirty="0"/>
              <a:t>(round(sum(Amount) / 1000000, 2),'M’) </a:t>
            </a:r>
          </a:p>
          <a:p>
            <a:r>
              <a:rPr lang="en-US" dirty="0"/>
              <a:t>as </a:t>
            </a:r>
            <a:r>
              <a:rPr lang="en-US" dirty="0" err="1"/>
              <a:t>Total_Transaction</a:t>
            </a:r>
            <a:r>
              <a:rPr lang="en-US" dirty="0"/>
              <a:t> from </a:t>
            </a:r>
            <a:r>
              <a:rPr lang="en-US" dirty="0" err="1"/>
              <a:t>Credit_Debit</a:t>
            </a:r>
            <a:endParaRPr lang="en-US" dirty="0"/>
          </a:p>
          <a:p>
            <a:r>
              <a:rPr lang="en-US" dirty="0"/>
              <a:t>group by </a:t>
            </a:r>
            <a:r>
              <a:rPr lang="en-US" dirty="0" err="1"/>
              <a:t>BankName</a:t>
            </a:r>
            <a:r>
              <a:rPr lang="en-US" dirty="0"/>
              <a:t> order by </a:t>
            </a:r>
            <a:r>
              <a:rPr lang="en-US" dirty="0" err="1"/>
              <a:t>Total_Transaction</a:t>
            </a:r>
            <a:r>
              <a:rPr lang="en-US" dirty="0"/>
              <a:t> desc;</a:t>
            </a:r>
          </a:p>
          <a:p>
            <a:endParaRPr lang="en-US" dirty="0"/>
          </a:p>
          <a:p>
            <a:endParaRPr lang="en-US" dirty="0"/>
          </a:p>
          <a:p>
            <a:endParaRPr lang="en-US" dirty="0"/>
          </a:p>
          <a:p>
            <a:endParaRPr lang="en-US" dirty="0"/>
          </a:p>
          <a:p>
            <a:pPr marL="285750" indent="-285750">
              <a:buFont typeface="Wingdings" panose="05000000000000000000" pitchFamily="2" charset="2"/>
              <a:buChar char="Ø"/>
            </a:pPr>
            <a:r>
              <a:rPr lang="en-US" b="1" u="sng" dirty="0">
                <a:solidFill>
                  <a:schemeClr val="accent4">
                    <a:lumMod val="50000"/>
                  </a:schemeClr>
                </a:solidFill>
              </a:rPr>
              <a:t>Transaction Method Distribution</a:t>
            </a:r>
          </a:p>
          <a:p>
            <a:r>
              <a:rPr lang="en-US" dirty="0"/>
              <a:t>select </a:t>
            </a:r>
            <a:r>
              <a:rPr lang="en-US" dirty="0" err="1"/>
              <a:t>TransactionMethod</a:t>
            </a:r>
            <a:r>
              <a:rPr lang="en-US" dirty="0"/>
              <a:t>, sum(Amount) as </a:t>
            </a:r>
            <a:r>
              <a:rPr lang="en-US" dirty="0" err="1"/>
              <a:t>Total_Transaction</a:t>
            </a:r>
            <a:r>
              <a:rPr lang="en-US" dirty="0"/>
              <a:t>,</a:t>
            </a:r>
          </a:p>
          <a:p>
            <a:r>
              <a:rPr lang="en-US" dirty="0"/>
              <a:t>    </a:t>
            </a:r>
            <a:r>
              <a:rPr lang="en-US" dirty="0" err="1"/>
              <a:t>concat</a:t>
            </a:r>
            <a:r>
              <a:rPr lang="en-US" dirty="0"/>
              <a:t>(round(sum(Amount) * 100.0 /</a:t>
            </a:r>
          </a:p>
          <a:p>
            <a:r>
              <a:rPr lang="en-US" dirty="0"/>
              <a:t>        (select sum(Amount) from </a:t>
            </a:r>
            <a:r>
              <a:rPr lang="en-US" dirty="0" err="1"/>
              <a:t>Credit_Debit</a:t>
            </a:r>
            <a:r>
              <a:rPr lang="en-US" dirty="0"/>
              <a:t> ), 2 ),’%’) </a:t>
            </a:r>
          </a:p>
          <a:p>
            <a:r>
              <a:rPr lang="en-US" dirty="0"/>
              <a:t>as </a:t>
            </a:r>
            <a:r>
              <a:rPr lang="en-US" dirty="0" err="1"/>
              <a:t>Percent_Of_Transaction</a:t>
            </a:r>
            <a:r>
              <a:rPr lang="en-US" dirty="0"/>
              <a:t> from </a:t>
            </a:r>
            <a:r>
              <a:rPr lang="en-US" dirty="0" err="1"/>
              <a:t>Credit_Debit</a:t>
            </a:r>
            <a:r>
              <a:rPr lang="en-US" dirty="0"/>
              <a:t> </a:t>
            </a:r>
          </a:p>
          <a:p>
            <a:r>
              <a:rPr lang="en-US" dirty="0"/>
              <a:t>group by </a:t>
            </a:r>
            <a:r>
              <a:rPr lang="en-US" dirty="0" err="1"/>
              <a:t>TransactionMethod</a:t>
            </a:r>
            <a:r>
              <a:rPr lang="en-US" dirty="0"/>
              <a:t>;</a:t>
            </a:r>
          </a:p>
        </p:txBody>
      </p:sp>
      <p:graphicFrame>
        <p:nvGraphicFramePr>
          <p:cNvPr id="6" name="Table 5">
            <a:extLst>
              <a:ext uri="{FF2B5EF4-FFF2-40B4-BE49-F238E27FC236}">
                <a16:creationId xmlns:a16="http://schemas.microsoft.com/office/drawing/2014/main" id="{103179AC-4A56-F44A-8FC8-18CD781619C3}"/>
              </a:ext>
            </a:extLst>
          </p:cNvPr>
          <p:cNvGraphicFramePr>
            <a:graphicFrameLocks noGrp="1"/>
          </p:cNvGraphicFramePr>
          <p:nvPr>
            <p:extLst>
              <p:ext uri="{D42A27DB-BD31-4B8C-83A1-F6EECF244321}">
                <p14:modId xmlns:p14="http://schemas.microsoft.com/office/powerpoint/2010/main" val="77286690"/>
              </p:ext>
            </p:extLst>
          </p:nvPr>
        </p:nvGraphicFramePr>
        <p:xfrm>
          <a:off x="7472517" y="113070"/>
          <a:ext cx="4050889" cy="1920240"/>
        </p:xfrm>
        <a:graphic>
          <a:graphicData uri="http://schemas.openxmlformats.org/drawingml/2006/table">
            <a:tbl>
              <a:tblPr firstRow="1">
                <a:tableStyleId>{69C7853C-536D-4A76-A0AE-DD22124D55A5}</a:tableStyleId>
              </a:tblPr>
              <a:tblGrid>
                <a:gridCol w="2016566">
                  <a:extLst>
                    <a:ext uri="{9D8B030D-6E8A-4147-A177-3AD203B41FA5}">
                      <a16:colId xmlns:a16="http://schemas.microsoft.com/office/drawing/2014/main" val="694295068"/>
                    </a:ext>
                  </a:extLst>
                </a:gridCol>
                <a:gridCol w="2034323">
                  <a:extLst>
                    <a:ext uri="{9D8B030D-6E8A-4147-A177-3AD203B41FA5}">
                      <a16:colId xmlns:a16="http://schemas.microsoft.com/office/drawing/2014/main" val="975573574"/>
                    </a:ext>
                  </a:extLst>
                </a:gridCol>
              </a:tblGrid>
              <a:tr h="154156">
                <a:tc>
                  <a:txBody>
                    <a:bodyPr/>
                    <a:lstStyle/>
                    <a:p>
                      <a:r>
                        <a:rPr lang="en-IN" sz="1000" b="1" dirty="0">
                          <a:solidFill>
                            <a:schemeClr val="tx1"/>
                          </a:solidFill>
                          <a:effectLst/>
                        </a:rPr>
                        <a:t>Branch</a:t>
                      </a:r>
                      <a:endParaRPr lang="en-IN" sz="1000" dirty="0">
                        <a:solidFill>
                          <a:schemeClr val="tx1"/>
                        </a:solidFill>
                        <a:effectLst/>
                        <a:latin typeface="Google Sans Text"/>
                      </a:endParaRPr>
                    </a:p>
                  </a:txBody>
                  <a:tcPr marT="60960" marB="60960" anchor="ctr"/>
                </a:tc>
                <a:tc>
                  <a:txBody>
                    <a:bodyPr/>
                    <a:lstStyle/>
                    <a:p>
                      <a:r>
                        <a:rPr lang="en-IN" sz="1000" b="1" dirty="0" err="1">
                          <a:solidFill>
                            <a:schemeClr val="tx1"/>
                          </a:solidFill>
                          <a:effectLst/>
                        </a:rPr>
                        <a:t>Total_Transaction</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466376812"/>
                  </a:ext>
                </a:extLst>
              </a:tr>
              <a:tr h="154156">
                <a:tc>
                  <a:txBody>
                    <a:bodyPr/>
                    <a:lstStyle/>
                    <a:p>
                      <a:r>
                        <a:rPr lang="en-IN" sz="1000" dirty="0">
                          <a:solidFill>
                            <a:schemeClr val="tx1"/>
                          </a:solidFill>
                          <a:effectLst/>
                        </a:rPr>
                        <a:t>City </a:t>
                      </a:r>
                      <a:r>
                        <a:rPr lang="en-IN" sz="1000" dirty="0" err="1">
                          <a:solidFill>
                            <a:schemeClr val="tx1"/>
                          </a:solidFill>
                          <a:effectLst/>
                        </a:rPr>
                        <a:t>Center</a:t>
                      </a:r>
                      <a:r>
                        <a:rPr lang="en-IN" sz="1000" dirty="0">
                          <a:solidFill>
                            <a:schemeClr val="tx1"/>
                          </a:solidFill>
                          <a:effectLst/>
                        </a:rPr>
                        <a:t> Branch</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mn-lt"/>
                        </a:rPr>
                        <a:t>42.91</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3953828519"/>
                  </a:ext>
                </a:extLst>
              </a:tr>
              <a:tr h="154156">
                <a:tc>
                  <a:txBody>
                    <a:bodyPr/>
                    <a:lstStyle/>
                    <a:p>
                      <a:r>
                        <a:rPr lang="en-US" sz="1000" dirty="0">
                          <a:solidFill>
                            <a:schemeClr val="tx1"/>
                          </a:solidFill>
                          <a:effectLst/>
                          <a:latin typeface="+mn-lt"/>
                        </a:rPr>
                        <a:t>Main Branch</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2.84</a:t>
                      </a:r>
                    </a:p>
                  </a:txBody>
                  <a:tcPr marT="60960" marB="60960" anchor="ctr"/>
                </a:tc>
                <a:extLst>
                  <a:ext uri="{0D108BD9-81ED-4DB2-BD59-A6C34878D82A}">
                    <a16:rowId xmlns:a16="http://schemas.microsoft.com/office/drawing/2014/main" val="522754595"/>
                  </a:ext>
                </a:extLst>
              </a:tr>
              <a:tr h="154156">
                <a:tc>
                  <a:txBody>
                    <a:bodyPr/>
                    <a:lstStyle/>
                    <a:p>
                      <a:r>
                        <a:rPr lang="en-US" sz="1000" dirty="0">
                          <a:solidFill>
                            <a:schemeClr val="tx1"/>
                          </a:solidFill>
                          <a:effectLst/>
                          <a:latin typeface="Google Sans Text"/>
                        </a:rPr>
                        <a:t>East Branch</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2.70</a:t>
                      </a:r>
                    </a:p>
                  </a:txBody>
                  <a:tcPr marT="60960" marB="60960" anchor="ctr"/>
                </a:tc>
                <a:extLst>
                  <a:ext uri="{0D108BD9-81ED-4DB2-BD59-A6C34878D82A}">
                    <a16:rowId xmlns:a16="http://schemas.microsoft.com/office/drawing/2014/main" val="1568804099"/>
                  </a:ext>
                </a:extLst>
              </a:tr>
              <a:tr h="154156">
                <a:tc>
                  <a:txBody>
                    <a:bodyPr/>
                    <a:lstStyle/>
                    <a:p>
                      <a:r>
                        <a:rPr lang="en-US" sz="1000" dirty="0">
                          <a:solidFill>
                            <a:schemeClr val="tx1"/>
                          </a:solidFill>
                          <a:effectLst/>
                          <a:latin typeface="Google Sans Text"/>
                        </a:rPr>
                        <a:t>Downtown Branch</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2.59</a:t>
                      </a:r>
                    </a:p>
                  </a:txBody>
                  <a:tcPr marT="60960" marB="60960" anchor="ctr"/>
                </a:tc>
                <a:extLst>
                  <a:ext uri="{0D108BD9-81ED-4DB2-BD59-A6C34878D82A}">
                    <a16:rowId xmlns:a16="http://schemas.microsoft.com/office/drawing/2014/main" val="596099298"/>
                  </a:ext>
                </a:extLst>
              </a:tr>
              <a:tr h="154156">
                <a:tc>
                  <a:txBody>
                    <a:bodyPr/>
                    <a:lstStyle/>
                    <a:p>
                      <a:r>
                        <a:rPr lang="en-US" sz="1000" dirty="0" err="1">
                          <a:solidFill>
                            <a:schemeClr val="tx1"/>
                          </a:solidFill>
                          <a:effectLst/>
                          <a:latin typeface="Google Sans Text"/>
                        </a:rPr>
                        <a:t>Subarban</a:t>
                      </a:r>
                      <a:r>
                        <a:rPr lang="en-US" sz="1000" dirty="0">
                          <a:solidFill>
                            <a:schemeClr val="tx1"/>
                          </a:solidFill>
                          <a:effectLst/>
                          <a:latin typeface="Google Sans Text"/>
                        </a:rPr>
                        <a:t> Branch</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2.18</a:t>
                      </a:r>
                    </a:p>
                  </a:txBody>
                  <a:tcPr marT="60960" marB="60960" anchor="ctr"/>
                </a:tc>
                <a:extLst>
                  <a:ext uri="{0D108BD9-81ED-4DB2-BD59-A6C34878D82A}">
                    <a16:rowId xmlns:a16="http://schemas.microsoft.com/office/drawing/2014/main" val="1387518965"/>
                  </a:ext>
                </a:extLst>
              </a:tr>
              <a:tr h="0">
                <a:tc>
                  <a:txBody>
                    <a:bodyPr/>
                    <a:lstStyle/>
                    <a:p>
                      <a:r>
                        <a:rPr lang="en-US" sz="1000" dirty="0">
                          <a:solidFill>
                            <a:schemeClr val="tx1"/>
                          </a:solidFill>
                          <a:effectLst/>
                          <a:latin typeface="Google Sans Text"/>
                        </a:rPr>
                        <a:t>North Branch</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1.68</a:t>
                      </a:r>
                    </a:p>
                  </a:txBody>
                  <a:tcPr marT="60960" marB="60960" anchor="ctr"/>
                </a:tc>
                <a:extLst>
                  <a:ext uri="{0D108BD9-81ED-4DB2-BD59-A6C34878D82A}">
                    <a16:rowId xmlns:a16="http://schemas.microsoft.com/office/drawing/2014/main" val="238814735"/>
                  </a:ext>
                </a:extLst>
              </a:tr>
            </a:tbl>
          </a:graphicData>
        </a:graphic>
      </p:graphicFrame>
      <p:graphicFrame>
        <p:nvGraphicFramePr>
          <p:cNvPr id="7" name="Table 6">
            <a:extLst>
              <a:ext uri="{FF2B5EF4-FFF2-40B4-BE49-F238E27FC236}">
                <a16:creationId xmlns:a16="http://schemas.microsoft.com/office/drawing/2014/main" id="{DA698BBF-20A7-926C-891C-0C212952D387}"/>
              </a:ext>
            </a:extLst>
          </p:cNvPr>
          <p:cNvGraphicFramePr>
            <a:graphicFrameLocks noGrp="1"/>
          </p:cNvGraphicFramePr>
          <p:nvPr>
            <p:extLst>
              <p:ext uri="{D42A27DB-BD31-4B8C-83A1-F6EECF244321}">
                <p14:modId xmlns:p14="http://schemas.microsoft.com/office/powerpoint/2010/main" val="2620038645"/>
              </p:ext>
            </p:extLst>
          </p:nvPr>
        </p:nvGraphicFramePr>
        <p:xfrm>
          <a:off x="7300453" y="2311564"/>
          <a:ext cx="4360606" cy="1920240"/>
        </p:xfrm>
        <a:graphic>
          <a:graphicData uri="http://schemas.openxmlformats.org/drawingml/2006/table">
            <a:tbl>
              <a:tblPr firstRow="1">
                <a:tableStyleId>{69C7853C-536D-4A76-A0AE-DD22124D55A5}</a:tableStyleId>
              </a:tblPr>
              <a:tblGrid>
                <a:gridCol w="2170746">
                  <a:extLst>
                    <a:ext uri="{9D8B030D-6E8A-4147-A177-3AD203B41FA5}">
                      <a16:colId xmlns:a16="http://schemas.microsoft.com/office/drawing/2014/main" val="694295068"/>
                    </a:ext>
                  </a:extLst>
                </a:gridCol>
                <a:gridCol w="2189860">
                  <a:extLst>
                    <a:ext uri="{9D8B030D-6E8A-4147-A177-3AD203B41FA5}">
                      <a16:colId xmlns:a16="http://schemas.microsoft.com/office/drawing/2014/main" val="975573574"/>
                    </a:ext>
                  </a:extLst>
                </a:gridCol>
              </a:tblGrid>
              <a:tr h="154156">
                <a:tc>
                  <a:txBody>
                    <a:bodyPr/>
                    <a:lstStyle/>
                    <a:p>
                      <a:r>
                        <a:rPr lang="en-IN" sz="1000" b="1" dirty="0" err="1">
                          <a:solidFill>
                            <a:schemeClr val="tx1"/>
                          </a:solidFill>
                          <a:effectLst/>
                        </a:rPr>
                        <a:t>Bank_Name</a:t>
                      </a:r>
                      <a:endParaRPr lang="en-IN" sz="1000" dirty="0">
                        <a:solidFill>
                          <a:schemeClr val="tx1"/>
                        </a:solidFill>
                        <a:effectLst/>
                        <a:latin typeface="Google Sans Text"/>
                      </a:endParaRPr>
                    </a:p>
                  </a:txBody>
                  <a:tcPr marT="60960" marB="60960" anchor="ctr"/>
                </a:tc>
                <a:tc>
                  <a:txBody>
                    <a:bodyPr/>
                    <a:lstStyle/>
                    <a:p>
                      <a:r>
                        <a:rPr lang="en-IN" sz="1000" b="1" dirty="0" err="1">
                          <a:solidFill>
                            <a:schemeClr val="tx1"/>
                          </a:solidFill>
                          <a:effectLst/>
                        </a:rPr>
                        <a:t>Total_Transaction</a:t>
                      </a:r>
                      <a:endParaRPr lang="en-IN" sz="1000" dirty="0">
                        <a:solidFill>
                          <a:schemeClr val="tx1"/>
                        </a:solidFill>
                        <a:effectLst/>
                        <a:latin typeface="Google Sans Text"/>
                      </a:endParaRPr>
                    </a:p>
                  </a:txBody>
                  <a:tcPr marT="60960" marB="60960" anchor="ctr"/>
                </a:tc>
                <a:extLst>
                  <a:ext uri="{0D108BD9-81ED-4DB2-BD59-A6C34878D82A}">
                    <a16:rowId xmlns:a16="http://schemas.microsoft.com/office/drawing/2014/main" val="1466376812"/>
                  </a:ext>
                </a:extLst>
              </a:tr>
              <a:tr h="154156">
                <a:tc>
                  <a:txBody>
                    <a:bodyPr/>
                    <a:lstStyle/>
                    <a:p>
                      <a:r>
                        <a:rPr lang="en-US" sz="1000" dirty="0">
                          <a:solidFill>
                            <a:schemeClr val="tx1"/>
                          </a:solidFill>
                          <a:effectLst/>
                          <a:latin typeface="+mn-lt"/>
                        </a:rPr>
                        <a:t>Kotak Mahindra Bank</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42.83M</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3953828519"/>
                  </a:ext>
                </a:extLst>
              </a:tr>
              <a:tr h="154156">
                <a:tc>
                  <a:txBody>
                    <a:bodyPr/>
                    <a:lstStyle/>
                    <a:p>
                      <a:r>
                        <a:rPr lang="en-US" sz="1000" dirty="0">
                          <a:solidFill>
                            <a:schemeClr val="tx1"/>
                          </a:solidFill>
                          <a:effectLst/>
                          <a:latin typeface="+mn-lt"/>
                        </a:rPr>
                        <a:t>Axis Bank</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2.71M</a:t>
                      </a:r>
                    </a:p>
                  </a:txBody>
                  <a:tcPr marT="60960" marB="60960" anchor="ctr"/>
                </a:tc>
                <a:extLst>
                  <a:ext uri="{0D108BD9-81ED-4DB2-BD59-A6C34878D82A}">
                    <a16:rowId xmlns:a16="http://schemas.microsoft.com/office/drawing/2014/main" val="522754595"/>
                  </a:ext>
                </a:extLst>
              </a:tr>
              <a:tr h="154156">
                <a:tc>
                  <a:txBody>
                    <a:bodyPr/>
                    <a:lstStyle/>
                    <a:p>
                      <a:r>
                        <a:rPr lang="en-US" sz="1000" dirty="0">
                          <a:solidFill>
                            <a:schemeClr val="tx1"/>
                          </a:solidFill>
                          <a:effectLst/>
                          <a:latin typeface="Google Sans Text"/>
                        </a:rPr>
                        <a:t>State Bank Of India</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2.59M</a:t>
                      </a:r>
                    </a:p>
                  </a:txBody>
                  <a:tcPr marT="60960" marB="60960" anchor="ctr"/>
                </a:tc>
                <a:extLst>
                  <a:ext uri="{0D108BD9-81ED-4DB2-BD59-A6C34878D82A}">
                    <a16:rowId xmlns:a16="http://schemas.microsoft.com/office/drawing/2014/main" val="1568804099"/>
                  </a:ext>
                </a:extLst>
              </a:tr>
              <a:tr h="154156">
                <a:tc>
                  <a:txBody>
                    <a:bodyPr/>
                    <a:lstStyle/>
                    <a:p>
                      <a:r>
                        <a:rPr lang="en-US" sz="1000" dirty="0" err="1">
                          <a:solidFill>
                            <a:schemeClr val="tx1"/>
                          </a:solidFill>
                          <a:effectLst/>
                          <a:latin typeface="Google Sans Text"/>
                        </a:rPr>
                        <a:t>Icici</a:t>
                      </a:r>
                      <a:r>
                        <a:rPr lang="en-US" sz="1000" dirty="0">
                          <a:solidFill>
                            <a:schemeClr val="tx1"/>
                          </a:solidFill>
                          <a:effectLst/>
                          <a:latin typeface="Google Sans Text"/>
                        </a:rPr>
                        <a:t> Bank</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2.52M</a:t>
                      </a:r>
                    </a:p>
                  </a:txBody>
                  <a:tcPr marT="60960" marB="60960" anchor="ctr"/>
                </a:tc>
                <a:extLst>
                  <a:ext uri="{0D108BD9-81ED-4DB2-BD59-A6C34878D82A}">
                    <a16:rowId xmlns:a16="http://schemas.microsoft.com/office/drawing/2014/main" val="596099298"/>
                  </a:ext>
                </a:extLst>
              </a:tr>
              <a:tr h="154156">
                <a:tc>
                  <a:txBody>
                    <a:bodyPr/>
                    <a:lstStyle/>
                    <a:p>
                      <a:r>
                        <a:rPr lang="en-US" sz="1000" dirty="0">
                          <a:solidFill>
                            <a:schemeClr val="tx1"/>
                          </a:solidFill>
                          <a:effectLst/>
                          <a:latin typeface="Google Sans Text"/>
                        </a:rPr>
                        <a:t>Punjab National Bank</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2.37M</a:t>
                      </a:r>
                    </a:p>
                  </a:txBody>
                  <a:tcPr marT="60960" marB="60960" anchor="ctr"/>
                </a:tc>
                <a:extLst>
                  <a:ext uri="{0D108BD9-81ED-4DB2-BD59-A6C34878D82A}">
                    <a16:rowId xmlns:a16="http://schemas.microsoft.com/office/drawing/2014/main" val="1387518965"/>
                  </a:ext>
                </a:extLst>
              </a:tr>
              <a:tr h="0">
                <a:tc>
                  <a:txBody>
                    <a:bodyPr/>
                    <a:lstStyle/>
                    <a:p>
                      <a:r>
                        <a:rPr lang="en-US" sz="1000" dirty="0" err="1">
                          <a:solidFill>
                            <a:schemeClr val="tx1"/>
                          </a:solidFill>
                          <a:effectLst/>
                          <a:latin typeface="Google Sans Text"/>
                        </a:rPr>
                        <a:t>Hdfc</a:t>
                      </a:r>
                      <a:r>
                        <a:rPr lang="en-US" sz="1000" dirty="0">
                          <a:solidFill>
                            <a:schemeClr val="tx1"/>
                          </a:solidFill>
                          <a:effectLst/>
                          <a:latin typeface="Google Sans Text"/>
                        </a:rPr>
                        <a:t> Bank</a:t>
                      </a:r>
                      <a:endParaRPr lang="en-IN" sz="1000" dirty="0">
                        <a:solidFill>
                          <a:schemeClr val="tx1"/>
                        </a:solidFill>
                        <a:effectLst/>
                        <a:latin typeface="Google Sans Text"/>
                      </a:endParaRPr>
                    </a:p>
                  </a:txBody>
                  <a:tcPr marT="60960" marB="60960" anchor="ctr"/>
                </a:tc>
                <a:tc>
                  <a:txBody>
                    <a:bodyPr/>
                    <a:lstStyle/>
                    <a:p>
                      <a:r>
                        <a:rPr lang="en-US" sz="1000" dirty="0">
                          <a:solidFill>
                            <a:schemeClr val="tx1"/>
                          </a:solidFill>
                          <a:effectLst/>
                          <a:latin typeface="Google Sans Text"/>
                        </a:rPr>
                        <a:t>4</a:t>
                      </a:r>
                      <a:r>
                        <a:rPr lang="en-IN" sz="1000" dirty="0">
                          <a:solidFill>
                            <a:schemeClr val="tx1"/>
                          </a:solidFill>
                          <a:effectLst/>
                          <a:latin typeface="Google Sans Text"/>
                        </a:rPr>
                        <a:t>1.87M</a:t>
                      </a:r>
                    </a:p>
                  </a:txBody>
                  <a:tcPr marT="60960" marB="60960" anchor="ctr"/>
                </a:tc>
                <a:extLst>
                  <a:ext uri="{0D108BD9-81ED-4DB2-BD59-A6C34878D82A}">
                    <a16:rowId xmlns:a16="http://schemas.microsoft.com/office/drawing/2014/main" val="238814735"/>
                  </a:ext>
                </a:extLst>
              </a:tr>
            </a:tbl>
          </a:graphicData>
        </a:graphic>
      </p:graphicFrame>
      <p:graphicFrame>
        <p:nvGraphicFramePr>
          <p:cNvPr id="8" name="Table 7">
            <a:extLst>
              <a:ext uri="{FF2B5EF4-FFF2-40B4-BE49-F238E27FC236}">
                <a16:creationId xmlns:a16="http://schemas.microsoft.com/office/drawing/2014/main" id="{F6EA3146-7458-8B39-B548-1C23D720C2BC}"/>
              </a:ext>
            </a:extLst>
          </p:cNvPr>
          <p:cNvGraphicFramePr>
            <a:graphicFrameLocks noGrp="1"/>
          </p:cNvGraphicFramePr>
          <p:nvPr>
            <p:extLst>
              <p:ext uri="{D42A27DB-BD31-4B8C-83A1-F6EECF244321}">
                <p14:modId xmlns:p14="http://schemas.microsoft.com/office/powerpoint/2010/main" val="4042358171"/>
              </p:ext>
            </p:extLst>
          </p:nvPr>
        </p:nvGraphicFramePr>
        <p:xfrm>
          <a:off x="7374194" y="4896466"/>
          <a:ext cx="4149213" cy="1297860"/>
        </p:xfrm>
        <a:graphic>
          <a:graphicData uri="http://schemas.openxmlformats.org/drawingml/2006/table">
            <a:tbl>
              <a:tblPr firstRow="1">
                <a:tableStyleId>{69C7853C-536D-4A76-A0AE-DD22124D55A5}</a:tableStyleId>
              </a:tblPr>
              <a:tblGrid>
                <a:gridCol w="1374999">
                  <a:extLst>
                    <a:ext uri="{9D8B030D-6E8A-4147-A177-3AD203B41FA5}">
                      <a16:colId xmlns:a16="http://schemas.microsoft.com/office/drawing/2014/main" val="694295068"/>
                    </a:ext>
                  </a:extLst>
                </a:gridCol>
                <a:gridCol w="1387107">
                  <a:extLst>
                    <a:ext uri="{9D8B030D-6E8A-4147-A177-3AD203B41FA5}">
                      <a16:colId xmlns:a16="http://schemas.microsoft.com/office/drawing/2014/main" val="975573574"/>
                    </a:ext>
                  </a:extLst>
                </a:gridCol>
                <a:gridCol w="1387107">
                  <a:extLst>
                    <a:ext uri="{9D8B030D-6E8A-4147-A177-3AD203B41FA5}">
                      <a16:colId xmlns:a16="http://schemas.microsoft.com/office/drawing/2014/main" val="1597352116"/>
                    </a:ext>
                  </a:extLst>
                </a:gridCol>
              </a:tblGrid>
              <a:tr h="324465">
                <a:tc>
                  <a:txBody>
                    <a:bodyPr/>
                    <a:lstStyle/>
                    <a:p>
                      <a:r>
                        <a:rPr lang="en-US" sz="1000" dirty="0" err="1">
                          <a:solidFill>
                            <a:schemeClr val="tx1"/>
                          </a:solidFill>
                          <a:effectLst/>
                          <a:latin typeface="+mn-lt"/>
                        </a:rPr>
                        <a:t>Transaction_Method</a:t>
                      </a:r>
                      <a:endParaRPr lang="en-IN" sz="1000" dirty="0">
                        <a:solidFill>
                          <a:schemeClr val="tx1"/>
                        </a:solidFill>
                        <a:effectLst/>
                        <a:latin typeface="+mn-lt"/>
                      </a:endParaRPr>
                    </a:p>
                  </a:txBody>
                  <a:tcPr marT="60960" marB="60960" anchor="ctr"/>
                </a:tc>
                <a:tc>
                  <a:txBody>
                    <a:bodyPr/>
                    <a:lstStyle/>
                    <a:p>
                      <a:r>
                        <a:rPr lang="en-IN" sz="1000" b="1" dirty="0" err="1">
                          <a:solidFill>
                            <a:schemeClr val="tx1"/>
                          </a:solidFill>
                          <a:effectLst/>
                          <a:latin typeface="+mn-lt"/>
                        </a:rPr>
                        <a:t>Total_Transaction</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Transaction %</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1466376812"/>
                  </a:ext>
                </a:extLst>
              </a:tr>
              <a:tr h="324465">
                <a:tc>
                  <a:txBody>
                    <a:bodyPr/>
                    <a:lstStyle/>
                    <a:p>
                      <a:r>
                        <a:rPr lang="en-US" sz="1000" dirty="0">
                          <a:solidFill>
                            <a:schemeClr val="tx1"/>
                          </a:solidFill>
                          <a:effectLst/>
                          <a:latin typeface="+mn-lt"/>
                        </a:rPr>
                        <a:t>Credit Card</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84929361.03</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33.32%</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3953828519"/>
                  </a:ext>
                </a:extLst>
              </a:tr>
              <a:tr h="324465">
                <a:tc>
                  <a:txBody>
                    <a:bodyPr/>
                    <a:lstStyle/>
                    <a:p>
                      <a:r>
                        <a:rPr lang="en-US" sz="1000" dirty="0">
                          <a:solidFill>
                            <a:schemeClr val="tx1"/>
                          </a:solidFill>
                          <a:effectLst/>
                          <a:latin typeface="+mn-lt"/>
                        </a:rPr>
                        <a:t>Bank Transfer</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84800788.42</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33.27%</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522754595"/>
                  </a:ext>
                </a:extLst>
              </a:tr>
              <a:tr h="324465">
                <a:tc>
                  <a:txBody>
                    <a:bodyPr/>
                    <a:lstStyle/>
                    <a:p>
                      <a:r>
                        <a:rPr lang="en-US" sz="1000" dirty="0">
                          <a:solidFill>
                            <a:schemeClr val="tx1"/>
                          </a:solidFill>
                          <a:effectLst/>
                          <a:latin typeface="+mn-lt"/>
                        </a:rPr>
                        <a:t>Debit Card</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85158506.18</a:t>
                      </a:r>
                      <a:endParaRPr lang="en-IN" sz="1000" dirty="0">
                        <a:solidFill>
                          <a:schemeClr val="tx1"/>
                        </a:solidFill>
                        <a:effectLst/>
                        <a:latin typeface="+mn-lt"/>
                      </a:endParaRPr>
                    </a:p>
                  </a:txBody>
                  <a:tcPr marT="60960" marB="60960" anchor="ctr"/>
                </a:tc>
                <a:tc>
                  <a:txBody>
                    <a:bodyPr/>
                    <a:lstStyle/>
                    <a:p>
                      <a:r>
                        <a:rPr lang="en-US" sz="1000" dirty="0">
                          <a:solidFill>
                            <a:schemeClr val="tx1"/>
                          </a:solidFill>
                          <a:effectLst/>
                          <a:latin typeface="+mn-lt"/>
                        </a:rPr>
                        <a:t>33.41%</a:t>
                      </a:r>
                      <a:endParaRPr lang="en-IN" sz="1000" dirty="0">
                        <a:solidFill>
                          <a:schemeClr val="tx1"/>
                        </a:solidFill>
                        <a:effectLst/>
                        <a:latin typeface="+mn-lt"/>
                      </a:endParaRPr>
                    </a:p>
                  </a:txBody>
                  <a:tcPr marT="60960" marB="60960" anchor="ctr"/>
                </a:tc>
                <a:extLst>
                  <a:ext uri="{0D108BD9-81ED-4DB2-BD59-A6C34878D82A}">
                    <a16:rowId xmlns:a16="http://schemas.microsoft.com/office/drawing/2014/main" val="1568804099"/>
                  </a:ext>
                </a:extLst>
              </a:tr>
            </a:tbl>
          </a:graphicData>
        </a:graphic>
      </p:graphicFrame>
    </p:spTree>
    <p:extLst>
      <p:ext uri="{BB962C8B-B14F-4D97-AF65-F5344CB8AC3E}">
        <p14:creationId xmlns:p14="http://schemas.microsoft.com/office/powerpoint/2010/main" val="4206919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A9735B-2518-A7D3-3AB6-5EF71A60B922}"/>
              </a:ext>
            </a:extLst>
          </p:cNvPr>
          <p:cNvSpPr txBox="1"/>
          <p:nvPr/>
        </p:nvSpPr>
        <p:spPr>
          <a:xfrm>
            <a:off x="757086" y="521109"/>
            <a:ext cx="5978012" cy="5416868"/>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a:solidFill>
                  <a:schemeClr val="accent4">
                    <a:lumMod val="50000"/>
                  </a:schemeClr>
                </a:solidFill>
              </a:rPr>
              <a:t>Transaction Per Day/Week/Month</a:t>
            </a:r>
          </a:p>
          <a:p>
            <a:r>
              <a:rPr lang="en-US" sz="1600" dirty="0"/>
              <a:t>SELECT</a:t>
            </a:r>
          </a:p>
          <a:p>
            <a:r>
              <a:rPr lang="en-US" sz="1600" dirty="0"/>
              <a:t>    DATE(</a:t>
            </a:r>
            <a:r>
              <a:rPr lang="en-US" sz="1600" dirty="0" err="1"/>
              <a:t>TransactionDate</a:t>
            </a:r>
            <a:r>
              <a:rPr lang="en-US" sz="1600" dirty="0"/>
              <a:t>) AS </a:t>
            </a:r>
            <a:r>
              <a:rPr lang="en-US" sz="1600" dirty="0" err="1"/>
              <a:t>transaction_day</a:t>
            </a:r>
            <a:r>
              <a:rPr lang="en-US" sz="1600" dirty="0"/>
              <a:t>,</a:t>
            </a:r>
          </a:p>
          <a:p>
            <a:r>
              <a:rPr lang="en-US" sz="1600" dirty="0"/>
              <a:t>    WEEK(</a:t>
            </a:r>
            <a:r>
              <a:rPr lang="en-US" sz="1600" dirty="0" err="1"/>
              <a:t>TransactionDate</a:t>
            </a:r>
            <a:r>
              <a:rPr lang="en-US" sz="1600" dirty="0"/>
              <a:t>, 1) AS </a:t>
            </a:r>
            <a:r>
              <a:rPr lang="en-US" sz="1600" dirty="0" err="1"/>
              <a:t>week_number</a:t>
            </a:r>
            <a:r>
              <a:rPr lang="en-US" sz="1600" dirty="0"/>
              <a:t>,</a:t>
            </a:r>
          </a:p>
          <a:p>
            <a:r>
              <a:rPr lang="en-US" sz="1600" dirty="0"/>
              <a:t>    DATE_FORMAT(</a:t>
            </a:r>
            <a:r>
              <a:rPr lang="en-US" sz="1600" dirty="0" err="1"/>
              <a:t>TransactionDate</a:t>
            </a:r>
            <a:r>
              <a:rPr lang="en-US" sz="1600" dirty="0"/>
              <a:t>, '%m') AS month,</a:t>
            </a:r>
          </a:p>
          <a:p>
            <a:r>
              <a:rPr lang="en-US" sz="1600" dirty="0"/>
              <a:t>    COUNT(*) AS </a:t>
            </a:r>
            <a:r>
              <a:rPr lang="en-US" sz="1600" dirty="0" err="1"/>
              <a:t>total_transactions</a:t>
            </a:r>
            <a:endParaRPr lang="en-US" sz="1600" dirty="0"/>
          </a:p>
          <a:p>
            <a:r>
              <a:rPr lang="en-US" sz="1600" dirty="0"/>
              <a:t>FROM </a:t>
            </a:r>
            <a:r>
              <a:rPr lang="en-US" sz="1600" dirty="0" err="1"/>
              <a:t>Credit_Debit</a:t>
            </a:r>
            <a:endParaRPr lang="en-US" sz="1600" dirty="0"/>
          </a:p>
          <a:p>
            <a:r>
              <a:rPr lang="en-US" sz="1600" dirty="0"/>
              <a:t>GROUP BY</a:t>
            </a:r>
          </a:p>
          <a:p>
            <a:r>
              <a:rPr lang="en-US" sz="1600" dirty="0"/>
              <a:t>    DATE(</a:t>
            </a:r>
            <a:r>
              <a:rPr lang="en-US" sz="1600" dirty="0" err="1"/>
              <a:t>TransactionDate</a:t>
            </a:r>
            <a:r>
              <a:rPr lang="en-US" sz="1600" dirty="0"/>
              <a:t>),</a:t>
            </a:r>
          </a:p>
          <a:p>
            <a:r>
              <a:rPr lang="en-US" sz="1600" dirty="0"/>
              <a:t>    YEAR(</a:t>
            </a:r>
            <a:r>
              <a:rPr lang="en-US" sz="1600" dirty="0" err="1"/>
              <a:t>TransactionDate</a:t>
            </a:r>
            <a:r>
              <a:rPr lang="en-US" sz="1600" dirty="0"/>
              <a:t>),</a:t>
            </a:r>
          </a:p>
          <a:p>
            <a:r>
              <a:rPr lang="en-US" sz="1600" dirty="0"/>
              <a:t>    WEEK(</a:t>
            </a:r>
            <a:r>
              <a:rPr lang="en-US" sz="1600" dirty="0" err="1"/>
              <a:t>TransactionDate</a:t>
            </a:r>
            <a:r>
              <a:rPr lang="en-US" sz="1600" dirty="0"/>
              <a:t>, 1),</a:t>
            </a:r>
          </a:p>
          <a:p>
            <a:r>
              <a:rPr lang="en-US" sz="1600" dirty="0"/>
              <a:t>    DATE_FORMAT(</a:t>
            </a:r>
            <a:r>
              <a:rPr lang="en-US" sz="1600" dirty="0" err="1"/>
              <a:t>TransactionDate</a:t>
            </a:r>
            <a:r>
              <a:rPr lang="en-US" sz="1600" dirty="0"/>
              <a:t>, '%m')</a:t>
            </a:r>
          </a:p>
          <a:p>
            <a:r>
              <a:rPr lang="en-US" sz="1600" dirty="0"/>
              <a:t>ORDER BY </a:t>
            </a:r>
            <a:r>
              <a:rPr lang="en-US" sz="1600" dirty="0" err="1"/>
              <a:t>transaction_day</a:t>
            </a:r>
            <a:r>
              <a:rPr lang="en-US" sz="1600" dirty="0"/>
              <a:t>;</a:t>
            </a:r>
          </a:p>
          <a:p>
            <a:endParaRPr lang="en-US" sz="1600" dirty="0"/>
          </a:p>
          <a:p>
            <a:endParaRPr lang="en-US" sz="1600" dirty="0"/>
          </a:p>
          <a:p>
            <a:endParaRPr lang="en-US" sz="1600" dirty="0"/>
          </a:p>
          <a:p>
            <a:endParaRPr lang="en-US" sz="1600" dirty="0"/>
          </a:p>
          <a:p>
            <a:pPr marL="285750" indent="-285750">
              <a:buFont typeface="Wingdings" panose="05000000000000000000" pitchFamily="2" charset="2"/>
              <a:buChar char="Ø"/>
            </a:pPr>
            <a:r>
              <a:rPr lang="en-US" b="1" u="sng" dirty="0">
                <a:solidFill>
                  <a:schemeClr val="accent4">
                    <a:lumMod val="50000"/>
                  </a:schemeClr>
                </a:solidFill>
              </a:rPr>
              <a:t>High-Risk Transaction Flag</a:t>
            </a:r>
          </a:p>
          <a:p>
            <a:r>
              <a:rPr lang="en-US" dirty="0"/>
              <a:t>select </a:t>
            </a:r>
            <a:r>
              <a:rPr lang="en-US" dirty="0" err="1"/>
              <a:t>Risk,count</a:t>
            </a:r>
            <a:r>
              <a:rPr lang="en-US" dirty="0"/>
              <a:t>(Risk) from </a:t>
            </a:r>
            <a:r>
              <a:rPr lang="en-US" dirty="0" err="1"/>
              <a:t>Credit_Debit</a:t>
            </a:r>
            <a:endParaRPr lang="en-US" dirty="0"/>
          </a:p>
          <a:p>
            <a:r>
              <a:rPr lang="en-US" dirty="0"/>
              <a:t>group by Risk </a:t>
            </a:r>
          </a:p>
          <a:p>
            <a:r>
              <a:rPr lang="en-US" dirty="0"/>
              <a:t>order by count(Risk) limit 1 ;</a:t>
            </a:r>
            <a:endParaRPr lang="en-IN" dirty="0"/>
          </a:p>
        </p:txBody>
      </p:sp>
      <p:graphicFrame>
        <p:nvGraphicFramePr>
          <p:cNvPr id="6" name="Table 5">
            <a:extLst>
              <a:ext uri="{FF2B5EF4-FFF2-40B4-BE49-F238E27FC236}">
                <a16:creationId xmlns:a16="http://schemas.microsoft.com/office/drawing/2014/main" id="{103179AC-4A56-F44A-8FC8-18CD781619C3}"/>
              </a:ext>
            </a:extLst>
          </p:cNvPr>
          <p:cNvGraphicFramePr>
            <a:graphicFrameLocks noGrp="1"/>
          </p:cNvGraphicFramePr>
          <p:nvPr>
            <p:extLst>
              <p:ext uri="{D42A27DB-BD31-4B8C-83A1-F6EECF244321}">
                <p14:modId xmlns:p14="http://schemas.microsoft.com/office/powerpoint/2010/main" val="2636534279"/>
              </p:ext>
            </p:extLst>
          </p:nvPr>
        </p:nvGraphicFramePr>
        <p:xfrm>
          <a:off x="7775293" y="251705"/>
          <a:ext cx="3563322" cy="3764280"/>
        </p:xfrm>
        <a:graphic>
          <a:graphicData uri="http://schemas.openxmlformats.org/drawingml/2006/table">
            <a:tbl>
              <a:tblPr firstRow="1">
                <a:tableStyleId>{69C7853C-536D-4A76-A0AE-DD22124D55A5}</a:tableStyleId>
              </a:tblPr>
              <a:tblGrid>
                <a:gridCol w="1773851">
                  <a:extLst>
                    <a:ext uri="{9D8B030D-6E8A-4147-A177-3AD203B41FA5}">
                      <a16:colId xmlns:a16="http://schemas.microsoft.com/office/drawing/2014/main" val="694295068"/>
                    </a:ext>
                  </a:extLst>
                </a:gridCol>
                <a:gridCol w="1789471">
                  <a:extLst>
                    <a:ext uri="{9D8B030D-6E8A-4147-A177-3AD203B41FA5}">
                      <a16:colId xmlns:a16="http://schemas.microsoft.com/office/drawing/2014/main" val="975573574"/>
                    </a:ext>
                  </a:extLst>
                </a:gridCol>
              </a:tblGrid>
              <a:tr h="237033">
                <a:tc>
                  <a:txBody>
                    <a:bodyPr/>
                    <a:lstStyle/>
                    <a:p>
                      <a:r>
                        <a:rPr lang="en-US" sz="1100" b="1" dirty="0">
                          <a:solidFill>
                            <a:schemeClr val="tx1"/>
                          </a:solidFill>
                          <a:effectLst/>
                          <a:latin typeface="Google Sans Text"/>
                        </a:rPr>
                        <a:t>M</a:t>
                      </a:r>
                      <a:r>
                        <a:rPr lang="en-IN" sz="1100" b="1" dirty="0" err="1">
                          <a:solidFill>
                            <a:schemeClr val="tx1"/>
                          </a:solidFill>
                          <a:effectLst/>
                          <a:latin typeface="Google Sans Text"/>
                        </a:rPr>
                        <a:t>onth</a:t>
                      </a:r>
                      <a:endParaRPr lang="en-IN" sz="1100" dirty="0">
                        <a:solidFill>
                          <a:schemeClr val="tx1"/>
                        </a:solidFill>
                        <a:effectLst/>
                        <a:latin typeface="Google Sans Text"/>
                      </a:endParaRPr>
                    </a:p>
                  </a:txBody>
                  <a:tcPr marT="60960" marB="60960" anchor="ctr"/>
                </a:tc>
                <a:tc>
                  <a:txBody>
                    <a:bodyPr/>
                    <a:lstStyle/>
                    <a:p>
                      <a:r>
                        <a:rPr lang="en-IN" sz="1100" b="1" dirty="0" err="1">
                          <a:solidFill>
                            <a:schemeClr val="tx1"/>
                          </a:solidFill>
                          <a:effectLst/>
                        </a:rPr>
                        <a:t>Total_Transactions</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1466376812"/>
                  </a:ext>
                </a:extLst>
              </a:tr>
              <a:tr h="237033">
                <a:tc>
                  <a:txBody>
                    <a:bodyPr/>
                    <a:lstStyle/>
                    <a:p>
                      <a:r>
                        <a:rPr lang="en-US" sz="1100" dirty="0">
                          <a:solidFill>
                            <a:schemeClr val="tx1"/>
                          </a:solidFill>
                          <a:effectLst/>
                          <a:latin typeface="+mn-lt"/>
                        </a:rPr>
                        <a:t>01</a:t>
                      </a:r>
                      <a:endParaRPr lang="en-IN" sz="1100" dirty="0">
                        <a:solidFill>
                          <a:schemeClr val="tx1"/>
                        </a:solidFill>
                        <a:effectLst/>
                        <a:latin typeface="+mn-lt"/>
                      </a:endParaRPr>
                    </a:p>
                  </a:txBody>
                  <a:tcPr marT="60960" marB="60960" anchor="ctr"/>
                </a:tc>
                <a:tc>
                  <a:txBody>
                    <a:bodyPr/>
                    <a:lstStyle/>
                    <a:p>
                      <a:r>
                        <a:rPr lang="en-US" sz="1100" dirty="0">
                          <a:solidFill>
                            <a:schemeClr val="tx1"/>
                          </a:solidFill>
                          <a:effectLst/>
                          <a:latin typeface="+mn-lt"/>
                        </a:rPr>
                        <a:t>9285</a:t>
                      </a:r>
                      <a:endParaRPr lang="en-IN" sz="1100" dirty="0">
                        <a:solidFill>
                          <a:schemeClr val="tx1"/>
                        </a:solidFill>
                        <a:effectLst/>
                        <a:latin typeface="+mn-lt"/>
                      </a:endParaRPr>
                    </a:p>
                  </a:txBody>
                  <a:tcPr marT="60960" marB="60960" anchor="ctr"/>
                </a:tc>
                <a:extLst>
                  <a:ext uri="{0D108BD9-81ED-4DB2-BD59-A6C34878D82A}">
                    <a16:rowId xmlns:a16="http://schemas.microsoft.com/office/drawing/2014/main" val="3953828519"/>
                  </a:ext>
                </a:extLst>
              </a:tr>
              <a:tr h="237033">
                <a:tc>
                  <a:txBody>
                    <a:bodyPr/>
                    <a:lstStyle/>
                    <a:p>
                      <a:r>
                        <a:rPr lang="en-US" sz="1100" dirty="0">
                          <a:solidFill>
                            <a:schemeClr val="tx1"/>
                          </a:solidFill>
                          <a:effectLst/>
                          <a:latin typeface="+mn-lt"/>
                        </a:rPr>
                        <a:t>02</a:t>
                      </a:r>
                      <a:endParaRPr lang="en-IN" sz="1100" dirty="0">
                        <a:solidFill>
                          <a:schemeClr val="tx1"/>
                        </a:solidFill>
                        <a:effectLst/>
                        <a:latin typeface="+mn-lt"/>
                      </a:endParaRPr>
                    </a:p>
                  </a:txBody>
                  <a:tcPr marT="60960" marB="60960" anchor="ctr"/>
                </a:tc>
                <a:tc>
                  <a:txBody>
                    <a:bodyPr/>
                    <a:lstStyle/>
                    <a:p>
                      <a:r>
                        <a:rPr lang="en-US" sz="1100" dirty="0">
                          <a:solidFill>
                            <a:schemeClr val="tx1"/>
                          </a:solidFill>
                          <a:effectLst/>
                          <a:latin typeface="Google Sans Text"/>
                        </a:rPr>
                        <a:t>8578</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522754595"/>
                  </a:ext>
                </a:extLst>
              </a:tr>
              <a:tr h="237033">
                <a:tc>
                  <a:txBody>
                    <a:bodyPr/>
                    <a:lstStyle/>
                    <a:p>
                      <a:r>
                        <a:rPr lang="en-US" sz="1100" dirty="0">
                          <a:solidFill>
                            <a:schemeClr val="tx1"/>
                          </a:solidFill>
                          <a:effectLst/>
                          <a:latin typeface="Google Sans Text"/>
                        </a:rPr>
                        <a:t>03</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9289</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1568804099"/>
                  </a:ext>
                </a:extLst>
              </a:tr>
              <a:tr h="237033">
                <a:tc>
                  <a:txBody>
                    <a:bodyPr/>
                    <a:lstStyle/>
                    <a:p>
                      <a:r>
                        <a:rPr lang="en-US" sz="1100" dirty="0">
                          <a:solidFill>
                            <a:schemeClr val="tx1"/>
                          </a:solidFill>
                          <a:effectLst/>
                          <a:latin typeface="Google Sans Text"/>
                        </a:rPr>
                        <a:t>04</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8950</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596099298"/>
                  </a:ext>
                </a:extLst>
              </a:tr>
              <a:tr h="237033">
                <a:tc>
                  <a:txBody>
                    <a:bodyPr/>
                    <a:lstStyle/>
                    <a:p>
                      <a:r>
                        <a:rPr lang="en-US" sz="1100" dirty="0">
                          <a:solidFill>
                            <a:schemeClr val="tx1"/>
                          </a:solidFill>
                          <a:effectLst/>
                          <a:latin typeface="Google Sans Text"/>
                        </a:rPr>
                        <a:t>05</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9344</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1387518965"/>
                  </a:ext>
                </a:extLst>
              </a:tr>
              <a:tr h="237033">
                <a:tc>
                  <a:txBody>
                    <a:bodyPr/>
                    <a:lstStyle/>
                    <a:p>
                      <a:r>
                        <a:rPr lang="en-US" sz="1100" dirty="0">
                          <a:solidFill>
                            <a:schemeClr val="tx1"/>
                          </a:solidFill>
                          <a:effectLst/>
                          <a:latin typeface="Google Sans Text"/>
                        </a:rPr>
                        <a:t>06</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8911</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238814735"/>
                  </a:ext>
                </a:extLst>
              </a:tr>
              <a:tr h="237033">
                <a:tc>
                  <a:txBody>
                    <a:bodyPr/>
                    <a:lstStyle/>
                    <a:p>
                      <a:r>
                        <a:rPr lang="en-US" sz="1100" dirty="0">
                          <a:solidFill>
                            <a:schemeClr val="tx1"/>
                          </a:solidFill>
                          <a:effectLst/>
                          <a:latin typeface="Google Sans Text"/>
                        </a:rPr>
                        <a:t>07</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9196</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327485897"/>
                  </a:ext>
                </a:extLst>
              </a:tr>
              <a:tr h="237033">
                <a:tc>
                  <a:txBody>
                    <a:bodyPr/>
                    <a:lstStyle/>
                    <a:p>
                      <a:r>
                        <a:rPr lang="en-US" sz="1100" dirty="0">
                          <a:solidFill>
                            <a:schemeClr val="tx1"/>
                          </a:solidFill>
                          <a:effectLst/>
                          <a:latin typeface="Google Sans Text"/>
                        </a:rPr>
                        <a:t>08</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9050</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842878307"/>
                  </a:ext>
                </a:extLst>
              </a:tr>
              <a:tr h="237033">
                <a:tc>
                  <a:txBody>
                    <a:bodyPr/>
                    <a:lstStyle/>
                    <a:p>
                      <a:r>
                        <a:rPr lang="en-US" sz="1100" dirty="0">
                          <a:solidFill>
                            <a:schemeClr val="tx1"/>
                          </a:solidFill>
                          <a:effectLst/>
                          <a:latin typeface="Google Sans Text"/>
                        </a:rPr>
                        <a:t>09</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8947</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2907743032"/>
                  </a:ext>
                </a:extLst>
              </a:tr>
              <a:tr h="237033">
                <a:tc>
                  <a:txBody>
                    <a:bodyPr/>
                    <a:lstStyle/>
                    <a:p>
                      <a:r>
                        <a:rPr lang="en-US" sz="1100" dirty="0">
                          <a:solidFill>
                            <a:schemeClr val="tx1"/>
                          </a:solidFill>
                          <a:effectLst/>
                          <a:latin typeface="Google Sans Text"/>
                        </a:rPr>
                        <a:t>10</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9298</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3155512179"/>
                  </a:ext>
                </a:extLst>
              </a:tr>
              <a:tr h="237033">
                <a:tc>
                  <a:txBody>
                    <a:bodyPr/>
                    <a:lstStyle/>
                    <a:p>
                      <a:r>
                        <a:rPr lang="en-US" sz="1100" dirty="0">
                          <a:solidFill>
                            <a:schemeClr val="tx1"/>
                          </a:solidFill>
                          <a:effectLst/>
                          <a:latin typeface="Google Sans Text"/>
                        </a:rPr>
                        <a:t>11</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8847</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1582732532"/>
                  </a:ext>
                </a:extLst>
              </a:tr>
              <a:tr h="237033">
                <a:tc>
                  <a:txBody>
                    <a:bodyPr/>
                    <a:lstStyle/>
                    <a:p>
                      <a:r>
                        <a:rPr lang="en-US" sz="1100" dirty="0">
                          <a:solidFill>
                            <a:schemeClr val="tx1"/>
                          </a:solidFill>
                          <a:effectLst/>
                          <a:latin typeface="Google Sans Text"/>
                        </a:rPr>
                        <a:t>12</a:t>
                      </a:r>
                      <a:endParaRPr lang="en-IN" sz="1100" dirty="0">
                        <a:solidFill>
                          <a:schemeClr val="tx1"/>
                        </a:solidFill>
                        <a:effectLst/>
                        <a:latin typeface="Google Sans Text"/>
                      </a:endParaRPr>
                    </a:p>
                  </a:txBody>
                  <a:tcPr marT="60960" marB="60960" anchor="ctr"/>
                </a:tc>
                <a:tc>
                  <a:txBody>
                    <a:bodyPr/>
                    <a:lstStyle/>
                    <a:p>
                      <a:r>
                        <a:rPr lang="en-US" sz="1100" dirty="0">
                          <a:solidFill>
                            <a:schemeClr val="tx1"/>
                          </a:solidFill>
                          <a:effectLst/>
                          <a:latin typeface="Google Sans Text"/>
                        </a:rPr>
                        <a:t>305</a:t>
                      </a:r>
                      <a:endParaRPr lang="en-IN" sz="1100" dirty="0">
                        <a:solidFill>
                          <a:schemeClr val="tx1"/>
                        </a:solidFill>
                        <a:effectLst/>
                        <a:latin typeface="Google Sans Text"/>
                      </a:endParaRPr>
                    </a:p>
                  </a:txBody>
                  <a:tcPr marT="60960" marB="60960" anchor="ctr"/>
                </a:tc>
                <a:extLst>
                  <a:ext uri="{0D108BD9-81ED-4DB2-BD59-A6C34878D82A}">
                    <a16:rowId xmlns:a16="http://schemas.microsoft.com/office/drawing/2014/main" val="1364531588"/>
                  </a:ext>
                </a:extLst>
              </a:tr>
            </a:tbl>
          </a:graphicData>
        </a:graphic>
      </p:graphicFrame>
      <p:graphicFrame>
        <p:nvGraphicFramePr>
          <p:cNvPr id="5" name="Table 4">
            <a:extLst>
              <a:ext uri="{FF2B5EF4-FFF2-40B4-BE49-F238E27FC236}">
                <a16:creationId xmlns:a16="http://schemas.microsoft.com/office/drawing/2014/main" id="{B9703637-BA8D-62AC-D309-C747279EB569}"/>
              </a:ext>
            </a:extLst>
          </p:cNvPr>
          <p:cNvGraphicFramePr>
            <a:graphicFrameLocks noGrp="1"/>
          </p:cNvGraphicFramePr>
          <p:nvPr>
            <p:extLst>
              <p:ext uri="{D42A27DB-BD31-4B8C-83A1-F6EECF244321}">
                <p14:modId xmlns:p14="http://schemas.microsoft.com/office/powerpoint/2010/main" val="1974002940"/>
              </p:ext>
            </p:extLst>
          </p:nvPr>
        </p:nvGraphicFramePr>
        <p:xfrm>
          <a:off x="7905136" y="4888600"/>
          <a:ext cx="3362632" cy="853438"/>
        </p:xfrm>
        <a:graphic>
          <a:graphicData uri="http://schemas.openxmlformats.org/drawingml/2006/table">
            <a:tbl>
              <a:tblPr firstRow="1">
                <a:tableStyleId>{69C7853C-536D-4A76-A0AE-DD22124D55A5}</a:tableStyleId>
              </a:tblPr>
              <a:tblGrid>
                <a:gridCol w="1681316">
                  <a:extLst>
                    <a:ext uri="{9D8B030D-6E8A-4147-A177-3AD203B41FA5}">
                      <a16:colId xmlns:a16="http://schemas.microsoft.com/office/drawing/2014/main" val="3237834468"/>
                    </a:ext>
                  </a:extLst>
                </a:gridCol>
                <a:gridCol w="1681316">
                  <a:extLst>
                    <a:ext uri="{9D8B030D-6E8A-4147-A177-3AD203B41FA5}">
                      <a16:colId xmlns:a16="http://schemas.microsoft.com/office/drawing/2014/main" val="1485873922"/>
                    </a:ext>
                  </a:extLst>
                </a:gridCol>
              </a:tblGrid>
              <a:tr h="426719">
                <a:tc>
                  <a:txBody>
                    <a:bodyPr/>
                    <a:lstStyle/>
                    <a:p>
                      <a:pPr rtl="0"/>
                      <a:r>
                        <a:rPr lang="en-IN" sz="1000" b="1" dirty="0">
                          <a:solidFill>
                            <a:srgbClr val="1F1F1F"/>
                          </a:solidFill>
                          <a:effectLst/>
                          <a:latin typeface="+mn-lt"/>
                        </a:rPr>
                        <a:t>Risk</a:t>
                      </a:r>
                      <a:endParaRPr lang="en-IN" sz="1000" dirty="0">
                        <a:solidFill>
                          <a:srgbClr val="1F1F1F"/>
                        </a:solidFill>
                        <a:effectLst/>
                        <a:latin typeface="+mn-lt"/>
                      </a:endParaRPr>
                    </a:p>
                  </a:txBody>
                  <a:tcPr marT="60960" marB="60960" anchor="ctr"/>
                </a:tc>
                <a:tc>
                  <a:txBody>
                    <a:bodyPr/>
                    <a:lstStyle/>
                    <a:p>
                      <a:pPr rtl="0"/>
                      <a:r>
                        <a:rPr lang="en-US" sz="1000" dirty="0">
                          <a:solidFill>
                            <a:srgbClr val="1F1F1F"/>
                          </a:solidFill>
                          <a:effectLst/>
                          <a:latin typeface="+mn-lt"/>
                        </a:rPr>
                        <a:t>Count</a:t>
                      </a:r>
                      <a:endParaRPr lang="en-IN" sz="1000" dirty="0">
                        <a:solidFill>
                          <a:srgbClr val="1F1F1F"/>
                        </a:solidFill>
                        <a:effectLst/>
                        <a:latin typeface="+mn-lt"/>
                      </a:endParaRPr>
                    </a:p>
                  </a:txBody>
                  <a:tcPr marT="60960" marB="60960" anchor="ctr"/>
                </a:tc>
                <a:extLst>
                  <a:ext uri="{0D108BD9-81ED-4DB2-BD59-A6C34878D82A}">
                    <a16:rowId xmlns:a16="http://schemas.microsoft.com/office/drawing/2014/main" val="2533782046"/>
                  </a:ext>
                </a:extLst>
              </a:tr>
              <a:tr h="426719">
                <a:tc>
                  <a:txBody>
                    <a:bodyPr/>
                    <a:lstStyle/>
                    <a:p>
                      <a:pPr rtl="0"/>
                      <a:r>
                        <a:rPr lang="en-US" sz="1000" dirty="0">
                          <a:solidFill>
                            <a:srgbClr val="1F1F1F"/>
                          </a:solidFill>
                          <a:effectLst/>
                          <a:latin typeface="+mn-lt"/>
                        </a:rPr>
                        <a:t>H</a:t>
                      </a:r>
                      <a:r>
                        <a:rPr lang="en-IN" sz="1000" dirty="0" err="1">
                          <a:solidFill>
                            <a:srgbClr val="1F1F1F"/>
                          </a:solidFill>
                          <a:effectLst/>
                          <a:latin typeface="+mn-lt"/>
                        </a:rPr>
                        <a:t>igh</a:t>
                      </a:r>
                      <a:r>
                        <a:rPr lang="en-IN" sz="1000" dirty="0">
                          <a:solidFill>
                            <a:srgbClr val="1F1F1F"/>
                          </a:solidFill>
                          <a:effectLst/>
                          <a:latin typeface="+mn-lt"/>
                        </a:rPr>
                        <a:t> Risk</a:t>
                      </a:r>
                    </a:p>
                  </a:txBody>
                  <a:tcPr marT="60960" marB="60960" anchor="ctr"/>
                </a:tc>
                <a:tc>
                  <a:txBody>
                    <a:bodyPr/>
                    <a:lstStyle/>
                    <a:p>
                      <a:pPr rtl="0"/>
                      <a:r>
                        <a:rPr lang="en-US" sz="1000" dirty="0">
                          <a:solidFill>
                            <a:srgbClr val="1F1F1F"/>
                          </a:solidFill>
                          <a:effectLst/>
                          <a:latin typeface="+mn-lt"/>
                        </a:rPr>
                        <a:t>20426</a:t>
                      </a:r>
                      <a:endParaRPr lang="en-IN" sz="1000" dirty="0">
                        <a:solidFill>
                          <a:srgbClr val="1F1F1F"/>
                        </a:solidFill>
                        <a:effectLst/>
                        <a:latin typeface="+mn-lt"/>
                      </a:endParaRPr>
                    </a:p>
                  </a:txBody>
                  <a:tcPr marT="60960" marB="60960" anchor="ctr"/>
                </a:tc>
                <a:extLst>
                  <a:ext uri="{0D108BD9-81ED-4DB2-BD59-A6C34878D82A}">
                    <a16:rowId xmlns:a16="http://schemas.microsoft.com/office/drawing/2014/main" val="2610347802"/>
                  </a:ext>
                </a:extLst>
              </a:tr>
            </a:tbl>
          </a:graphicData>
        </a:graphic>
      </p:graphicFrame>
    </p:spTree>
    <p:extLst>
      <p:ext uri="{BB962C8B-B14F-4D97-AF65-F5344CB8AC3E}">
        <p14:creationId xmlns:p14="http://schemas.microsoft.com/office/powerpoint/2010/main" val="11888649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4A29-7EEB-14A6-DBFB-7B843FDA27B3}"/>
              </a:ext>
            </a:extLst>
          </p:cNvPr>
          <p:cNvSpPr>
            <a:spLocks noGrp="1"/>
          </p:cNvSpPr>
          <p:nvPr>
            <p:ph type="title"/>
          </p:nvPr>
        </p:nvSpPr>
        <p:spPr>
          <a:xfrm>
            <a:off x="817946" y="137648"/>
            <a:ext cx="10671048" cy="412955"/>
          </a:xfrm>
          <a:noFill/>
        </p:spPr>
        <p:txBody>
          <a:bodyPr/>
          <a:lstStyle/>
          <a:p>
            <a:r>
              <a:rPr lang="en-US" sz="2400" dirty="0">
                <a:latin typeface="Times New Roman" panose="02020603050405020304" pitchFamily="18" charset="0"/>
                <a:cs typeface="Times New Roman" panose="02020603050405020304" pitchFamily="18" charset="0"/>
              </a:rPr>
              <a:t>TABLEAU DASHBOARD </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80801BA-D8B5-8E92-305C-89A5434D044A}"/>
              </a:ext>
            </a:extLst>
          </p:cNvPr>
          <p:cNvPicPr>
            <a:picLocks noChangeAspect="1"/>
          </p:cNvPicPr>
          <p:nvPr/>
        </p:nvPicPr>
        <p:blipFill>
          <a:blip r:embed="rId2"/>
          <a:stretch>
            <a:fillRect/>
          </a:stretch>
        </p:blipFill>
        <p:spPr>
          <a:xfrm>
            <a:off x="412954" y="787267"/>
            <a:ext cx="11415251" cy="5780681"/>
          </a:xfrm>
          <a:prstGeom prst="rect">
            <a:avLst/>
          </a:prstGeom>
        </p:spPr>
      </p:pic>
    </p:spTree>
    <p:extLst>
      <p:ext uri="{BB962C8B-B14F-4D97-AF65-F5344CB8AC3E}">
        <p14:creationId xmlns:p14="http://schemas.microsoft.com/office/powerpoint/2010/main" val="28440480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4B947A-F989-35A6-7949-6478400E6A4E}"/>
              </a:ext>
            </a:extLst>
          </p:cNvPr>
          <p:cNvPicPr>
            <a:picLocks noChangeAspect="1"/>
          </p:cNvPicPr>
          <p:nvPr/>
        </p:nvPicPr>
        <p:blipFill>
          <a:blip r:embed="rId2"/>
          <a:stretch>
            <a:fillRect/>
          </a:stretch>
        </p:blipFill>
        <p:spPr>
          <a:xfrm>
            <a:off x="570271" y="275303"/>
            <a:ext cx="11159613" cy="6302478"/>
          </a:xfrm>
          <a:prstGeom prst="rect">
            <a:avLst/>
          </a:prstGeom>
        </p:spPr>
      </p:pic>
    </p:spTree>
    <p:extLst>
      <p:ext uri="{BB962C8B-B14F-4D97-AF65-F5344CB8AC3E}">
        <p14:creationId xmlns:p14="http://schemas.microsoft.com/office/powerpoint/2010/main" val="2799522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970462" y="511273"/>
            <a:ext cx="8812636" cy="425671"/>
          </a:xfrm>
        </p:spPr>
        <p:txBody>
          <a:bodyPr/>
          <a:lstStyle/>
          <a:p>
            <a:r>
              <a:rPr lang="en-US" sz="2400" dirty="0">
                <a:latin typeface="Times New Roman" panose="02020603050405020304" pitchFamily="18" charset="0"/>
                <a:cs typeface="Times New Roman" panose="02020603050405020304" pitchFamily="18" charset="0"/>
              </a:rPr>
              <a:t>Key Takeaways</a:t>
            </a:r>
          </a:p>
        </p:txBody>
      </p:sp>
      <p:sp>
        <p:nvSpPr>
          <p:cNvPr id="6" name="Rectangle 1">
            <a:extLst>
              <a:ext uri="{FF2B5EF4-FFF2-40B4-BE49-F238E27FC236}">
                <a16:creationId xmlns:a16="http://schemas.microsoft.com/office/drawing/2014/main" id="{522DCDEB-EB2E-84EA-A42D-C31590A858A5}"/>
              </a:ext>
            </a:extLst>
          </p:cNvPr>
          <p:cNvSpPr>
            <a:spLocks noGrp="1" noChangeArrowheads="1"/>
          </p:cNvSpPr>
          <p:nvPr>
            <p:ph sz="half" idx="2"/>
          </p:nvPr>
        </p:nvSpPr>
        <p:spPr bwMode="auto">
          <a:xfrm>
            <a:off x="970462" y="1108115"/>
            <a:ext cx="1046152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Stable Cash Flow Position : </a:t>
            </a:r>
            <a:r>
              <a:rPr kumimoji="0" lang="en-US" altLang="en-US" sz="1600" b="0" i="0" u="none" strike="noStrike" cap="none" normalizeH="0" baseline="0" dirty="0">
                <a:ln>
                  <a:noFill/>
                </a:ln>
                <a:solidFill>
                  <a:schemeClr val="tx1"/>
                </a:solidFill>
                <a:effectLst/>
                <a:latin typeface="Google Sans Text"/>
              </a:rPr>
              <a:t>The bank maintains a balanced cash flow with ₹127.6M in credits and ₹127.3M in debits, resulting in a Credit-to-Debit Ratio of approximately 1.0.</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Balanced Branch Performance : </a:t>
            </a:r>
            <a:r>
              <a:rPr kumimoji="0" lang="en-US" altLang="en-US" sz="1600" b="0" i="0" u="none" strike="noStrike" cap="none" normalizeH="0" baseline="0" dirty="0">
                <a:ln>
                  <a:noFill/>
                </a:ln>
                <a:solidFill>
                  <a:schemeClr val="tx1"/>
                </a:solidFill>
                <a:effectLst/>
                <a:latin typeface="Google Sans Text"/>
              </a:rPr>
              <a:t>Transaction volumes are distributed relatively evenly across branches, with City Center Branch leading at ₹42.9M, indicating consistent customer activity across locations.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Equal Usage of Transaction Methods : </a:t>
            </a:r>
            <a:r>
              <a:rPr kumimoji="0" lang="en-US" altLang="en-US" sz="1600" b="0" i="0" u="none" strike="noStrike" cap="none" normalizeH="0" baseline="0" dirty="0">
                <a:ln>
                  <a:noFill/>
                </a:ln>
                <a:solidFill>
                  <a:schemeClr val="tx1"/>
                </a:solidFill>
                <a:effectLst/>
                <a:latin typeface="Google Sans Text"/>
              </a:rPr>
              <a:t>Customers use Credit Cards, Debit Cards, and Bank Transfers almost equally (around 33% each), demonstrating diversified transaction behavior.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Consistent Banking Activity : </a:t>
            </a:r>
            <a:r>
              <a:rPr kumimoji="0" lang="en-US" altLang="en-US" sz="1600" b="0" i="0" u="none" strike="noStrike" cap="none" normalizeH="0" baseline="0" dirty="0">
                <a:ln>
                  <a:noFill/>
                </a:ln>
                <a:solidFill>
                  <a:schemeClr val="tx1"/>
                </a:solidFill>
                <a:effectLst/>
                <a:latin typeface="Google Sans Text"/>
              </a:rPr>
              <a:t>Monthly transaction volumes remain relatively stable throughout the year, reflecting steady customer engagement and operational consistency.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Risk Detection Capability : </a:t>
            </a:r>
            <a:r>
              <a:rPr kumimoji="0" lang="en-US" altLang="en-US" sz="1600" b="0" i="0" u="none" strike="noStrike" cap="none" normalizeH="0" baseline="0" dirty="0">
                <a:ln>
                  <a:noFill/>
                </a:ln>
                <a:solidFill>
                  <a:schemeClr val="tx1"/>
                </a:solidFill>
                <a:effectLst/>
                <a:latin typeface="Google Sans Text"/>
              </a:rPr>
              <a:t>More than 20,000 transactions were flagged as High Risk, emphasizing the importance of continuous monitoring and fraud prevention mechanisms.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Operational Visibility : </a:t>
            </a:r>
            <a:r>
              <a:rPr kumimoji="0" lang="en-US" altLang="en-US" sz="1600" b="0" i="0" u="none" strike="noStrike" cap="none" normalizeH="0" baseline="0" dirty="0">
                <a:ln>
                  <a:noFill/>
                </a:ln>
                <a:solidFill>
                  <a:schemeClr val="tx1"/>
                </a:solidFill>
                <a:effectLst/>
                <a:latin typeface="Google Sans Text"/>
              </a:rPr>
              <a:t>The dashboard provides stakeholders with real-time visibility into transaction trends, branch performance, customer activity, and potential risk areas.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sng" strike="noStrike" cap="none" normalizeH="0" baseline="0" dirty="0">
                <a:ln>
                  <a:noFill/>
                </a:ln>
                <a:solidFill>
                  <a:schemeClr val="accent4">
                    <a:lumMod val="50000"/>
                  </a:schemeClr>
                </a:solidFill>
                <a:effectLst/>
                <a:latin typeface="Google Sans Text"/>
              </a:rPr>
              <a:t>Business Value Creation : </a:t>
            </a:r>
            <a:r>
              <a:rPr kumimoji="0" lang="en-US" altLang="en-US" sz="1600" b="0" i="0" u="none" strike="noStrike" cap="none" normalizeH="0" baseline="0" dirty="0">
                <a:ln>
                  <a:noFill/>
                </a:ln>
                <a:solidFill>
                  <a:schemeClr val="tx1"/>
                </a:solidFill>
                <a:effectLst/>
                <a:latin typeface="Google Sans Text"/>
              </a:rPr>
              <a:t>The solution enables better liquidity monitoring, fraud detection, transaction analysis, and operational decision-making across the banking network.</a:t>
            </a:r>
          </a:p>
        </p:txBody>
      </p:sp>
    </p:spTree>
    <p:extLst>
      <p:ext uri="{BB962C8B-B14F-4D97-AF65-F5344CB8AC3E}">
        <p14:creationId xmlns:p14="http://schemas.microsoft.com/office/powerpoint/2010/main" val="1635951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1661652" y="2812026"/>
            <a:ext cx="4237702" cy="765465"/>
          </a:xfrm>
        </p:spPr>
        <p:txBody>
          <a:bodyPr/>
          <a:lstStyle/>
          <a:p>
            <a:r>
              <a:rPr lang="en-US" dirty="0"/>
              <a:t>Thank you !</a:t>
            </a:r>
          </a:p>
        </p:txBody>
      </p:sp>
    </p:spTree>
    <p:extLst>
      <p:ext uri="{BB962C8B-B14F-4D97-AF65-F5344CB8AC3E}">
        <p14:creationId xmlns:p14="http://schemas.microsoft.com/office/powerpoint/2010/main" val="1973173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{F4A0A862-2D11-4F07-ABA5-4AA2E5464C54}TF8a9b5915-b8c7-461e-8cdd-693d48b5e32371f7b7e2_win32-4bf0b9a2ea37</Template>
  <TotalTime>564</TotalTime>
  <Words>2805</Words>
  <Application>Microsoft Office PowerPoint</Application>
  <PresentationFormat>Widescreen</PresentationFormat>
  <Paragraphs>473</Paragraphs>
  <Slides>31</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Arial Black</vt:lpstr>
      <vt:lpstr>Calibri</vt:lpstr>
      <vt:lpstr>Google Sans Text</vt:lpstr>
      <vt:lpstr>Sabon Next LT</vt:lpstr>
      <vt:lpstr>Times New Roman</vt:lpstr>
      <vt:lpstr>Wingdings</vt:lpstr>
      <vt:lpstr>Custom</vt:lpstr>
      <vt:lpstr>PowerPoint Presentation</vt:lpstr>
      <vt:lpstr>OBJECTIVE</vt:lpstr>
      <vt:lpstr>PROBLEM STATEMENT</vt:lpstr>
      <vt:lpstr>CONTEXT</vt:lpstr>
      <vt:lpstr>PowerPoint Presentation</vt:lpstr>
      <vt:lpstr>BANK LOAN ANALYTICS</vt:lpstr>
      <vt:lpstr>KPI LIST</vt:lpstr>
      <vt:lpstr>KPI LIST</vt:lpstr>
      <vt:lpstr>Excel DASHBOARD </vt:lpstr>
      <vt:lpstr>PowerPoint Presentation</vt:lpstr>
      <vt:lpstr>POWER BI DASHBOARD </vt:lpstr>
      <vt:lpstr>PowerPoint Presentation</vt:lpstr>
      <vt:lpstr>SQL QUERIES AND RESULTS</vt:lpstr>
      <vt:lpstr>PowerPoint Presentation</vt:lpstr>
      <vt:lpstr>PowerPoint Presentation</vt:lpstr>
      <vt:lpstr>TABLEAU DASHBOARD </vt:lpstr>
      <vt:lpstr>PowerPoint Presentation</vt:lpstr>
      <vt:lpstr>Key Takeaways</vt:lpstr>
      <vt:lpstr>Key Takeaways</vt:lpstr>
      <vt:lpstr>BANK DEBIT AND CREDIT ANALYTICS</vt:lpstr>
      <vt:lpstr>KPI LIST</vt:lpstr>
      <vt:lpstr>KPI LIST</vt:lpstr>
      <vt:lpstr>Excel DASHBOARD </vt:lpstr>
      <vt:lpstr>POWER BI DASHBOARD </vt:lpstr>
      <vt:lpstr>SQL QUERIES AND RESULTS</vt:lpstr>
      <vt:lpstr>PowerPoint Presentation</vt:lpstr>
      <vt:lpstr>PowerPoint Presentation</vt:lpstr>
      <vt:lpstr>TABLEAU DASHBOARD </vt:lpstr>
      <vt:lpstr>PowerPoint Presentation</vt:lpstr>
      <vt:lpstr>Key Takeaways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sahithibachigari@gmail.com</dc:creator>
  <cp:lastModifiedBy>MONISH G</cp:lastModifiedBy>
  <cp:revision>7</cp:revision>
  <dcterms:created xsi:type="dcterms:W3CDTF">2026-06-13T14:32:44Z</dcterms:created>
  <dcterms:modified xsi:type="dcterms:W3CDTF">2026-06-17T01:20:49Z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